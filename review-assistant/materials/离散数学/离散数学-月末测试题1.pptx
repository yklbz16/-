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69" r:id="rId16"/>
    <p:sldId id="270" r:id="rId17"/>
    <p:sldId id="271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64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D265D6-510C-43D2-9BA9-BFE09579525D}" type="slidenum">
              <a:rPr lang="ko-KR" altLang="en-US" smtClean="0">
                <a:latin typeface="Arial" panose="020B0604020202020204" pitchFamily="34" charset="0"/>
                <a:ea typeface="Gulim" pitchFamily="34" charset="-127"/>
              </a:rPr>
            </a:fld>
            <a:endParaRPr lang="ko-KR" altLang="en-US">
              <a:latin typeface="Arial" panose="020B0604020202020204" pitchFamily="34" charset="0"/>
              <a:ea typeface="Gulim" pitchFamily="34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748C429-794D-474C-8E03-1D13091D0152}" type="slidenum">
              <a:rPr lang="ko-KR" altLang="en-US" smtClean="0">
                <a:latin typeface="Arial" panose="020B0604020202020204" pitchFamily="34" charset="0"/>
                <a:ea typeface="Gulim" pitchFamily="34" charset="-127"/>
              </a:rPr>
            </a:fld>
            <a:endParaRPr lang="ko-KR" altLang="en-US">
              <a:latin typeface="Arial" panose="020B0604020202020204" pitchFamily="34" charset="0"/>
              <a:ea typeface="Gulim" pitchFamily="34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65100"/>
            <a:ext cx="12066270" cy="71412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fontAlgn="auto">
              <a:lnSpc>
                <a:spcPts val="288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证明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┐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(P∧Q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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（┐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P∨┐Q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）（用真值表法）。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indent="0" fontAlgn="auto">
              <a:lnSpc>
                <a:spcPts val="2880"/>
              </a:lnSpc>
              <a:spcBef>
                <a:spcPts val="1200"/>
              </a:spcBef>
              <a:buClr>
                <a:srgbClr val="954F7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等价式：¬(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∨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</a:t>
            </a:r>
            <a:r>
              <a:rPr lang="zh-CN" altLang="en-US" sz="2400" b="1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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、¬(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∧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</a:t>
            </a:r>
            <a:r>
              <a:rPr lang="zh-CN" altLang="en-US" sz="2400" b="1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P→Q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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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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marL="0" lvl="1" indent="0" fontAlgn="auto">
              <a:lnSpc>
                <a:spcPts val="2880"/>
              </a:lnSpc>
              <a:spcBef>
                <a:spcPts val="1200"/>
              </a:spcBef>
              <a:buClr>
                <a:srgbClr val="954F7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、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求公式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 →Q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P∨Q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，和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┐(P∧Q)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的主析取范式。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indent="0" fontAlgn="auto">
              <a:lnSpc>
                <a:spcPts val="2880"/>
              </a:lnSpc>
              <a:spcBef>
                <a:spcPts val="1200"/>
              </a:spcBef>
              <a:buClr>
                <a:srgbClr val="954F7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化(P∧Q )∨(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¬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P∧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 为主合取范式。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marL="0" lvl="1" indent="0" fontAlgn="auto">
              <a:lnSpc>
                <a:spcPts val="2880"/>
              </a:lnSpc>
              <a:spcBef>
                <a:spcPts val="1200"/>
              </a:spcBef>
              <a:buClr>
                <a:srgbClr val="954F7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5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证明： </a:t>
            </a: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(W</a:t>
            </a: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∨</a:t>
            </a: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R)</a:t>
            </a:r>
            <a:r>
              <a:rPr lang="zh-CN" altLang="en-US" sz="2400" b="1" dirty="0">
                <a:solidFill>
                  <a:schemeClr val="tx1"/>
                </a:solidFill>
                <a:latin typeface="Calibri Light" panose="020F0302020204030204"/>
                <a:ea typeface="微软雅黑" panose="020B0503020204020204" charset="-122"/>
                <a:sym typeface="+mn-ea"/>
              </a:rPr>
              <a:t>→</a:t>
            </a: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V, V</a:t>
            </a:r>
            <a:r>
              <a:rPr lang="zh-CN" altLang="en-US" sz="2400" b="1" dirty="0">
                <a:solidFill>
                  <a:schemeClr val="tx1"/>
                </a:solidFill>
                <a:latin typeface="Calibri Light" panose="020F0302020204030204"/>
                <a:ea typeface="微软雅黑" panose="020B0503020204020204" charset="-122"/>
                <a:sym typeface="+mn-ea"/>
              </a:rPr>
              <a:t>→</a:t>
            </a: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∨</a:t>
            </a: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S, </a:t>
            </a: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  <a:latin typeface="Calibri Light" panose="020F0302020204030204"/>
                <a:ea typeface="微软雅黑" panose="020B0503020204020204" charset="-122"/>
                <a:sym typeface="+mn-ea"/>
              </a:rPr>
              <a:t>→</a:t>
            </a: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U, 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¬</a:t>
            </a: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C ∧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¬</a:t>
            </a: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U</a:t>
            </a:r>
            <a:r>
              <a:rPr lang="zh-CN" altLang="en-US" sz="2400" b="1" dirty="0">
                <a:solidFill>
                  <a:schemeClr val="tx1"/>
                </a:solidFill>
                <a:latin typeface="Calibri Light" panose="020F0302020204030204"/>
                <a:ea typeface="微软雅黑" panose="020B0503020204020204" charset="-122"/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¬</a:t>
            </a: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W</a:t>
            </a: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b="1" dirty="0">
              <a:solidFill>
                <a:schemeClr val="tx1"/>
              </a:solidFill>
              <a:ea typeface="黑体" panose="02010609060101010101" pitchFamily="49" charset="-122"/>
              <a:sym typeface="+mn-ea"/>
            </a:endParaRPr>
          </a:p>
          <a:p>
            <a:pPr marL="0" indent="0" fontAlgn="auto">
              <a:lnSpc>
                <a:spcPts val="288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6</a:t>
            </a: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分别将下列命题符号化：（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sym typeface="+mn-ea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）所有人都要呼吸。（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sym typeface="+mn-ea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）有些人活百岁以上。</a:t>
            </a:r>
            <a:endParaRPr lang="zh-CN" altLang="en-US" sz="2400" b="1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0" indent="0" fontAlgn="auto">
              <a:lnSpc>
                <a:spcPts val="288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+mn-ea"/>
                <a:sym typeface="+mn-ea"/>
              </a:rPr>
              <a:t>7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、指出每个符号的含义：</a:t>
            </a:r>
            <a:endParaRPr lang="zh-CN" altLang="en-US" sz="2400" b="1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0" indent="0" fontAlgn="auto">
              <a:lnSpc>
                <a:spcPts val="288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+mn-ea"/>
                <a:sym typeface="+mn-ea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、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换名规则：对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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x)(P(x)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R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x,y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))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∧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Q(</a:t>
            </a:r>
            <a:r>
              <a:rPr lang="en-US" altLang="zh-CN" sz="24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x,y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换名。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fontAlgn="auto">
              <a:lnSpc>
                <a:spcPts val="288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代入规则：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sym typeface="+mn-ea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对公式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</a:t>
            </a:r>
            <a:r>
              <a:rPr lang="zh-CN" altLang="zh-CN" sz="2400" b="1" i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zh-CN" sz="2400" b="1" i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zh-CN" sz="2400" b="1" i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)∧</a:t>
            </a:r>
            <a:r>
              <a:rPr lang="zh-CN" altLang="zh-CN" sz="2400" b="1" i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R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zh-CN" sz="2400" b="1" i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zh-CN" sz="2400" b="1" i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rPr>
              <a:t>))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代入。</a:t>
            </a:r>
            <a:endParaRPr lang="zh-CN" altLang="en-US" sz="2400" b="1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0" indent="0" fontAlgn="auto">
              <a:lnSpc>
                <a:spcPts val="288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+mn-ea"/>
                <a:sym typeface="+mn-ea"/>
              </a:rPr>
              <a:t>9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sym typeface="+mn-ea"/>
              </a:rPr>
              <a:t>、求下式的真假值：</a:t>
            </a:r>
            <a:r>
              <a:rPr kumimoji="1"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(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x)(P(x)∨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(x))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，其中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P(x): x=1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Q(x): x=2 ,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且论域为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{1,2}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0" indent="0" fontAlgn="auto">
              <a:lnSpc>
                <a:spcPts val="288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10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证明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(x)A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(x)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 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(x)(A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(x)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B)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(B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不含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fontAlgn="auto">
              <a:lnSpc>
                <a:spcPts val="288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latin typeface="+mn-ea"/>
                <a:sym typeface="+mn-ea"/>
              </a:rPr>
              <a:t>化公式</a:t>
            </a:r>
            <a:r>
              <a:rPr lang="en-US" altLang="zh-CN" sz="2400" b="1" dirty="0">
                <a:latin typeface="+mn-ea"/>
                <a:sym typeface="Symbol" panose="05050102010706020507" pitchFamily="18" charset="2"/>
              </a:rPr>
              <a:t>(</a:t>
            </a:r>
            <a:r>
              <a:rPr lang="en-US" altLang="en-US" sz="2400" b="1" i="1" dirty="0">
                <a:latin typeface="+mn-ea"/>
                <a:sym typeface="Symbol" panose="05050102010706020507" pitchFamily="18" charset="2"/>
              </a:rPr>
              <a:t>x</a:t>
            </a:r>
            <a:r>
              <a:rPr lang="en-US" altLang="en-US" sz="2400" b="1" dirty="0">
                <a:latin typeface="+mn-ea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latin typeface="+mn-ea"/>
                <a:sym typeface="Symbol" panose="05050102010706020507" pitchFamily="18" charset="2"/>
              </a:rPr>
              <a:t>(</a:t>
            </a:r>
            <a:r>
              <a:rPr lang="en-US" altLang="en-US" sz="2400" b="1" i="1" dirty="0">
                <a:latin typeface="+mn-ea"/>
                <a:sym typeface="Symbol" panose="05050102010706020507" pitchFamily="18" charset="2"/>
              </a:rPr>
              <a:t>y</a:t>
            </a:r>
            <a:r>
              <a:rPr lang="en-US" altLang="en-US" sz="2400" b="1" dirty="0">
                <a:latin typeface="+mn-ea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latin typeface="+mn-ea"/>
                <a:sym typeface="Symbol" panose="05050102010706020507" pitchFamily="18" charset="2"/>
              </a:rPr>
              <a:t>((</a:t>
            </a:r>
            <a:r>
              <a:rPr lang="en-US" altLang="en-US" sz="2400" b="1" i="1" dirty="0">
                <a:latin typeface="+mn-ea"/>
                <a:sym typeface="Symbol" panose="05050102010706020507" pitchFamily="18" charset="2"/>
              </a:rPr>
              <a:t>z</a:t>
            </a:r>
            <a:r>
              <a:rPr lang="en-US" altLang="en-US" sz="2400" b="1" dirty="0">
                <a:latin typeface="+mn-ea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+mn-ea"/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+mn-ea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+mn-ea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latin typeface="+mn-ea"/>
                <a:sym typeface="Symbol" panose="05050102010706020507" pitchFamily="18" charset="2"/>
              </a:rPr>
              <a:t>z</a:t>
            </a:r>
            <a:r>
              <a:rPr lang="en-US" altLang="en-US" sz="2400" b="1" dirty="0">
                <a:latin typeface="+mn-ea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latin typeface="+mn-ea"/>
                <a:sym typeface="+mn-ea"/>
              </a:rPr>
              <a:t>∧</a:t>
            </a:r>
            <a:r>
              <a:rPr lang="en-US" altLang="zh-CN" sz="2400" b="1" i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z</a:t>
            </a:r>
            <a:r>
              <a:rPr lang="en-US" altLang="en-US" sz="24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)</a:t>
            </a:r>
            <a:r>
              <a:rPr lang="en-US" altLang="en-US" sz="2400" b="1" dirty="0">
                <a:latin typeface="+mn-ea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latin typeface="+mn-ea"/>
                <a:sym typeface="+mn-ea"/>
              </a:rPr>
              <a:t>→</a:t>
            </a:r>
            <a:r>
              <a:rPr lang="en-US" altLang="zh-CN" sz="2400" b="1" dirty="0">
                <a:latin typeface="+mn-ea"/>
                <a:sym typeface="Symbol" panose="05050102010706020507" pitchFamily="18" charset="2"/>
              </a:rPr>
              <a:t>(</a:t>
            </a:r>
            <a:r>
              <a:rPr lang="en-US" altLang="en-US" sz="2400" b="1" i="1" dirty="0">
                <a:latin typeface="+mn-ea"/>
                <a:sym typeface="Symbol" panose="05050102010706020507" pitchFamily="18" charset="2"/>
              </a:rPr>
              <a:t>u</a:t>
            </a:r>
            <a:r>
              <a:rPr lang="en-US" altLang="en-US" sz="2400" b="1" dirty="0">
                <a:latin typeface="+mn-ea"/>
                <a:sym typeface="Symbol" panose="05050102010706020507" pitchFamily="18" charset="2"/>
              </a:rPr>
              <a:t>)</a:t>
            </a:r>
            <a:r>
              <a:rPr lang="en-US" altLang="zh-CN" sz="2400" b="1" i="1" dirty="0">
                <a:latin typeface="+mn-ea"/>
                <a:sym typeface="Symbol" panose="05050102010706020507" pitchFamily="18" charset="2"/>
              </a:rPr>
              <a:t>Q</a:t>
            </a:r>
            <a:r>
              <a:rPr lang="en-US" altLang="zh-CN" sz="2400" b="1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+mn-ea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+mn-ea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latin typeface="+mn-ea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+mn-ea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latin typeface="+mn-ea"/>
                <a:sym typeface="Symbol" panose="05050102010706020507" pitchFamily="18" charset="2"/>
              </a:rPr>
              <a:t>u</a:t>
            </a:r>
            <a:r>
              <a:rPr lang="en-US" altLang="en-US" sz="2400" b="1" dirty="0">
                <a:latin typeface="+mn-ea"/>
                <a:sym typeface="Symbol" panose="05050102010706020507" pitchFamily="18" charset="2"/>
              </a:rPr>
              <a:t>)) </a:t>
            </a:r>
            <a:r>
              <a:rPr lang="zh-CN" altLang="en-US" sz="2400" b="1" dirty="0">
                <a:latin typeface="+mn-ea"/>
                <a:sym typeface="+mn-ea"/>
              </a:rPr>
              <a:t>为前束范式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indent="0" fontAlgn="auto">
              <a:lnSpc>
                <a:spcPts val="2880"/>
              </a:lnSpc>
              <a:spcBef>
                <a:spcPts val="1200"/>
              </a:spcBef>
              <a:buClr>
                <a:srgbClr val="954F7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证明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x)(P(x)</a:t>
            </a:r>
            <a:r>
              <a:rPr kumimoji="1"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∨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Q(x))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x)P(x)</a:t>
            </a:r>
            <a:r>
              <a:rPr kumimoji="1"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kumimoji="1"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)Q(x)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marL="0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indent="0">
              <a:spcBef>
                <a:spcPts val="1200"/>
              </a:spcBef>
              <a:buClr>
                <a:srgbClr val="954F72"/>
              </a:buClr>
              <a:buSzPct val="80000"/>
              <a:buFont typeface="Wingdings" panose="05000000000000000000" pitchFamily="2" charset="2"/>
              <a:buNone/>
            </a:pP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5127" name="Object 5"/>
          <p:cNvGraphicFramePr>
            <a:graphicFrameLocks noChangeAspect="1"/>
          </p:cNvGraphicFramePr>
          <p:nvPr/>
        </p:nvGraphicFramePr>
        <p:xfrm>
          <a:off x="3629660" y="2969895"/>
          <a:ext cx="2099310" cy="459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1" imgW="761365" imgH="203200" progId="">
                  <p:embed/>
                </p:oleObj>
              </mc:Choice>
              <mc:Fallback>
                <p:oleObj name="Equation" r:id="rId1" imgW="761365" imgH="2032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9660" y="2969895"/>
                        <a:ext cx="2099310" cy="459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9900CC"/>
                </a:solidFill>
                <a:latin typeface="微软雅黑" panose="020B0503020204020204" charset="-122"/>
                <a:ea typeface="微软雅黑" panose="020B0503020204020204" charset="-122"/>
              </a:rPr>
              <a:t>例3：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构造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命题公式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3200" b="1" i="1" dirty="0"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∧</a:t>
            </a:r>
            <a:r>
              <a:rPr lang="zh-CN" altLang="en-US" sz="3200" b="1" i="1" dirty="0"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)∨(¬</a:t>
            </a:r>
            <a:r>
              <a:rPr lang="zh-CN" altLang="en-US" sz="3200" b="1" i="1" dirty="0"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∧¬</a:t>
            </a:r>
            <a:r>
              <a:rPr lang="zh-CN" altLang="en-US" sz="3200" b="1" i="1" dirty="0"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的真值表。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chemeClr val="hlink"/>
                </a:solidFill>
                <a:latin typeface="微软雅黑" panose="020B0503020204020204" charset="-122"/>
                <a:ea typeface="微软雅黑" panose="020B0503020204020204" charset="-122"/>
              </a:rPr>
              <a:t>解：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命题公式(</a:t>
            </a:r>
            <a:r>
              <a:rPr lang="zh-CN" altLang="en-US" sz="3200" b="1" i="1" dirty="0"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∧</a:t>
            </a:r>
            <a:r>
              <a:rPr lang="zh-CN" altLang="en-US" sz="3200" b="1" i="1" dirty="0"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)∨(¬</a:t>
            </a:r>
            <a:r>
              <a:rPr lang="zh-CN" altLang="en-US" sz="3200" b="1" i="1" dirty="0"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∧¬</a:t>
            </a:r>
            <a:r>
              <a:rPr lang="zh-CN" altLang="en-US" sz="3200" b="1" i="1" dirty="0"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)真值表如下表所示。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1-4 </a:t>
            </a:r>
            <a:r>
              <a:rPr lang="zh-CN" altLang="en-US" dirty="0"/>
              <a:t>真值表与等价公式</a:t>
            </a:r>
            <a:endParaRPr lang="zh-CN" altLang="en-US" dirty="0"/>
          </a:p>
        </p:txBody>
      </p:sp>
      <p:graphicFrame>
        <p:nvGraphicFramePr>
          <p:cNvPr id="67588" name="Group 4"/>
          <p:cNvGraphicFramePr>
            <a:graphicFrameLocks noGrp="1"/>
          </p:cNvGraphicFramePr>
          <p:nvPr/>
        </p:nvGraphicFramePr>
        <p:xfrm>
          <a:off x="1731433" y="3276600"/>
          <a:ext cx="9025255" cy="2251075"/>
        </p:xfrm>
        <a:graphic>
          <a:graphicData uri="http://schemas.openxmlformats.org/drawingml/2006/table">
            <a:tbl>
              <a:tblPr/>
              <a:tblGrid>
                <a:gridCol w="702945"/>
                <a:gridCol w="787400"/>
                <a:gridCol w="765810"/>
                <a:gridCol w="829945"/>
                <a:gridCol w="1176655"/>
                <a:gridCol w="1651000"/>
                <a:gridCol w="3111500"/>
              </a:tblGrid>
              <a:tr h="6965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¬</a:t>
                      </a: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¬</a:t>
                      </a: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Q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∧</a:t>
                      </a: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Q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¬</a:t>
                      </a: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∧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¬</a:t>
                      </a: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Q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∧</a:t>
                      </a: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Q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)∨(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¬</a:t>
                      </a: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∧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¬</a:t>
                      </a: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Q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749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2749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2749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2749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F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T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Arial" panose="020B0604020202020204" pitchFamily="34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T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944033" y="1378162"/>
            <a:ext cx="10950255" cy="142663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sz="32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sz="32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32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32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32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证明</a:t>
            </a:r>
            <a:r>
              <a:rPr lang="en-US" altLang="zh-CN" sz="32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┐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</a:rPr>
              <a:t>(P∧Q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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（┐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</a:rPr>
              <a:t>P∨┐Q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32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证明：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给出┐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(P∧Q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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（┐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P∨┐Q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）的真值表。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9701" name="Group 5"/>
          <p:cNvGraphicFramePr>
            <a:graphicFrameLocks noGrp="1"/>
          </p:cNvGraphicFramePr>
          <p:nvPr>
            <p:ph sz="quarter" idx="4294967295"/>
          </p:nvPr>
        </p:nvGraphicFramePr>
        <p:xfrm>
          <a:off x="1134141" y="2859349"/>
          <a:ext cx="9767570" cy="2085975"/>
        </p:xfrm>
        <a:graphic>
          <a:graphicData uri="http://schemas.openxmlformats.org/drawingml/2006/table">
            <a:tbl>
              <a:tblPr/>
              <a:tblGrid>
                <a:gridCol w="449580"/>
                <a:gridCol w="449580"/>
                <a:gridCol w="986155"/>
                <a:gridCol w="1344295"/>
                <a:gridCol w="762000"/>
                <a:gridCol w="779780"/>
                <a:gridCol w="1648460"/>
                <a:gridCol w="3347720"/>
              </a:tblGrid>
              <a:tr h="417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135" b="0" i="0" u="none" strike="noStrike" cap="none" normalizeH="0" baseline="0" dirty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P∧Q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┐</a:t>
                      </a:r>
                      <a:r>
                        <a:rPr kumimoji="0" lang="en-US" altLang="zh-CN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(P∧Q)</a:t>
                      </a:r>
                      <a:endParaRPr kumimoji="0" lang="en-US" altLang="zh-CN" sz="2135" b="0" i="0" u="none" strike="noStrike" cap="none" normalizeH="0" baseline="0" dirty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┐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┐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┐</a:t>
                      </a:r>
                      <a:r>
                        <a:rPr kumimoji="0" lang="en-US" altLang="zh-CN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P∨┐Q</a:t>
                      </a:r>
                      <a:endParaRPr kumimoji="0" lang="en-US" altLang="zh-CN" sz="2135" b="0" i="0" u="none" strike="noStrike" cap="none" normalizeH="0" baseline="0" dirty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┐</a:t>
                      </a:r>
                      <a:r>
                        <a:rPr kumimoji="0" lang="en-US" altLang="zh-CN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(P∧Q</a:t>
                      </a:r>
                      <a:r>
                        <a:rPr kumimoji="0" lang="zh-CN" altLang="en-US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zh-CN" altLang="en-US" sz="2135" b="1" dirty="0">
                          <a:latin typeface="微软雅黑" panose="020B0503020204020204" charset="-122"/>
                          <a:ea typeface="微软雅黑" panose="020B0503020204020204" charset="-122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zh-CN" altLang="en-US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（┐</a:t>
                      </a:r>
                      <a:r>
                        <a:rPr kumimoji="0" lang="en-US" altLang="zh-CN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P∨┐Q</a:t>
                      </a:r>
                      <a:r>
                        <a:rPr kumimoji="0" lang="zh-CN" altLang="en-US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2135" b="0" i="0" u="none" strike="noStrike" cap="none" normalizeH="0" baseline="0" dirty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 dirty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          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          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          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2135" b="0" i="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             </a:t>
                      </a:r>
                      <a:r>
                        <a:rPr kumimoji="0" lang="en-US" altLang="zh-CN" sz="2135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135" b="0" i="0" u="none" strike="noStrike" cap="none" normalizeH="0" baseline="0" dirty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3101"/>
          </a:xfrm>
        </p:spPr>
        <p:txBody>
          <a:bodyPr/>
          <a:lstStyle/>
          <a:p>
            <a:r>
              <a:rPr lang="en-US" altLang="zh-CN" dirty="0"/>
              <a:t>1-5 </a:t>
            </a:r>
            <a:r>
              <a:rPr lang="zh-CN" altLang="en-US" dirty="0"/>
              <a:t>重言式与蕴含式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19963" y="5089444"/>
            <a:ext cx="1012219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3200" dirty="0"/>
              <a:t>由上表可知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┐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(P∧Q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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（┐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P∨┐Q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）为重言式，所以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┐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</a:rPr>
              <a:t>(P∧Q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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（┐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</a:rPr>
              <a:t>P∨┐Q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32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608330" y="1490345"/>
            <a:ext cx="8654415" cy="3029585"/>
          </a:xfrm>
        </p:spPr>
        <p:txBody>
          <a:bodyPr>
            <a:normAutofit lnSpcReduction="10000"/>
          </a:bodyPr>
          <a:lstStyle/>
          <a:p>
            <a:pPr marL="0" lvl="1" indent="0">
              <a:spcBef>
                <a:spcPts val="1200"/>
              </a:spcBef>
              <a:buClr>
                <a:srgbClr val="954F72"/>
              </a:buClr>
              <a:buSzPct val="80000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最小联结词组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 indent="-285750">
              <a:spcBef>
                <a:spcPts val="1200"/>
              </a:spcBef>
              <a:buClr>
                <a:srgbClr val="954F72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一些等价式：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¬(</a:t>
            </a:r>
            <a:r>
              <a:rPr lang="en-US" altLang="zh-CN" b="1" i="1" dirty="0"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∨</a:t>
            </a:r>
            <a:r>
              <a:rPr lang="en-US" altLang="zh-CN" b="1" i="1" dirty="0"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altLang="en-US" b="1" i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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¬</a:t>
            </a:r>
            <a:r>
              <a:rPr lang="en-US" altLang="zh-CN" b="1" i="1" dirty="0"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∧¬</a:t>
            </a:r>
            <a:r>
              <a:rPr lang="en-US" altLang="zh-CN" b="1" i="1" dirty="0"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                 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marL="800100" lvl="1" indent="-457200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				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¬(</a:t>
            </a:r>
            <a:r>
              <a:rPr lang="en-US" altLang="zh-CN" b="1" i="1" dirty="0"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∧</a:t>
            </a:r>
            <a:r>
              <a:rPr lang="en-US" altLang="zh-CN" b="1" i="1" dirty="0"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altLang="en-US" b="1" i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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¬</a:t>
            </a:r>
            <a:r>
              <a:rPr lang="en-US" altLang="zh-CN" b="1" i="1" dirty="0"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∨¬</a:t>
            </a:r>
            <a:r>
              <a:rPr lang="en-US" altLang="zh-CN" b="1" i="1" dirty="0">
                <a:latin typeface="微软雅黑" panose="020B0503020204020204" charset="-122"/>
                <a:ea typeface="微软雅黑" panose="020B0503020204020204" charset="-122"/>
              </a:rPr>
              <a:t>Q</a:t>
            </a:r>
            <a:endParaRPr lang="en-US" altLang="zh-CN" b="1" i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					P→Q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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 ¬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P∨Q 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				P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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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P→Q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∧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(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Q→P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lvl="2" indent="-457200">
              <a:spcBef>
                <a:spcPts val="600"/>
              </a:spcBef>
              <a:buClr>
                <a:srgbClr val="954F72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最小联结词组：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¬</a:t>
            </a:r>
            <a:r>
              <a:rPr lang="zh-CN" altLang="en-US" b="1" i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∧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或者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¬</a:t>
            </a:r>
            <a:r>
              <a:rPr lang="zh-CN" altLang="en-US" b="1" i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 ∨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</a:pP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1-6  </a:t>
            </a:r>
            <a:r>
              <a:rPr lang="zh-CN" altLang="en-US" dirty="0"/>
              <a:t>其他联结词</a:t>
            </a:r>
            <a:endParaRPr lang="en-US" altLang="ko-KR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 txBox="1">
            <a:spLocks noRot="1" noChangeArrowheads="1"/>
          </p:cNvSpPr>
          <p:nvPr/>
        </p:nvSpPr>
        <p:spPr bwMode="auto">
          <a:xfrm>
            <a:off x="1081617" y="1541367"/>
            <a:ext cx="10841024" cy="575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例：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求公式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P →Q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P∨Q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┐(P∧Q)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的主析取范式。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                                     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081616" y="4886800"/>
            <a:ext cx="9579295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故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P → Q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(┐P∧┐Q)∨(┐P∧Q )∨(P∧Q) )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</a:t>
            </a: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m</a:t>
            </a:r>
            <a:r>
              <a:rPr lang="en-US" altLang="zh-CN" sz="2400" baseline="-250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</a:rPr>
              <a:t>∨m</a:t>
            </a:r>
            <a:r>
              <a:rPr lang="en-US" altLang="zh-CN" sz="2400" baseline="-250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</a:rPr>
              <a:t>∨m</a:t>
            </a:r>
            <a:r>
              <a:rPr lang="en-US" altLang="zh-CN" sz="2400" baseline="-250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400" baseline="-25000" dirty="0">
              <a:solidFill>
                <a:srgbClr val="CC33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Box 63"/>
          <p:cNvSpPr txBox="1">
            <a:spLocks noChangeArrowheads="1"/>
          </p:cNvSpPr>
          <p:nvPr/>
        </p:nvSpPr>
        <p:spPr bwMode="auto">
          <a:xfrm>
            <a:off x="1630783" y="5351700"/>
            <a:ext cx="9030127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P∨Q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(┐P∧Q )∨(P∧┐Q)∨(P∧Q)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</a:t>
            </a: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m</a:t>
            </a:r>
            <a:r>
              <a:rPr lang="en-US" altLang="zh-CN" sz="2400" baseline="-250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</a:rPr>
              <a:t>∨m</a:t>
            </a:r>
            <a:r>
              <a:rPr lang="en-US" altLang="zh-CN" sz="2400" baseline="-250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</a:rPr>
              <a:t>∨m</a:t>
            </a:r>
            <a:r>
              <a:rPr lang="en-US" altLang="zh-CN" sz="2400" baseline="-250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400" baseline="-25000" dirty="0">
              <a:solidFill>
                <a:srgbClr val="CC33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 Box 64"/>
          <p:cNvSpPr txBox="1">
            <a:spLocks noChangeArrowheads="1"/>
          </p:cNvSpPr>
          <p:nvPr/>
        </p:nvSpPr>
        <p:spPr bwMode="auto">
          <a:xfrm>
            <a:off x="1630784" y="5816600"/>
            <a:ext cx="9030127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┐(P∧Q)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(┐P∧┐Q)∨(┐P∧Q)∨(P∧┐Q) )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</a:t>
            </a: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m</a:t>
            </a:r>
            <a:r>
              <a:rPr lang="en-US" altLang="zh-CN" sz="2400" baseline="-250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</a:rPr>
              <a:t>∨m</a:t>
            </a:r>
            <a:r>
              <a:rPr lang="en-US" altLang="zh-CN" sz="2400" baseline="-250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</a:rPr>
              <a:t>∨m</a:t>
            </a:r>
            <a:r>
              <a:rPr lang="en-US" altLang="zh-CN" sz="2400" baseline="-25000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400" baseline="-25000" dirty="0">
              <a:solidFill>
                <a:srgbClr val="CC33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515311" y="2580892"/>
          <a:ext cx="9161145" cy="2280920"/>
        </p:xfrm>
        <a:graphic>
          <a:graphicData uri="http://schemas.openxmlformats.org/drawingml/2006/table">
            <a:tbl>
              <a:tblPr/>
              <a:tblGrid>
                <a:gridCol w="350520"/>
                <a:gridCol w="507365"/>
                <a:gridCol w="802005"/>
                <a:gridCol w="1297940"/>
                <a:gridCol w="1297305"/>
                <a:gridCol w="1297940"/>
                <a:gridCol w="1100455"/>
                <a:gridCol w="1019175"/>
                <a:gridCol w="1488440"/>
              </a:tblGrid>
              <a:tr h="76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</a:t>
                      </a:r>
                      <a:endParaRPr lang="zh-CN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Q</a:t>
                      </a:r>
                      <a:endParaRPr lang="zh-CN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</a:t>
                      </a:r>
                      <a:r>
                        <a:rPr lang="zh-CN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∧</a:t>
                      </a:r>
                      <a:r>
                        <a:rPr lang="en-US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Q</a:t>
                      </a:r>
                      <a:endParaRPr lang="zh-CN" sz="2400" kern="100" dirty="0">
                        <a:solidFill>
                          <a:srgbClr val="0070C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</a:t>
                      </a:r>
                      <a:r>
                        <a:rPr lang="zh-CN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∧┐</a:t>
                      </a:r>
                      <a:r>
                        <a:rPr lang="en-US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Q</a:t>
                      </a:r>
                      <a:endParaRPr lang="zh-CN" sz="2400" kern="100" dirty="0">
                        <a:solidFill>
                          <a:srgbClr val="0070C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┐</a:t>
                      </a:r>
                      <a:r>
                        <a:rPr lang="en-US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</a:t>
                      </a:r>
                      <a:r>
                        <a:rPr lang="zh-CN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∧</a:t>
                      </a:r>
                      <a:r>
                        <a:rPr lang="en-US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Q</a:t>
                      </a:r>
                      <a:endParaRPr lang="zh-CN" sz="2400" kern="100" dirty="0">
                        <a:solidFill>
                          <a:srgbClr val="0070C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┐</a:t>
                      </a:r>
                      <a:r>
                        <a:rPr lang="en-US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</a:t>
                      </a:r>
                      <a:r>
                        <a:rPr lang="zh-CN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∧┐</a:t>
                      </a:r>
                      <a:r>
                        <a:rPr lang="en-US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Q</a:t>
                      </a:r>
                      <a:endParaRPr lang="zh-CN" sz="2400" kern="100" dirty="0">
                        <a:solidFill>
                          <a:srgbClr val="0070C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 </a:t>
                      </a:r>
                      <a:r>
                        <a:rPr lang="zh-CN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→</a:t>
                      </a: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Q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</a:t>
                      </a:r>
                      <a:r>
                        <a:rPr lang="zh-CN" sz="2400" b="1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∨</a:t>
                      </a:r>
                      <a:r>
                        <a:rPr lang="en-US" sz="2400" b="1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Q</a:t>
                      </a:r>
                      <a:endParaRPr lang="zh-CN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┐</a:t>
                      </a:r>
                      <a:r>
                        <a:rPr lang="en-US" sz="2400" b="1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(P</a:t>
                      </a:r>
                      <a:r>
                        <a:rPr lang="zh-CN" sz="2400" b="1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∧</a:t>
                      </a:r>
                      <a:r>
                        <a:rPr lang="en-US" sz="2400" b="1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Q</a:t>
                      </a:r>
                      <a:r>
                        <a:rPr lang="en-US" altLang="zh-CN" sz="2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zh-CN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 dirty="0">
                        <a:solidFill>
                          <a:srgbClr val="0070C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CC33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 dirty="0">
                        <a:solidFill>
                          <a:srgbClr val="CC33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CC33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 dirty="0">
                        <a:solidFill>
                          <a:srgbClr val="CC33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T</a:t>
                      </a:r>
                      <a:endParaRPr lang="zh-CN" sz="2400" b="1" kern="100" dirty="0">
                        <a:solidFill>
                          <a:srgbClr val="0070C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CC33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 dirty="0">
                        <a:solidFill>
                          <a:srgbClr val="CC33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CC33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 dirty="0">
                        <a:solidFill>
                          <a:srgbClr val="CC33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T</a:t>
                      </a:r>
                      <a:endParaRPr lang="zh-CN" sz="2400" b="1" kern="100" dirty="0">
                        <a:solidFill>
                          <a:srgbClr val="0070C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CC33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 dirty="0">
                        <a:solidFill>
                          <a:srgbClr val="CC33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CC33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 dirty="0">
                        <a:solidFill>
                          <a:srgbClr val="CC33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CC33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 dirty="0">
                        <a:solidFill>
                          <a:srgbClr val="CC33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T</a:t>
                      </a:r>
                      <a:endParaRPr lang="zh-CN" sz="2400" b="1" kern="100" dirty="0">
                        <a:solidFill>
                          <a:srgbClr val="0070C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CC33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 dirty="0">
                        <a:solidFill>
                          <a:srgbClr val="CC33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endParaRPr lang="zh-CN" sz="24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CC33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zh-CN" sz="2400" kern="100" dirty="0">
                        <a:solidFill>
                          <a:srgbClr val="CC33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112784" y="2102751"/>
            <a:ext cx="3230880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三公式的真值表如下：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1-7  </a:t>
            </a:r>
            <a:r>
              <a:rPr lang="zh-CN" altLang="en-US" dirty="0"/>
              <a:t>对偶与范式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0" indent="-4572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例：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化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(P∧Q )∨(</a:t>
            </a:r>
            <a:r>
              <a:rPr lang="zh-CN" altLang="en-US" sz="3200" b="1" dirty="0">
                <a:latin typeface="Arial" panose="020B0604020202020204" pitchFamily="34" charset="0"/>
                <a:ea typeface="黑体" panose="02010609060101010101" pitchFamily="49" charset="-122"/>
              </a:rPr>
              <a:t>¬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P∧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为主合取范式。</a:t>
            </a:r>
            <a:endParaRPr lang="zh-CN" altLang="en-US" sz="320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-457200">
              <a:lnSpc>
                <a:spcPct val="120000"/>
              </a:lnSpc>
              <a:buNone/>
            </a:pPr>
            <a:r>
              <a:rPr lang="zh-CN" altLang="en-US" dirty="0">
                <a:latin typeface="+mn-ea"/>
              </a:rPr>
              <a:t>解：</a:t>
            </a:r>
            <a:r>
              <a:rPr lang="en-US" altLang="zh-CN" dirty="0">
                <a:latin typeface="+mn-ea"/>
              </a:rPr>
              <a:t>(P∧Q ) ∨ (┐P∧R)</a:t>
            </a:r>
            <a:endParaRPr lang="zh-CN" altLang="en-US" dirty="0">
              <a:latin typeface="+mn-ea"/>
            </a:endParaRPr>
          </a:p>
          <a:p>
            <a:pPr marL="0" indent="-457200">
              <a:lnSpc>
                <a:spcPct val="120000"/>
              </a:lnSpc>
              <a:buNone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+mn-ea"/>
              </a:rPr>
              <a:t> ((P∧Q) ∨ ┐P)∧((P∧Q) ∨ R)</a:t>
            </a:r>
            <a:endParaRPr lang="zh-CN" altLang="en-US" dirty="0">
              <a:latin typeface="+mn-ea"/>
            </a:endParaRPr>
          </a:p>
          <a:p>
            <a:pPr marL="0" indent="-45720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 (P∨┐P)∧(Q∨┐P)∧(P∨R)∧(Q∨R)</a:t>
            </a:r>
            <a:endParaRPr lang="zh-CN" altLang="en-US" dirty="0">
              <a:solidFill>
                <a:srgbClr val="FF0000"/>
              </a:solidFill>
              <a:latin typeface="+mn-ea"/>
            </a:endParaRPr>
          </a:p>
          <a:p>
            <a:pPr marL="0" indent="-45720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 (Q∨┐P)∧(P∨R)∧(Q∨R)</a:t>
            </a:r>
            <a:endParaRPr lang="zh-CN" altLang="en-US" dirty="0">
              <a:solidFill>
                <a:srgbClr val="FF0000"/>
              </a:solidFill>
              <a:latin typeface="+mn-ea"/>
            </a:endParaRPr>
          </a:p>
          <a:p>
            <a:pPr marL="0" indent="-457200">
              <a:lnSpc>
                <a:spcPct val="120000"/>
              </a:lnSpc>
              <a:buNone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+mn-ea"/>
              </a:rPr>
              <a:t> (Q∨┐P∨(</a:t>
            </a:r>
            <a:r>
              <a:rPr lang="en-US" altLang="zh-CN" dirty="0">
                <a:solidFill>
                  <a:srgbClr val="FFC000"/>
                </a:solidFill>
                <a:latin typeface="+mn-ea"/>
              </a:rPr>
              <a:t>R∧┐R</a:t>
            </a:r>
            <a:r>
              <a:rPr lang="en-US" altLang="zh-CN" dirty="0">
                <a:latin typeface="+mn-ea"/>
              </a:rPr>
              <a:t>))∧(P∨R∨(</a:t>
            </a:r>
            <a:r>
              <a:rPr lang="en-US" altLang="zh-CN" dirty="0">
                <a:solidFill>
                  <a:srgbClr val="FFC000"/>
                </a:solidFill>
                <a:latin typeface="+mn-ea"/>
              </a:rPr>
              <a:t>Q∧┐Q</a:t>
            </a:r>
            <a:r>
              <a:rPr lang="en-US" altLang="zh-CN" dirty="0">
                <a:latin typeface="+mn-ea"/>
              </a:rPr>
              <a:t>))∧(Q∨R∨(</a:t>
            </a:r>
            <a:r>
              <a:rPr lang="en-US" altLang="zh-CN" dirty="0">
                <a:solidFill>
                  <a:srgbClr val="FFC000"/>
                </a:solidFill>
                <a:latin typeface="+mn-ea"/>
              </a:rPr>
              <a:t>P∧┐P</a:t>
            </a:r>
            <a:r>
              <a:rPr lang="en-US" altLang="zh-CN" dirty="0">
                <a:latin typeface="+mn-ea"/>
              </a:rPr>
              <a:t>))</a:t>
            </a:r>
            <a:endParaRPr lang="zh-CN" altLang="en-US" dirty="0">
              <a:latin typeface="+mn-ea"/>
            </a:endParaRPr>
          </a:p>
          <a:p>
            <a:pPr marL="0" indent="-457200">
              <a:lnSpc>
                <a:spcPct val="120000"/>
              </a:lnSpc>
              <a:buNone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+mn-ea"/>
              </a:rPr>
              <a:t>(Q∨┐P∨R) </a:t>
            </a:r>
            <a:r>
              <a:rPr lang="en-US" altLang="zh-CN" dirty="0">
                <a:latin typeface="+mn-ea"/>
              </a:rPr>
              <a:t>∧ (Q∨┐P∨┐R)) ∧ </a:t>
            </a:r>
            <a:r>
              <a:rPr lang="en-US" altLang="zh-CN" dirty="0">
                <a:solidFill>
                  <a:srgbClr val="0070C0"/>
                </a:solidFill>
                <a:latin typeface="+mn-ea"/>
              </a:rPr>
              <a:t>(P∨R∨Q)</a:t>
            </a:r>
            <a:r>
              <a:rPr lang="en-US" altLang="zh-CN" dirty="0">
                <a:latin typeface="+mn-ea"/>
              </a:rPr>
              <a:t> ∧ (P∨R∨┐Q) ∧ </a:t>
            </a:r>
            <a:r>
              <a:rPr lang="en-US" altLang="zh-CN" dirty="0">
                <a:solidFill>
                  <a:srgbClr val="0070C0"/>
                </a:solidFill>
                <a:latin typeface="+mn-ea"/>
              </a:rPr>
              <a:t>(Q∨R∨P) </a:t>
            </a:r>
            <a:r>
              <a:rPr lang="en-US" altLang="zh-CN" dirty="0">
                <a:latin typeface="+mn-ea"/>
              </a:rPr>
              <a:t>∧ </a:t>
            </a:r>
            <a:r>
              <a:rPr lang="en-US" altLang="zh-CN" dirty="0">
                <a:solidFill>
                  <a:srgbClr val="00B050"/>
                </a:solidFill>
                <a:latin typeface="+mn-ea"/>
              </a:rPr>
              <a:t>(Q∨R∨┐P)</a:t>
            </a:r>
            <a:endParaRPr lang="zh-CN" altLang="en-US" dirty="0">
              <a:solidFill>
                <a:srgbClr val="00B050"/>
              </a:solidFill>
              <a:latin typeface="+mn-ea"/>
            </a:endParaRPr>
          </a:p>
          <a:p>
            <a:pPr marL="0" indent="-457200">
              <a:lnSpc>
                <a:spcPct val="120000"/>
              </a:lnSpc>
              <a:buNone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+mn-ea"/>
              </a:rPr>
              <a:t> (┐P∨Q∨R) ∧ (┐P∨Q∨┐R)) ∧ (P∨┐Q∨R) ∧ (P∨Q∨R)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1-7  </a:t>
            </a:r>
            <a:r>
              <a:rPr lang="zh-CN" altLang="en-US" dirty="0"/>
              <a:t>对偶与范式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1-8  </a:t>
            </a:r>
            <a:r>
              <a:rPr lang="zh-CN" altLang="en-US" dirty="0">
                <a:latin typeface="+mj-ea"/>
              </a:rPr>
              <a:t>推理理论</a:t>
            </a:r>
            <a:endParaRPr lang="en-US" altLang="ko-KR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15" name="Rectangle 2"/>
          <p:cNvSpPr txBox="1">
            <a:spLocks noRot="1" noChangeArrowheads="1"/>
          </p:cNvSpPr>
          <p:nvPr/>
        </p:nvSpPr>
        <p:spPr bwMode="auto">
          <a:xfrm>
            <a:off x="855836" y="1457111"/>
            <a:ext cx="1145116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57175" indent="-257175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609600" lvl="0" indent="-609600" defTabSz="685800"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7030A0"/>
                </a:solidFill>
                <a:latin typeface="+mn-ea"/>
                <a:ea typeface="+mn-ea"/>
              </a:rPr>
              <a:t>例题</a:t>
            </a:r>
            <a:r>
              <a:rPr lang="en-US" altLang="zh-CN" sz="3200" b="1" dirty="0">
                <a:solidFill>
                  <a:srgbClr val="7030A0"/>
                </a:solidFill>
                <a:latin typeface="+mn-ea"/>
                <a:ea typeface="+mn-ea"/>
              </a:rPr>
              <a:t>2  </a:t>
            </a:r>
            <a:r>
              <a:rPr lang="zh-CN" altLang="en-US" sz="3200" b="1" dirty="0">
                <a:solidFill>
                  <a:prstClr val="black"/>
                </a:solidFill>
                <a:ea typeface="黑体" panose="02010609060101010101" pitchFamily="49" charset="-122"/>
              </a:rPr>
              <a:t>证明： </a:t>
            </a:r>
            <a:r>
              <a:rPr lang="en-US" altLang="zh-CN" sz="3200" b="1" dirty="0">
                <a:solidFill>
                  <a:prstClr val="black"/>
                </a:solidFill>
                <a:ea typeface="黑体" panose="02010609060101010101" pitchFamily="49" charset="-122"/>
              </a:rPr>
              <a:t>(W</a:t>
            </a:r>
            <a:r>
              <a:rPr lang="zh-CN" altLang="en-US" sz="3200" b="1" dirty="0">
                <a:solidFill>
                  <a:prstClr val="black"/>
                </a:solidFill>
                <a:ea typeface="黑体" panose="02010609060101010101" pitchFamily="49" charset="-122"/>
              </a:rPr>
              <a:t>∨</a:t>
            </a:r>
            <a:r>
              <a:rPr lang="en-US" altLang="zh-CN" sz="3200" b="1" dirty="0">
                <a:solidFill>
                  <a:prstClr val="black"/>
                </a:solidFill>
                <a:ea typeface="黑体" panose="02010609060101010101" pitchFamily="49" charset="-122"/>
              </a:rPr>
              <a:t>R)</a:t>
            </a:r>
            <a:r>
              <a:rPr lang="zh-CN" altLang="en-US" sz="3200" b="1" dirty="0">
                <a:solidFill>
                  <a:prstClr val="black"/>
                </a:solidFill>
                <a:latin typeface="Calibri Light" panose="020F0302020204030204"/>
                <a:ea typeface="微软雅黑" panose="020B0503020204020204" charset="-122"/>
              </a:rPr>
              <a:t>→</a:t>
            </a:r>
            <a:r>
              <a:rPr lang="en-US" altLang="zh-CN" sz="3200" b="1" dirty="0">
                <a:solidFill>
                  <a:prstClr val="black"/>
                </a:solidFill>
                <a:ea typeface="黑体" panose="02010609060101010101" pitchFamily="49" charset="-122"/>
              </a:rPr>
              <a:t>V, V</a:t>
            </a:r>
            <a:r>
              <a:rPr lang="zh-CN" altLang="en-US" sz="3200" b="1" dirty="0">
                <a:solidFill>
                  <a:prstClr val="black"/>
                </a:solidFill>
                <a:latin typeface="Calibri Light" panose="020F0302020204030204"/>
                <a:ea typeface="微软雅黑" panose="020B0503020204020204" charset="-122"/>
              </a:rPr>
              <a:t>→</a:t>
            </a:r>
            <a:r>
              <a:rPr lang="en-US" altLang="zh-CN" sz="3200" b="1" dirty="0">
                <a:solidFill>
                  <a:prstClr val="black"/>
                </a:solidFill>
                <a:ea typeface="黑体" panose="02010609060101010101" pitchFamily="49" charset="-122"/>
              </a:rPr>
              <a:t>C</a:t>
            </a:r>
            <a:r>
              <a:rPr lang="zh-CN" altLang="en-US" sz="3200" b="1" dirty="0">
                <a:solidFill>
                  <a:prstClr val="black"/>
                </a:solidFill>
                <a:ea typeface="黑体" panose="02010609060101010101" pitchFamily="49" charset="-122"/>
              </a:rPr>
              <a:t>∨</a:t>
            </a:r>
            <a:r>
              <a:rPr lang="en-US" altLang="zh-CN" sz="3200" b="1" dirty="0">
                <a:solidFill>
                  <a:prstClr val="black"/>
                </a:solidFill>
                <a:ea typeface="黑体" panose="02010609060101010101" pitchFamily="49" charset="-122"/>
              </a:rPr>
              <a:t>S, </a:t>
            </a:r>
            <a:r>
              <a:rPr lang="zh-CN" altLang="en-US" sz="3200" b="1" dirty="0">
                <a:solidFill>
                  <a:prstClr val="black"/>
                </a:solidFill>
                <a:ea typeface="黑体" panose="02010609060101010101" pitchFamily="49" charset="-122"/>
              </a:rPr>
              <a:t>S</a:t>
            </a:r>
            <a:r>
              <a:rPr lang="zh-CN" altLang="en-US" sz="3200" b="1" dirty="0">
                <a:solidFill>
                  <a:prstClr val="black"/>
                </a:solidFill>
                <a:latin typeface="Calibri Light" panose="020F0302020204030204"/>
                <a:ea typeface="微软雅黑" panose="020B0503020204020204" charset="-122"/>
              </a:rPr>
              <a:t>→</a:t>
            </a:r>
            <a:r>
              <a:rPr lang="en-US" altLang="zh-CN" sz="3200" b="1" dirty="0">
                <a:solidFill>
                  <a:prstClr val="black"/>
                </a:solidFill>
                <a:ea typeface="黑体" panose="02010609060101010101" pitchFamily="49" charset="-122"/>
              </a:rPr>
              <a:t>U, </a:t>
            </a:r>
            <a:r>
              <a:rPr lang="zh-CN" altLang="en-US" sz="3200" b="1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¬</a:t>
            </a:r>
            <a:r>
              <a:rPr lang="en-US" altLang="zh-CN" sz="3200" b="1" dirty="0">
                <a:solidFill>
                  <a:prstClr val="black"/>
                </a:solidFill>
                <a:ea typeface="黑体" panose="02010609060101010101" pitchFamily="49" charset="-122"/>
              </a:rPr>
              <a:t>C ∧</a:t>
            </a:r>
            <a:r>
              <a:rPr lang="zh-CN" altLang="en-US" sz="3200" b="1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¬</a:t>
            </a:r>
            <a:r>
              <a:rPr lang="en-US" altLang="zh-CN" sz="3200" b="1" dirty="0">
                <a:solidFill>
                  <a:prstClr val="black"/>
                </a:solidFill>
                <a:ea typeface="黑体" panose="02010609060101010101" pitchFamily="49" charset="-122"/>
              </a:rPr>
              <a:t>U</a:t>
            </a:r>
            <a:r>
              <a:rPr lang="zh-CN" altLang="en-US" sz="3200" dirty="0">
                <a:solidFill>
                  <a:prstClr val="black"/>
                </a:solidFill>
                <a:latin typeface="Calibri Light" panose="020F0302020204030204"/>
                <a:ea typeface="微软雅黑" panose="020B0503020204020204" charset="-122"/>
                <a:sym typeface="Symbol" panose="05050102010706020507" pitchFamily="18" charset="2"/>
              </a:rPr>
              <a:t></a:t>
            </a:r>
            <a:r>
              <a:rPr lang="zh-CN" altLang="en-US" sz="3200" b="1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¬</a:t>
            </a:r>
            <a:r>
              <a:rPr lang="en-US" altLang="zh-CN" sz="3200" b="1" dirty="0">
                <a:solidFill>
                  <a:prstClr val="black"/>
                </a:solidFill>
                <a:ea typeface="黑体" panose="02010609060101010101" pitchFamily="49" charset="-122"/>
              </a:rPr>
              <a:t>W</a:t>
            </a:r>
            <a:r>
              <a:rPr lang="zh-CN" altLang="en-US" sz="3200" b="1" dirty="0">
                <a:solidFill>
                  <a:prstClr val="black"/>
                </a:solidFill>
                <a:ea typeface="微软雅黑" panose="020B0503020204020204" charset="-122"/>
              </a:rPr>
              <a:t>；</a:t>
            </a:r>
            <a:endParaRPr lang="en-US" altLang="zh-CN" sz="3200" b="1" dirty="0">
              <a:solidFill>
                <a:prstClr val="black"/>
              </a:solidFill>
              <a:ea typeface="微软雅黑" panose="020B0503020204020204" charset="-122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6696899" y="5199773"/>
            <a:ext cx="5228011" cy="38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(13) ┐W                         T(12)  I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6696899" y="4661691"/>
            <a:ext cx="5487856" cy="38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(12) ┐W ∧ ┐R               T(11)   E        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6696899" y="4049743"/>
            <a:ext cx="560959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(11) ┐(W∨R)                 T(7),(10)  I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6696899" y="3511661"/>
            <a:ext cx="5482217" cy="38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(10) (W∨R) →C∨S        T(8),(9)  I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6696899" y="2899713"/>
            <a:ext cx="441748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(9) V→C∨S                    P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6696899" y="2287765"/>
            <a:ext cx="4785409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(8) (W∨R) →V              P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1642593" y="5689199"/>
            <a:ext cx="4932916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(7) ┐(S∨C)                T(6)  E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642593" y="5108329"/>
            <a:ext cx="4932916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(6) ┐C ∧ ┐S              T(2),(5)  I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Box 12"/>
          <p:cNvSpPr txBox="1">
            <a:spLocks noChangeArrowheads="1"/>
          </p:cNvSpPr>
          <p:nvPr/>
        </p:nvSpPr>
        <p:spPr bwMode="auto">
          <a:xfrm>
            <a:off x="1642593" y="2860741"/>
            <a:ext cx="4932916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(2) ┐C                       T(1)  I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1642593" y="4527456"/>
            <a:ext cx="505430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(5) ┐S                       T(3),(4)  I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1642593" y="4022488"/>
            <a:ext cx="4932916" cy="38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(4) S→U                    P     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 Box 15"/>
          <p:cNvSpPr txBox="1">
            <a:spLocks noChangeArrowheads="1"/>
          </p:cNvSpPr>
          <p:nvPr/>
        </p:nvSpPr>
        <p:spPr bwMode="auto">
          <a:xfrm>
            <a:off x="1642592" y="3441615"/>
            <a:ext cx="493291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(3)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┐U                       T(1)  I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 Box 17"/>
          <p:cNvSpPr txBox="1">
            <a:spLocks noChangeArrowheads="1"/>
          </p:cNvSpPr>
          <p:nvPr/>
        </p:nvSpPr>
        <p:spPr bwMode="auto">
          <a:xfrm>
            <a:off x="944716" y="2279868"/>
            <a:ext cx="5636704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证明：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(1)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┐C∧ ┐U            P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sz="quarter" idx="10"/>
          </p:nvPr>
        </p:nvSpPr>
        <p:spPr>
          <a:xfrm>
            <a:off x="838203" y="1220759"/>
            <a:ext cx="10519833" cy="4464049"/>
          </a:xfrm>
        </p:spPr>
        <p:txBody>
          <a:bodyPr rtlCol="0">
            <a:normAutofit/>
          </a:bodyPr>
          <a:lstStyle/>
          <a:p>
            <a:pPr marL="0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r>
              <a:rPr lang="zh-CN" altLang="en-US" sz="3200" b="1" dirty="0">
                <a:solidFill>
                  <a:srgbClr val="9900CC"/>
                </a:solidFill>
                <a:latin typeface="+mn-ea"/>
              </a:rPr>
              <a:t>例：</a:t>
            </a:r>
            <a:r>
              <a:rPr lang="en-US" altLang="zh-CN" sz="3200" b="1" dirty="0">
                <a:solidFill>
                  <a:srgbClr val="9900CC"/>
                </a:solidFill>
                <a:latin typeface="+mn-ea"/>
              </a:rPr>
              <a:t> </a:t>
            </a:r>
            <a:r>
              <a:rPr lang="zh-CN" altLang="en-US" sz="3200" dirty="0">
                <a:latin typeface="+mn-ea"/>
              </a:rPr>
              <a:t>将下列命题符号化：</a:t>
            </a:r>
            <a:endParaRPr lang="en-US" altLang="zh-CN" sz="3200" dirty="0">
              <a:latin typeface="+mn-ea"/>
            </a:endParaRPr>
          </a:p>
          <a:p>
            <a:pPr marL="0" indent="-609600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zh-CN" altLang="en-US" sz="3200" dirty="0">
                <a:latin typeface="+mn-ea"/>
              </a:rPr>
              <a:t>	</a:t>
            </a:r>
            <a:r>
              <a:rPr lang="en-US" altLang="zh-CN" sz="3200" b="1" dirty="0">
                <a:latin typeface="+mn-ea"/>
              </a:rPr>
              <a:t> </a:t>
            </a:r>
            <a:r>
              <a:rPr lang="zh-CN" altLang="en-US" sz="3200" dirty="0">
                <a:latin typeface="+mn-ea"/>
              </a:rPr>
              <a:t>所有人都要呼吸。</a:t>
            </a:r>
            <a:endParaRPr lang="zh-CN" altLang="en-US" sz="3200" dirty="0">
              <a:latin typeface="+mn-ea"/>
            </a:endParaRPr>
          </a:p>
          <a:p>
            <a:pPr marL="0" indent="-609600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zh-CN" altLang="en-US" sz="3200" b="1" dirty="0">
                <a:latin typeface="+mn-ea"/>
              </a:rPr>
              <a:t>解：</a:t>
            </a:r>
            <a:r>
              <a:rPr lang="zh-CN" altLang="en-US" sz="3200" dirty="0">
                <a:latin typeface="+mn-ea"/>
              </a:rPr>
              <a:t>设</a:t>
            </a:r>
            <a:r>
              <a:rPr lang="en-US" altLang="zh-CN" sz="3200" b="1" i="1" dirty="0">
                <a:latin typeface="+mn-ea"/>
                <a:cs typeface="Times New Roman" panose="02020603050405020304" pitchFamily="18" charset="0"/>
              </a:rPr>
              <a:t>M</a:t>
            </a:r>
            <a:r>
              <a:rPr lang="zh-CN" altLang="en-US" sz="3200" b="1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3200" b="1" i="1" dirty="0">
                <a:latin typeface="+mn-ea"/>
                <a:cs typeface="Times New Roman" panose="02020603050405020304" pitchFamily="18" charset="0"/>
              </a:rPr>
              <a:t>x</a:t>
            </a:r>
            <a:r>
              <a:rPr lang="zh-CN" altLang="en-US" sz="3200" b="1" dirty="0">
                <a:latin typeface="+mn-ea"/>
                <a:cs typeface="Times New Roman" panose="02020603050405020304" pitchFamily="18" charset="0"/>
              </a:rPr>
              <a:t>)：</a:t>
            </a:r>
            <a:r>
              <a:rPr lang="zh-CN" altLang="en-US" sz="3200" b="1" i="1" dirty="0">
                <a:latin typeface="+mn-ea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+mn-ea"/>
              </a:rPr>
              <a:t>是人，</a:t>
            </a:r>
            <a:r>
              <a:rPr lang="zh-CN" altLang="en-US" sz="3200" b="1" i="1" dirty="0">
                <a:latin typeface="+mn-ea"/>
                <a:cs typeface="Times New Roman" panose="02020603050405020304" pitchFamily="18" charset="0"/>
              </a:rPr>
              <a:t>F</a:t>
            </a:r>
            <a:r>
              <a:rPr lang="zh-CN" altLang="en-US" sz="3200" b="1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3200" b="1" i="1" dirty="0">
                <a:latin typeface="+mn-ea"/>
                <a:cs typeface="Times New Roman" panose="02020603050405020304" pitchFamily="18" charset="0"/>
              </a:rPr>
              <a:t>x</a:t>
            </a:r>
            <a:r>
              <a:rPr lang="zh-CN" altLang="en-US" sz="3200" b="1" dirty="0">
                <a:latin typeface="+mn-ea"/>
                <a:cs typeface="Times New Roman" panose="02020603050405020304" pitchFamily="18" charset="0"/>
              </a:rPr>
              <a:t>)：</a:t>
            </a:r>
            <a:r>
              <a:rPr lang="zh-CN" altLang="en-US" sz="3200" b="1" i="1" dirty="0">
                <a:latin typeface="+mn-ea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+mn-ea"/>
              </a:rPr>
              <a:t>呼吸，</a:t>
            </a:r>
            <a:endParaRPr lang="en-US" altLang="zh-CN" sz="3200" dirty="0">
              <a:latin typeface="+mn-ea"/>
            </a:endParaRPr>
          </a:p>
          <a:p>
            <a:pPr marL="0" indent="-609600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zh-CN" altLang="en-US" sz="3200" dirty="0">
                <a:latin typeface="+mn-ea"/>
              </a:rPr>
              <a:t>则命题符号化为：</a:t>
            </a:r>
            <a:r>
              <a:rPr lang="en-US" altLang="zh-CN" sz="3200" b="1" dirty="0">
                <a:latin typeface="+mn-ea"/>
                <a:sym typeface="Symbol" panose="05050102010706020507" pitchFamily="18" charset="2"/>
              </a:rPr>
              <a:t>(</a:t>
            </a:r>
            <a:r>
              <a:rPr lang="zh-CN" altLang="en-US" sz="3200" b="1" dirty="0">
                <a:latin typeface="+mn-ea"/>
                <a:sym typeface="Symbol" panose="05050102010706020507" pitchFamily="18" charset="2"/>
              </a:rPr>
              <a:t></a:t>
            </a:r>
            <a:r>
              <a:rPr lang="en-US" altLang="zh-CN" sz="3200" b="1" i="1" dirty="0">
                <a:latin typeface="+mn-ea"/>
                <a:sym typeface="Symbol" panose="05050102010706020507" pitchFamily="18" charset="2"/>
              </a:rPr>
              <a:t>x</a:t>
            </a:r>
            <a:r>
              <a:rPr lang="en-US" altLang="zh-CN" sz="3200" b="1" dirty="0">
                <a:latin typeface="+mn-ea"/>
                <a:sym typeface="Symbol" panose="05050102010706020507" pitchFamily="18" charset="2"/>
              </a:rPr>
              <a:t>)</a:t>
            </a:r>
            <a:r>
              <a:rPr lang="zh-CN" altLang="en-US" sz="3200" b="1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3200" b="1" i="1" dirty="0">
                <a:latin typeface="+mn-ea"/>
                <a:cs typeface="Times New Roman" panose="02020603050405020304" pitchFamily="18" charset="0"/>
              </a:rPr>
              <a:t>M</a:t>
            </a:r>
            <a:r>
              <a:rPr lang="zh-CN" altLang="en-US" sz="3200" b="1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3200" b="1" i="1" dirty="0">
                <a:latin typeface="+mn-ea"/>
                <a:cs typeface="Times New Roman" panose="02020603050405020304" pitchFamily="18" charset="0"/>
              </a:rPr>
              <a:t>x</a:t>
            </a:r>
            <a:r>
              <a:rPr lang="zh-CN" altLang="en-US" sz="3200" b="1" dirty="0">
                <a:latin typeface="+mn-ea"/>
                <a:cs typeface="Times New Roman" panose="02020603050405020304" pitchFamily="18" charset="0"/>
              </a:rPr>
              <a:t>)</a:t>
            </a:r>
            <a:r>
              <a:rPr lang="en-US" sz="3200" dirty="0">
                <a:solidFill>
                  <a:srgbClr val="006600"/>
                </a:solidFill>
                <a:latin typeface="+mn-ea"/>
              </a:rPr>
              <a:t>→</a:t>
            </a:r>
            <a:r>
              <a:rPr lang="zh-CN" altLang="en-US" sz="3200" b="1" i="1" dirty="0">
                <a:latin typeface="+mn-ea"/>
                <a:cs typeface="Times New Roman" panose="02020603050405020304" pitchFamily="18" charset="0"/>
              </a:rPr>
              <a:t>F</a:t>
            </a:r>
            <a:r>
              <a:rPr lang="zh-CN" altLang="en-US" sz="3200" b="1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3200" b="1" i="1" dirty="0">
                <a:latin typeface="+mn-ea"/>
                <a:cs typeface="Times New Roman" panose="02020603050405020304" pitchFamily="18" charset="0"/>
              </a:rPr>
              <a:t>x</a:t>
            </a:r>
            <a:r>
              <a:rPr lang="zh-CN" altLang="en-US" sz="3200" b="1" dirty="0">
                <a:latin typeface="+mn-ea"/>
                <a:cs typeface="Times New Roman" panose="02020603050405020304" pitchFamily="18" charset="0"/>
              </a:rPr>
              <a:t>))。</a:t>
            </a:r>
            <a:endParaRPr lang="zh-CN" altLang="en-US" sz="3200" dirty="0">
              <a:latin typeface="+mn-ea"/>
            </a:endParaRPr>
          </a:p>
          <a:p>
            <a:pPr marL="0" indent="-609600" algn="ctr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zh-CN" altLang="en-US" sz="3200" b="1" dirty="0">
              <a:latin typeface="+mn-ea"/>
            </a:endParaRPr>
          </a:p>
        </p:txBody>
      </p:sp>
      <p:sp>
        <p:nvSpPr>
          <p:cNvPr id="4" name="AutoShape 10"/>
          <p:cNvSpPr/>
          <p:nvPr/>
        </p:nvSpPr>
        <p:spPr bwMode="auto">
          <a:xfrm>
            <a:off x="7920203" y="4538400"/>
            <a:ext cx="2000251" cy="499533"/>
          </a:xfrm>
          <a:prstGeom prst="accentCallout1">
            <a:avLst>
              <a:gd name="adj1" fmla="val 18750"/>
              <a:gd name="adj2" fmla="val -6227"/>
              <a:gd name="adj3" fmla="val -67520"/>
              <a:gd name="adj4" fmla="val -109453"/>
            </a:avLst>
          </a:prstGeom>
          <a:solidFill>
            <a:srgbClr val="002060"/>
          </a:solidFill>
          <a:ln w="28575">
            <a:solidFill>
              <a:srgbClr val="002060"/>
            </a:solidFill>
            <a:tailEnd type="stealth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121909" tIns="60954" rIns="121909" bIns="60954"/>
          <a:lstStyle/>
          <a:p>
            <a:pPr algn="ctr">
              <a:defRPr/>
            </a:pPr>
            <a:r>
              <a:rPr lang="zh-CN" altLang="en-US" sz="2665" dirty="0">
                <a:solidFill>
                  <a:schemeClr val="bg1"/>
                </a:solidFill>
                <a:latin typeface="+mn-ea"/>
              </a:rPr>
              <a:t>特性谓词</a:t>
            </a:r>
            <a:endParaRPr lang="zh-CN" altLang="en-US" sz="2665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855879" y="5118600"/>
            <a:ext cx="8614833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9" tIns="60954" rIns="121909" bIns="60954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</a:rPr>
              <a:t>限定个体变元变化范围的谓词，称作特性谓词。</a:t>
            </a:r>
            <a:endParaRPr lang="zh-CN" alt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9900CC"/>
                </a:solidFill>
                <a:latin typeface="+mn-ea"/>
              </a:rPr>
              <a:t>例：</a:t>
            </a:r>
            <a:r>
              <a:rPr lang="en-US" altLang="zh-CN" sz="3200" b="1" dirty="0">
                <a:solidFill>
                  <a:srgbClr val="9900CC"/>
                </a:solidFill>
                <a:latin typeface="+mn-ea"/>
              </a:rPr>
              <a:t> </a:t>
            </a:r>
            <a:r>
              <a:rPr lang="zh-CN" altLang="en-US" sz="3200" dirty="0">
                <a:latin typeface="+mn-ea"/>
              </a:rPr>
              <a:t>将下列命题符号化：</a:t>
            </a:r>
            <a:endParaRPr lang="en-US" altLang="zh-CN" sz="32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3200" dirty="0">
                <a:latin typeface="+mn-ea"/>
              </a:rPr>
              <a:t>        </a:t>
            </a:r>
            <a:r>
              <a:rPr lang="zh-CN" altLang="zh-CN" sz="3200" dirty="0">
                <a:latin typeface="+mn-ea"/>
              </a:rPr>
              <a:t>有些人活百岁以上。</a:t>
            </a:r>
            <a:endParaRPr lang="zh-CN" altLang="zh-CN" sz="32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+mn-ea"/>
              </a:rPr>
              <a:t>解：</a:t>
            </a:r>
            <a:r>
              <a:rPr lang="zh-CN" altLang="zh-CN" sz="3200" dirty="0">
                <a:latin typeface="+mn-ea"/>
              </a:rPr>
              <a:t>令M(x)</a:t>
            </a:r>
            <a:r>
              <a:rPr lang="zh-CN" altLang="en-US" sz="3200" dirty="0">
                <a:latin typeface="+mn-ea"/>
              </a:rPr>
              <a:t>：</a:t>
            </a:r>
            <a:r>
              <a:rPr lang="zh-CN" altLang="zh-CN" sz="3200" dirty="0">
                <a:latin typeface="+mn-ea"/>
              </a:rPr>
              <a:t>x是人</a:t>
            </a:r>
            <a:r>
              <a:rPr lang="zh-CN" altLang="en-US" sz="3200" dirty="0">
                <a:latin typeface="+mn-ea"/>
              </a:rPr>
              <a:t>，</a:t>
            </a:r>
            <a:r>
              <a:rPr lang="zh-CN" altLang="zh-CN" sz="3200" dirty="0">
                <a:latin typeface="+mn-ea"/>
              </a:rPr>
              <a:t>G(x)</a:t>
            </a:r>
            <a:r>
              <a:rPr lang="zh-CN" altLang="en-US" sz="3200" dirty="0">
                <a:latin typeface="+mn-ea"/>
              </a:rPr>
              <a:t>：</a:t>
            </a:r>
            <a:r>
              <a:rPr lang="zh-CN" altLang="zh-CN" sz="3200" dirty="0">
                <a:latin typeface="+mn-ea"/>
              </a:rPr>
              <a:t>x活百岁以上。</a:t>
            </a:r>
            <a:endParaRPr lang="zh-CN" altLang="zh-CN" sz="32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3200" dirty="0">
                <a:latin typeface="+mn-ea"/>
              </a:rPr>
              <a:t>       </a:t>
            </a:r>
            <a:r>
              <a:rPr lang="zh-CN" altLang="en-US" sz="3200" dirty="0">
                <a:latin typeface="+mn-ea"/>
              </a:rPr>
              <a:t>命题可表示为：</a:t>
            </a:r>
            <a:r>
              <a:rPr lang="en-US" altLang="zh-CN" sz="3200" dirty="0">
                <a:latin typeface="+mn-ea"/>
              </a:rPr>
              <a:t>(</a:t>
            </a:r>
            <a:r>
              <a:rPr lang="zh-CN" altLang="zh-CN" sz="3200" dirty="0">
                <a:latin typeface="+mn-ea"/>
              </a:rPr>
              <a:t>∃x</a:t>
            </a:r>
            <a:r>
              <a:rPr lang="en-US" altLang="zh-CN" sz="3200" dirty="0">
                <a:latin typeface="+mn-ea"/>
              </a:rPr>
              <a:t>)</a:t>
            </a:r>
            <a:r>
              <a:rPr lang="zh-CN" altLang="zh-CN" sz="3200" dirty="0">
                <a:latin typeface="+mn-ea"/>
              </a:rPr>
              <a:t>(M(x)</a:t>
            </a:r>
            <a:r>
              <a:rPr lang="zh-CN" altLang="zh-CN" sz="3200" b="1" dirty="0">
                <a:solidFill>
                  <a:srgbClr val="006600"/>
                </a:solidFill>
                <a:latin typeface="+mn-ea"/>
              </a:rPr>
              <a:t>∧</a:t>
            </a:r>
            <a:r>
              <a:rPr lang="zh-CN" altLang="zh-CN" sz="3200" dirty="0">
                <a:latin typeface="+mn-ea"/>
              </a:rPr>
              <a:t>G(x)</a:t>
            </a:r>
            <a:r>
              <a:rPr lang="en-US" altLang="zh-CN" sz="3200" dirty="0">
                <a:latin typeface="+mn-ea"/>
              </a:rPr>
              <a:t>)</a:t>
            </a:r>
            <a:endParaRPr lang="zh-CN" altLang="zh-CN" sz="3200" dirty="0">
              <a:latin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AutoShape 10"/>
          <p:cNvSpPr/>
          <p:nvPr/>
        </p:nvSpPr>
        <p:spPr bwMode="auto">
          <a:xfrm>
            <a:off x="8208235" y="4869161"/>
            <a:ext cx="1824567" cy="480483"/>
          </a:xfrm>
          <a:prstGeom prst="accentCallout1">
            <a:avLst>
              <a:gd name="adj1" fmla="val 18750"/>
              <a:gd name="adj2" fmla="val -6227"/>
              <a:gd name="adj3" fmla="val -97442"/>
              <a:gd name="adj4" fmla="val -127448"/>
            </a:avLst>
          </a:prstGeom>
          <a:solidFill>
            <a:srgbClr val="002060"/>
          </a:solidFill>
          <a:ln>
            <a:solidFill>
              <a:srgbClr val="002060"/>
            </a:solidFill>
            <a:tailEnd type="stealth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121909" tIns="60954" rIns="121909" bIns="60954"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zh-CN" altLang="en-US" sz="2665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特性谓词</a:t>
            </a:r>
            <a:endParaRPr lang="zh-CN" altLang="en-US" sz="2665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5" name="组合 2"/>
          <p:cNvGrpSpPr/>
          <p:nvPr/>
        </p:nvGrpSpPr>
        <p:grpSpPr bwMode="auto">
          <a:xfrm>
            <a:off x="2544239" y="2372888"/>
            <a:ext cx="7872247" cy="3100817"/>
            <a:chOff x="2670175" y="4643438"/>
            <a:chExt cx="4187825" cy="2009775"/>
          </a:xfrm>
          <a:solidFill>
            <a:srgbClr val="002060"/>
          </a:solidFill>
        </p:grpSpPr>
        <p:graphicFrame>
          <p:nvGraphicFramePr>
            <p:cNvPr id="5127" name="Object 5"/>
            <p:cNvGraphicFramePr>
              <a:graphicFrameLocks noChangeAspect="1"/>
            </p:cNvGraphicFramePr>
            <p:nvPr/>
          </p:nvGraphicFramePr>
          <p:xfrm>
            <a:off x="4098176" y="5500748"/>
            <a:ext cx="1657262" cy="441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1" imgW="762000" imgH="203200" progId="">
                    <p:embed/>
                  </p:oleObj>
                </mc:Choice>
                <mc:Fallback>
                  <p:oleObj name="Equation" r:id="rId1" imgW="762000" imgH="203200" progId="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8176" y="5500748"/>
                          <a:ext cx="1657262" cy="441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8" name="AutoShape 14"/>
            <p:cNvSpPr/>
            <p:nvPr/>
          </p:nvSpPr>
          <p:spPr bwMode="auto">
            <a:xfrm>
              <a:off x="2955925" y="4972050"/>
              <a:ext cx="714375" cy="385763"/>
            </a:xfrm>
            <a:prstGeom prst="callout1">
              <a:avLst>
                <a:gd name="adj1" fmla="val 57019"/>
                <a:gd name="adj2" fmla="val 101338"/>
                <a:gd name="adj3" fmla="val 153273"/>
                <a:gd name="adj4" fmla="val 182795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量词</a:t>
              </a:r>
              <a:endPara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29" name="AutoShape 15"/>
            <p:cNvSpPr/>
            <p:nvPr/>
          </p:nvSpPr>
          <p:spPr bwMode="auto">
            <a:xfrm>
              <a:off x="2670175" y="6143625"/>
              <a:ext cx="1214438" cy="357188"/>
            </a:xfrm>
            <a:prstGeom prst="borderCallout1">
              <a:avLst>
                <a:gd name="adj1" fmla="val 0"/>
                <a:gd name="adj2" fmla="val 91167"/>
                <a:gd name="adj3" fmla="val -89245"/>
                <a:gd name="adj4" fmla="val 152273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指导变元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30" name="AutoShape 17"/>
            <p:cNvSpPr/>
            <p:nvPr/>
          </p:nvSpPr>
          <p:spPr bwMode="auto">
            <a:xfrm>
              <a:off x="5670550" y="6286500"/>
              <a:ext cx="777875" cy="366713"/>
            </a:xfrm>
            <a:prstGeom prst="borderCallout1">
              <a:avLst>
                <a:gd name="adj1" fmla="val -10588"/>
                <a:gd name="adj2" fmla="val 41806"/>
                <a:gd name="adj3" fmla="val -107958"/>
                <a:gd name="adj4" fmla="val -73769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辖域</a:t>
              </a:r>
              <a:endPara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31" name="AutoShape 18"/>
            <p:cNvSpPr/>
            <p:nvPr/>
          </p:nvSpPr>
          <p:spPr bwMode="auto">
            <a:xfrm>
              <a:off x="3741738" y="4643438"/>
              <a:ext cx="1285875" cy="390525"/>
            </a:xfrm>
            <a:prstGeom prst="borderCallout1">
              <a:avLst>
                <a:gd name="adj1" fmla="val 101759"/>
                <a:gd name="adj2" fmla="val 59782"/>
                <a:gd name="adj3" fmla="val 256292"/>
                <a:gd name="adj4" fmla="val 108764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约束变元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32" name="AutoShape 19"/>
            <p:cNvSpPr/>
            <p:nvPr/>
          </p:nvSpPr>
          <p:spPr bwMode="auto">
            <a:xfrm>
              <a:off x="5599113" y="4643438"/>
              <a:ext cx="1258887" cy="396875"/>
            </a:xfrm>
            <a:prstGeom prst="borderCallout1">
              <a:avLst>
                <a:gd name="adj1" fmla="val 101028"/>
                <a:gd name="adj2" fmla="val 41944"/>
                <a:gd name="adj3" fmla="val 254958"/>
                <a:gd name="adj4" fmla="val -6250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自由变元</a:t>
              </a:r>
              <a:endPara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3" name="Rectangle 3"/>
          <p:cNvSpPr>
            <a:spLocks noGrp="1" noChangeArrowheads="1"/>
          </p:cNvSpPr>
          <p:nvPr/>
        </p:nvSpPr>
        <p:spPr bwMode="auto">
          <a:xfrm>
            <a:off x="798208" y="1496411"/>
            <a:ext cx="10369551" cy="972484"/>
          </a:xfrm>
          <a:prstGeom prst="rect">
            <a:avLst/>
          </a:prstGeom>
          <a:noFill/>
          <a:ln>
            <a:noFill/>
          </a:ln>
        </p:spPr>
        <p:txBody>
          <a:bodyPr lIns="121909" tIns="60954" rIns="121909" bIns="60954"/>
          <a:lstStyle/>
          <a:p>
            <a:pPr marL="0" lvl="2">
              <a:lnSpc>
                <a:spcPct val="150000"/>
              </a:lnSpc>
              <a:spcBef>
                <a:spcPct val="20000"/>
              </a:spcBef>
              <a:buClr>
                <a:srgbClr val="00B050"/>
              </a:buClr>
              <a:defRPr/>
            </a:pP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案例：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143000" lvl="2" indent="-228600">
              <a:lnSpc>
                <a:spcPct val="150000"/>
              </a:lnSpc>
              <a:spcBef>
                <a:spcPct val="20000"/>
              </a:spcBef>
              <a:buClr>
                <a:srgbClr val="00B050"/>
              </a:buClr>
              <a:defRPr/>
            </a:pP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kumimoji="1"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2">
              <a:lnSpc>
                <a:spcPct val="150000"/>
              </a:lnSpc>
              <a:spcBef>
                <a:spcPct val="20000"/>
              </a:spcBef>
              <a:buClr>
                <a:srgbClr val="00B050"/>
              </a:buClr>
              <a:defRPr/>
            </a:pPr>
            <a:endParaRPr kumimoji="1" lang="zh-CN" altLang="en-US" sz="2135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2">
              <a:lnSpc>
                <a:spcPct val="150000"/>
              </a:lnSpc>
              <a:spcBef>
                <a:spcPct val="20000"/>
              </a:spcBef>
              <a:buClr>
                <a:srgbClr val="00B050"/>
              </a:buClr>
              <a:defRPr/>
            </a:pP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rgbClr val="9900CC"/>
                </a:solidFill>
                <a:latin typeface="+mn-ea"/>
              </a:rPr>
              <a:t>例题</a:t>
            </a:r>
            <a:r>
              <a:rPr lang="en-US" altLang="zh-CN" b="1" dirty="0">
                <a:solidFill>
                  <a:srgbClr val="9900CC"/>
                </a:solidFill>
                <a:latin typeface="+mn-ea"/>
              </a:rPr>
              <a:t>3 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对公式</a:t>
            </a:r>
            <a:r>
              <a:rPr lang="en-US" altLang="zh-CN" b="1" dirty="0"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+mn-ea"/>
                <a:sym typeface="Symbol" panose="05050102010706020507" pitchFamily="18" charset="2"/>
              </a:rPr>
              <a:t></a:t>
            </a:r>
            <a:r>
              <a:rPr lang="zh-CN" altLang="zh-CN" b="1" i="1" dirty="0">
                <a:latin typeface="+mn-ea"/>
                <a:cs typeface="Times New Roman" panose="02020603050405020304" pitchFamily="18" charset="0"/>
              </a:rPr>
              <a:t>x</a:t>
            </a:r>
            <a:r>
              <a:rPr lang="zh-CN" altLang="zh-CN" b="1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en-US" altLang="zh-CN" b="1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zh-CN" b="1" i="1" dirty="0">
                <a:latin typeface="+mn-ea"/>
                <a:cs typeface="Times New Roman" panose="02020603050405020304" pitchFamily="18" charset="0"/>
              </a:rPr>
              <a:t>P</a:t>
            </a:r>
            <a:r>
              <a:rPr lang="zh-CN" altLang="zh-CN" b="1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zh-CN" b="1" i="1" dirty="0">
                <a:latin typeface="+mn-ea"/>
                <a:cs typeface="Times New Roman" panose="02020603050405020304" pitchFamily="18" charset="0"/>
              </a:rPr>
              <a:t>y</a:t>
            </a:r>
            <a:r>
              <a:rPr lang="zh-CN" altLang="zh-CN" b="1" dirty="0">
                <a:latin typeface="+mn-ea"/>
                <a:cs typeface="Times New Roman" panose="02020603050405020304" pitchFamily="18" charset="0"/>
              </a:rPr>
              <a:t>)∧</a:t>
            </a:r>
            <a:r>
              <a:rPr lang="zh-CN" altLang="zh-CN" b="1" i="1" dirty="0">
                <a:latin typeface="+mn-ea"/>
                <a:cs typeface="Times New Roman" panose="02020603050405020304" pitchFamily="18" charset="0"/>
              </a:rPr>
              <a:t>R</a:t>
            </a:r>
            <a:r>
              <a:rPr lang="zh-CN" altLang="zh-CN" b="1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zh-CN" b="1" i="1" dirty="0">
                <a:latin typeface="+mn-ea"/>
                <a:cs typeface="Times New Roman" panose="02020603050405020304" pitchFamily="18" charset="0"/>
              </a:rPr>
              <a:t>x</a:t>
            </a:r>
            <a:r>
              <a:rPr lang="zh-CN" altLang="zh-CN" b="1" dirty="0">
                <a:latin typeface="+mn-ea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zh-CN" b="1" i="1" dirty="0">
                <a:latin typeface="+mn-ea"/>
                <a:cs typeface="Times New Roman" panose="02020603050405020304" pitchFamily="18" charset="0"/>
              </a:rPr>
              <a:t>y</a:t>
            </a:r>
            <a:r>
              <a:rPr lang="zh-CN" altLang="zh-CN" b="1" dirty="0">
                <a:latin typeface="+mn-ea"/>
                <a:cs typeface="Times New Roman" panose="02020603050405020304" pitchFamily="18" charset="0"/>
              </a:rPr>
              <a:t>))</a:t>
            </a:r>
            <a:r>
              <a:rPr lang="zh-CN" altLang="en-US" b="1" dirty="0">
                <a:latin typeface="+mn-ea"/>
              </a:rPr>
              <a:t>代入。</a:t>
            </a:r>
            <a:endParaRPr lang="zh-CN" altLang="en-US" b="1" dirty="0">
              <a:latin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解：对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y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实施代入，经代入后公式为</a:t>
            </a:r>
            <a:endParaRPr lang="zh-CN" altLang="en-US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		(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x)(P(z)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R(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x,z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))</a:t>
            </a:r>
            <a:endParaRPr lang="zh-CN" altLang="en-US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不可以代入为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: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 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		(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x)(P(x)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R(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x,x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))</a:t>
            </a:r>
            <a:endParaRPr lang="zh-CN" altLang="en-US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		(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x)(P(z)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R(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x,y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))</a:t>
            </a:r>
            <a:endParaRPr lang="zh-CN" altLang="en-US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9900CC"/>
                </a:solidFill>
                <a:latin typeface="微软雅黑" panose="020B0503020204020204" charset="-122"/>
                <a:ea typeface="微软雅黑" panose="020B0503020204020204" charset="-122"/>
              </a:rPr>
              <a:t>例题2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对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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x)(P(x)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R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x,y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))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∧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Q(</a:t>
            </a:r>
            <a:r>
              <a:rPr lang="en-US" altLang="zh-CN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x,y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换名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解：可换名为： </a:t>
            </a:r>
            <a:endParaRPr lang="en-US" altLang="zh-CN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		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z)(P(z)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R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z,y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))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Q(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x,y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lang="zh-CN" altLang="en-US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CC3300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不可以换名为： </a:t>
            </a:r>
            <a:endParaRPr lang="en-US" altLang="zh-CN" dirty="0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		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)(P(z)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R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x,y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))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Q(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x,y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lang="zh-CN" altLang="en-US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		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)(P(y)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R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y,y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))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Q(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x,y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lang="zh-CN" altLang="en-US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zh-CN" altLang="en-US" sz="3200" b="1" dirty="0">
                <a:solidFill>
                  <a:srgbClr val="9900CC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例：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证明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(x)A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(x)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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 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(x)(A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(x)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B)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(B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不含</a:t>
            </a:r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x)</a:t>
            </a:r>
            <a:endParaRPr lang="en-US" altLang="zh-CN" sz="3200" b="1" dirty="0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证明：(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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x)A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(x)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 </a:t>
            </a:r>
            <a:endParaRPr lang="en-US" altLang="zh-CN" sz="3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     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¬(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x)A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(x)∨B </a:t>
            </a:r>
            <a:endParaRPr lang="en-US" altLang="zh-CN" sz="3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    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 (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x)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¬ 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A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(x)∨B    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量词否定等价式</a:t>
            </a:r>
            <a:endParaRPr lang="zh-CN" altLang="en-US" sz="3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     (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x)(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¬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A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(x)∨B)   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量词辖域扩张</a:t>
            </a:r>
            <a:endParaRPr lang="zh-CN" altLang="en-US" sz="3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 (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x)(A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(x)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B)</a:t>
            </a:r>
            <a:endParaRPr lang="zh-CN" altLang="en-US" sz="3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sz="quarter" idx="10"/>
          </p:nvPr>
        </p:nvSpPr>
        <p:spPr>
          <a:xfrm>
            <a:off x="838203" y="1551523"/>
            <a:ext cx="11114448" cy="4464049"/>
          </a:xfrm>
        </p:spPr>
        <p:txBody>
          <a:bodyPr>
            <a:normAutofit lnSpcReduction="20000"/>
          </a:bodyPr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9900CC"/>
                </a:solidFill>
                <a:latin typeface="+mn-ea"/>
              </a:rPr>
              <a:t>例：</a:t>
            </a:r>
            <a:r>
              <a:rPr lang="zh-CN" altLang="en-US" sz="3200" dirty="0">
                <a:latin typeface="+mn-ea"/>
              </a:rPr>
              <a:t>化公式</a:t>
            </a:r>
            <a:r>
              <a:rPr lang="en-US" altLang="zh-CN" sz="3200" b="1" dirty="0">
                <a:latin typeface="+mn-ea"/>
                <a:sym typeface="Symbol" panose="05050102010706020507" pitchFamily="18" charset="2"/>
              </a:rPr>
              <a:t>(</a:t>
            </a:r>
            <a:r>
              <a:rPr lang="en-US" altLang="en-US" sz="3200" b="1" i="1" dirty="0">
                <a:latin typeface="+mn-ea"/>
                <a:sym typeface="Symbol" panose="05050102010706020507" pitchFamily="18" charset="2"/>
              </a:rPr>
              <a:t>x</a:t>
            </a:r>
            <a:r>
              <a:rPr lang="en-US" altLang="en-US" sz="3200" b="1" dirty="0">
                <a:latin typeface="+mn-ea"/>
                <a:sym typeface="Symbol" panose="05050102010706020507" pitchFamily="18" charset="2"/>
              </a:rPr>
              <a:t>)</a:t>
            </a:r>
            <a:r>
              <a:rPr lang="en-US" altLang="zh-CN" sz="3200" b="1" dirty="0">
                <a:latin typeface="+mn-ea"/>
                <a:sym typeface="Symbol" panose="05050102010706020507" pitchFamily="18" charset="2"/>
              </a:rPr>
              <a:t>(</a:t>
            </a:r>
            <a:r>
              <a:rPr lang="en-US" altLang="en-US" sz="3200" b="1" i="1" dirty="0">
                <a:latin typeface="+mn-ea"/>
                <a:sym typeface="Symbol" panose="05050102010706020507" pitchFamily="18" charset="2"/>
              </a:rPr>
              <a:t>y</a:t>
            </a:r>
            <a:r>
              <a:rPr lang="en-US" altLang="en-US" sz="3200" b="1" dirty="0">
                <a:latin typeface="+mn-ea"/>
                <a:sym typeface="Symbol" panose="05050102010706020507" pitchFamily="18" charset="2"/>
              </a:rPr>
              <a:t>)</a:t>
            </a:r>
            <a:r>
              <a:rPr lang="en-US" altLang="zh-CN" sz="3200" b="1" dirty="0">
                <a:latin typeface="+mn-ea"/>
                <a:sym typeface="Symbol" panose="05050102010706020507" pitchFamily="18" charset="2"/>
              </a:rPr>
              <a:t>((</a:t>
            </a:r>
            <a:r>
              <a:rPr lang="en-US" altLang="en-US" sz="3200" b="1" i="1" dirty="0">
                <a:latin typeface="+mn-ea"/>
                <a:sym typeface="Symbol" panose="05050102010706020507" pitchFamily="18" charset="2"/>
              </a:rPr>
              <a:t>z</a:t>
            </a:r>
            <a:r>
              <a:rPr lang="en-US" altLang="en-US" sz="3200" b="1" dirty="0">
                <a:latin typeface="+mn-ea"/>
                <a:sym typeface="Symbol" panose="05050102010706020507" pitchFamily="18" charset="2"/>
              </a:rPr>
              <a:t>)</a:t>
            </a:r>
            <a:r>
              <a:rPr lang="en-US" altLang="zh-CN" sz="3200" b="1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3200" b="1" i="1" dirty="0">
                <a:latin typeface="+mn-ea"/>
                <a:sym typeface="Symbol" panose="05050102010706020507" pitchFamily="18" charset="2"/>
              </a:rPr>
              <a:t>P</a:t>
            </a:r>
            <a:r>
              <a:rPr lang="en-US" altLang="zh-CN" sz="3200" b="1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3200" b="1" i="1" dirty="0">
                <a:latin typeface="+mn-ea"/>
                <a:sym typeface="Symbol" panose="05050102010706020507" pitchFamily="18" charset="2"/>
              </a:rPr>
              <a:t>x</a:t>
            </a:r>
            <a:r>
              <a:rPr lang="en-US" altLang="zh-CN" sz="3200" b="1" dirty="0">
                <a:latin typeface="+mn-ea"/>
                <a:sym typeface="Symbol" panose="05050102010706020507" pitchFamily="18" charset="2"/>
              </a:rPr>
              <a:t>, </a:t>
            </a:r>
            <a:r>
              <a:rPr lang="en-US" altLang="zh-CN" sz="3200" b="1" i="1" dirty="0">
                <a:latin typeface="+mn-ea"/>
                <a:sym typeface="Symbol" panose="05050102010706020507" pitchFamily="18" charset="2"/>
              </a:rPr>
              <a:t>z</a:t>
            </a:r>
            <a:r>
              <a:rPr lang="en-US" altLang="en-US" sz="3200" b="1" dirty="0">
                <a:latin typeface="+mn-ea"/>
                <a:sym typeface="Symbol" panose="05050102010706020507" pitchFamily="18" charset="2"/>
              </a:rPr>
              <a:t>)</a:t>
            </a:r>
            <a:r>
              <a:rPr lang="en-US" altLang="zh-CN" sz="3200" b="1" dirty="0">
                <a:latin typeface="+mn-ea"/>
              </a:rPr>
              <a:t>∧</a:t>
            </a:r>
            <a:r>
              <a:rPr lang="en-US" altLang="zh-CN" sz="3200" b="1" i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P</a:t>
            </a:r>
            <a:r>
              <a:rPr lang="en-US" altLang="zh-CN" sz="32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3200" b="1" i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y</a:t>
            </a:r>
            <a:r>
              <a:rPr lang="en-US" altLang="zh-CN" sz="32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, </a:t>
            </a:r>
            <a:r>
              <a:rPr lang="en-US" altLang="zh-CN" sz="3200" b="1" i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z</a:t>
            </a:r>
            <a:r>
              <a:rPr lang="en-US" altLang="en-US" sz="32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)</a:t>
            </a:r>
            <a:r>
              <a:rPr lang="en-US" altLang="en-US" sz="3200" b="1" dirty="0">
                <a:latin typeface="+mn-ea"/>
                <a:sym typeface="Symbol" panose="05050102010706020507" pitchFamily="18" charset="2"/>
              </a:rPr>
              <a:t>)</a:t>
            </a:r>
            <a:r>
              <a:rPr lang="en-US" altLang="zh-CN" sz="3200" b="1" dirty="0">
                <a:latin typeface="+mn-ea"/>
              </a:rPr>
              <a:t>→</a:t>
            </a:r>
            <a:r>
              <a:rPr lang="en-US" altLang="zh-CN" sz="3200" b="1" dirty="0">
                <a:latin typeface="+mn-ea"/>
                <a:sym typeface="Symbol" panose="05050102010706020507" pitchFamily="18" charset="2"/>
              </a:rPr>
              <a:t>(</a:t>
            </a:r>
            <a:r>
              <a:rPr lang="en-US" altLang="en-US" sz="3200" b="1" i="1" dirty="0">
                <a:latin typeface="+mn-ea"/>
                <a:sym typeface="Symbol" panose="05050102010706020507" pitchFamily="18" charset="2"/>
              </a:rPr>
              <a:t>u</a:t>
            </a:r>
            <a:r>
              <a:rPr lang="en-US" altLang="en-US" sz="3200" b="1" dirty="0">
                <a:latin typeface="+mn-ea"/>
                <a:sym typeface="Symbol" panose="05050102010706020507" pitchFamily="18" charset="2"/>
              </a:rPr>
              <a:t>)</a:t>
            </a:r>
            <a:r>
              <a:rPr lang="en-US" altLang="zh-CN" sz="3200" b="1" i="1" dirty="0">
                <a:latin typeface="+mn-ea"/>
                <a:sym typeface="Symbol" panose="05050102010706020507" pitchFamily="18" charset="2"/>
              </a:rPr>
              <a:t>Q</a:t>
            </a:r>
            <a:r>
              <a:rPr lang="en-US" altLang="zh-CN" sz="3200" b="1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3200" b="1" i="1" dirty="0">
                <a:latin typeface="+mn-ea"/>
                <a:sym typeface="Symbol" panose="05050102010706020507" pitchFamily="18" charset="2"/>
              </a:rPr>
              <a:t>x</a:t>
            </a:r>
            <a:r>
              <a:rPr lang="en-US" altLang="zh-CN" sz="3200" b="1" dirty="0">
                <a:latin typeface="+mn-ea"/>
                <a:sym typeface="Symbol" panose="05050102010706020507" pitchFamily="18" charset="2"/>
              </a:rPr>
              <a:t>, </a:t>
            </a:r>
            <a:r>
              <a:rPr lang="en-US" altLang="zh-CN" sz="3200" b="1" i="1" dirty="0">
                <a:latin typeface="+mn-ea"/>
                <a:sym typeface="Symbol" panose="05050102010706020507" pitchFamily="18" charset="2"/>
              </a:rPr>
              <a:t>y</a:t>
            </a:r>
            <a:r>
              <a:rPr lang="en-US" altLang="zh-CN" sz="3200" b="1" dirty="0">
                <a:latin typeface="+mn-ea"/>
                <a:sym typeface="Symbol" panose="05050102010706020507" pitchFamily="18" charset="2"/>
              </a:rPr>
              <a:t>, </a:t>
            </a:r>
            <a:r>
              <a:rPr lang="en-US" altLang="zh-CN" sz="3200" b="1" i="1" dirty="0">
                <a:latin typeface="+mn-ea"/>
                <a:sym typeface="Symbol" panose="05050102010706020507" pitchFamily="18" charset="2"/>
              </a:rPr>
              <a:t>u</a:t>
            </a:r>
            <a:r>
              <a:rPr lang="en-US" altLang="en-US" sz="3200" b="1" dirty="0">
                <a:latin typeface="+mn-ea"/>
                <a:sym typeface="Symbol" panose="05050102010706020507" pitchFamily="18" charset="2"/>
              </a:rPr>
              <a:t>)) </a:t>
            </a:r>
            <a:r>
              <a:rPr lang="zh-CN" altLang="en-US" sz="3200" dirty="0">
                <a:latin typeface="+mn-ea"/>
              </a:rPr>
              <a:t>为前束范式。</a:t>
            </a:r>
            <a:endParaRPr lang="en-US" altLang="zh-CN" sz="3200" dirty="0">
              <a:latin typeface="+mn-ea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解：原式</a:t>
            </a:r>
            <a:r>
              <a:rPr kumimoji="1" lang="zh-CN" altLang="en-US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</a:t>
            </a:r>
            <a:r>
              <a:rPr lang="zh-CN" altLang="en-US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</a:t>
            </a:r>
            <a:r>
              <a:rPr lang="en-US" altLang="zh-CN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</a:t>
            </a:r>
            <a:r>
              <a:rPr lang="en-US" altLang="zh-CN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</a:t>
            </a:r>
            <a:r>
              <a:rPr lang="en-US" altLang="zh-CN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y</a:t>
            </a:r>
            <a:r>
              <a:rPr lang="en-US" altLang="zh-CN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)(</a:t>
            </a:r>
            <a:r>
              <a:rPr lang="zh-CN" altLang="en-US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┐</a:t>
            </a:r>
            <a:r>
              <a:rPr lang="en-US" altLang="zh-CN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(z)(P(</a:t>
            </a:r>
            <a:r>
              <a:rPr lang="en-US" altLang="zh-CN" sz="3200" kern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x,z</a:t>
            </a:r>
            <a:r>
              <a:rPr lang="en-US" altLang="zh-CN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)</a:t>
            </a:r>
            <a:r>
              <a:rPr kumimoji="1" lang="zh-CN" altLang="en-US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∧</a:t>
            </a:r>
            <a:r>
              <a:rPr lang="en-US" altLang="zh-CN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P(</a:t>
            </a:r>
            <a:r>
              <a:rPr lang="en-US" altLang="zh-CN" sz="3200" kern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y,z</a:t>
            </a:r>
            <a:r>
              <a:rPr lang="en-US" altLang="zh-CN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))</a:t>
            </a:r>
            <a:r>
              <a:rPr kumimoji="1" lang="zh-CN" altLang="en-US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∨</a:t>
            </a:r>
            <a:r>
              <a:rPr kumimoji="1" lang="zh-CN" altLang="en-US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(</a:t>
            </a:r>
            <a:r>
              <a:rPr kumimoji="1" lang="en-US" altLang="zh-CN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u)Q(</a:t>
            </a:r>
            <a:r>
              <a:rPr kumimoji="1" lang="en-US" altLang="zh-CN" sz="3200" kern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x,y,u</a:t>
            </a:r>
            <a:r>
              <a:rPr kumimoji="1" lang="en-US" altLang="zh-CN" sz="3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))</a:t>
            </a:r>
            <a:endParaRPr kumimoji="1" lang="zh-CN" altLang="en-US" sz="3200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	      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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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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y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)((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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z)(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┐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P(</a:t>
            </a:r>
            <a:r>
              <a:rPr lang="en-US" altLang="zh-CN" sz="32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x,z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)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∨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┐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P(</a:t>
            </a:r>
            <a:r>
              <a:rPr lang="en-US" altLang="zh-CN" sz="32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y,z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))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∨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(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u)Q(</a:t>
            </a:r>
            <a:r>
              <a:rPr kumimoji="1" lang="en-US" altLang="zh-CN" sz="32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x,y,u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))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	      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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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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y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)(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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z)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(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u)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(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┐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P(</a:t>
            </a:r>
            <a:r>
              <a:rPr lang="en-US" altLang="zh-CN" sz="32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x,z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)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∨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┐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P(</a:t>
            </a:r>
            <a:r>
              <a:rPr lang="en-US" altLang="zh-CN" sz="32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y,z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)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∨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Q(</a:t>
            </a:r>
            <a:r>
              <a:rPr kumimoji="1" lang="en-US" altLang="zh-CN" sz="32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x,y,u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))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814917" y="1124744"/>
            <a:ext cx="6239933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665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证法</a:t>
            </a:r>
            <a:r>
              <a:rPr lang="en-US" altLang="zh-CN" sz="2665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：用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CP</a:t>
            </a:r>
            <a:r>
              <a:rPr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规则</a:t>
            </a:r>
            <a:endParaRPr lang="zh-CN" altLang="en-US" sz="2665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814917" y="556223"/>
            <a:ext cx="822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66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证明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x)(P(x)</a:t>
            </a:r>
            <a:r>
              <a:rPr kumimoji="1"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∨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Q(x))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┐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x)P(x)</a:t>
            </a:r>
            <a:r>
              <a:rPr kumimoji="1"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)Q(x)</a:t>
            </a:r>
            <a:endParaRPr lang="zh-CN" altLang="en-US" sz="2665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2379133" y="1686967"/>
            <a:ext cx="822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1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┐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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x)P(x)</a:t>
            </a:r>
            <a:r>
              <a:rPr kumimoji="1"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                              </a:t>
            </a:r>
            <a:r>
              <a:rPr kumimoji="1"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P（</a:t>
            </a:r>
            <a:r>
              <a:rPr kumimoji="1"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附加前提）</a:t>
            </a:r>
            <a:endParaRPr lang="zh-CN" altLang="en-US" sz="2665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2379133" y="2284808"/>
            <a:ext cx="822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2</a:t>
            </a:r>
            <a:r>
              <a:rPr lang="en-US" altLang="zh-CN"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 (</a:t>
            </a:r>
            <a:r>
              <a:rPr kumimoji="1" lang="zh-CN" altLang="en-US"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</a:t>
            </a:r>
            <a:r>
              <a:rPr lang="en-US" altLang="zh-CN"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x)</a:t>
            </a:r>
            <a:r>
              <a:rPr lang="zh-CN" altLang="en-US"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┐</a:t>
            </a:r>
            <a:r>
              <a:rPr lang="en-US" altLang="zh-CN"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P(x)</a:t>
            </a:r>
            <a:r>
              <a:rPr kumimoji="1" lang="zh-CN" altLang="en-US"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                              </a:t>
            </a:r>
            <a:r>
              <a:rPr kumimoji="1" lang="en-US" altLang="zh-CN"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T（</a:t>
            </a:r>
            <a:r>
              <a:rPr kumimoji="1" lang="zh-CN" altLang="en-US"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1）</a:t>
            </a:r>
            <a:r>
              <a:rPr kumimoji="1" lang="en-US" altLang="zh-CN"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E</a:t>
            </a:r>
            <a:endParaRPr kumimoji="1" lang="en-US" altLang="zh-CN" sz="266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2379133" y="2882649"/>
            <a:ext cx="822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3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  </a:t>
            </a:r>
            <a:r>
              <a:rPr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┐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P(c)</a:t>
            </a:r>
            <a:r>
              <a:rPr kumimoji="1"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                                    </a:t>
            </a:r>
            <a:r>
              <a:rPr kumimoji="1"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ES(2)</a:t>
            </a:r>
            <a:endParaRPr kumimoji="1" lang="en-US" altLang="zh-CN" sz="2665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16" name="Text Box 23"/>
          <p:cNvSpPr txBox="1">
            <a:spLocks noChangeArrowheads="1"/>
          </p:cNvSpPr>
          <p:nvPr/>
        </p:nvSpPr>
        <p:spPr bwMode="auto">
          <a:xfrm>
            <a:off x="2379133" y="3480491"/>
            <a:ext cx="822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(4) (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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x)(P(x)</a:t>
            </a:r>
            <a:r>
              <a:rPr kumimoji="1"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∨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Q(x))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                    P</a:t>
            </a:r>
            <a:endParaRPr lang="zh-CN" altLang="en-US" sz="2665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2379133" y="4078332"/>
            <a:ext cx="822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(5) P(c)</a:t>
            </a:r>
            <a:r>
              <a:rPr kumimoji="1"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∨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Q(c)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                             US(4)</a:t>
            </a:r>
            <a:endParaRPr lang="zh-CN" altLang="en-US" sz="2665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2379133" y="4676173"/>
            <a:ext cx="822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(6) Q(c)</a:t>
            </a:r>
            <a:r>
              <a:rPr lang="en-US" altLang="zh-CN"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                                      T(3)(5)I</a:t>
            </a:r>
            <a:endParaRPr lang="zh-CN" altLang="en-US" sz="266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2379133" y="5274015"/>
            <a:ext cx="822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7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 (</a:t>
            </a:r>
            <a:r>
              <a:rPr kumimoji="1"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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x)Q(x)</a:t>
            </a:r>
            <a:r>
              <a:rPr kumimoji="1"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                              </a:t>
            </a:r>
            <a:r>
              <a:rPr kumimoji="1"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EG(6)</a:t>
            </a:r>
            <a:endParaRPr kumimoji="1" lang="en-US" altLang="zh-CN" sz="2665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20" name="Text Box 27"/>
          <p:cNvSpPr txBox="1">
            <a:spLocks noChangeArrowheads="1"/>
          </p:cNvSpPr>
          <p:nvPr/>
        </p:nvSpPr>
        <p:spPr bwMode="auto">
          <a:xfrm>
            <a:off x="2379133" y="5871851"/>
            <a:ext cx="822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8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┐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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x)P(x)</a:t>
            </a:r>
            <a:r>
              <a:rPr kumimoji="1"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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kumimoji="1" lang="zh-CN" altLang="en-US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</a:t>
            </a:r>
            <a:r>
              <a:rPr kumimoji="1"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x</a:t>
            </a:r>
            <a:r>
              <a:rPr lang="en-US" altLang="zh-CN" sz="26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)Q(x)              CP</a:t>
            </a:r>
            <a:endParaRPr lang="zh-CN" altLang="en-US" sz="2665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NjE4NzgxYTkxOTk2ZDlkY2E1ZTExYTk4YzNiMzFjZW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3405</Words>
  <Application>WPS 演示</Application>
  <PresentationFormat>宽屏</PresentationFormat>
  <Paragraphs>393</Paragraphs>
  <Slides>15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Wingdings</vt:lpstr>
      <vt:lpstr>微软雅黑</vt:lpstr>
      <vt:lpstr>Symbol</vt:lpstr>
      <vt:lpstr>Times New Roman</vt:lpstr>
      <vt:lpstr>黑体</vt:lpstr>
      <vt:lpstr>Calibri Light</vt:lpstr>
      <vt:lpstr>Gulim</vt:lpstr>
      <vt:lpstr>Tahoma</vt:lpstr>
      <vt:lpstr>Arial Unicode MS</vt:lpstr>
      <vt:lpstr>Calibri</vt:lpstr>
      <vt:lpstr>Malgun Gothic</vt:lpstr>
      <vt:lpstr>Wingdings 2</vt:lpstr>
      <vt:lpstr>WPS</vt:lpstr>
      <vt:lpstr>PowerPoint 演示文稿</vt:lpstr>
      <vt:lpstr>1-4 真值表与等价公式</vt:lpstr>
      <vt:lpstr>1-5 重言式与蕴含式</vt:lpstr>
      <vt:lpstr>1-6  其他联结词</vt:lpstr>
      <vt:lpstr>1-7  对偶与范式</vt:lpstr>
      <vt:lpstr>1-7  对偶与范式</vt:lpstr>
      <vt:lpstr>1-8  推理理论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Dr.Water</cp:lastModifiedBy>
  <cp:revision>160</cp:revision>
  <dcterms:created xsi:type="dcterms:W3CDTF">2019-06-19T02:08:00Z</dcterms:created>
  <dcterms:modified xsi:type="dcterms:W3CDTF">2025-03-16T00:55:40Z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995E8DC50471478EAAA55B088FDE4952_11</vt:lpwstr>
  </property>
</Properties>
</file>