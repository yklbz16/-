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88" r:id="rId3"/>
    <p:sldId id="276" r:id="rId4"/>
    <p:sldId id="277" r:id="rId5"/>
    <p:sldId id="279" r:id="rId6"/>
    <p:sldId id="281" r:id="rId7"/>
    <p:sldId id="257" r:id="rId8"/>
    <p:sldId id="282" r:id="rId9"/>
    <p:sldId id="283" r:id="rId11"/>
    <p:sldId id="284" r:id="rId12"/>
    <p:sldId id="285" r:id="rId13"/>
    <p:sldId id="286" r:id="rId14"/>
    <p:sldId id="294" r:id="rId15"/>
    <p:sldId id="295" r:id="rId16"/>
    <p:sldId id="296" r:id="rId17"/>
    <p:sldId id="297" r:id="rId18"/>
    <p:sldId id="298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64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492BCC5-2308-4CAB-A066-EC68C694BE7D}" type="slidenum">
              <a:rPr lang="ko-KR" altLang="en-US" smtClean="0">
                <a:latin typeface="Arial" panose="020B0604020202020204" pitchFamily="34" charset="0"/>
              </a:rPr>
            </a:fld>
            <a:endParaRPr lang="ko-KR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F7721DA-F511-4681-8953-CA5EF6976B33}" type="slidenum">
              <a:rPr lang="ko-KR" altLang="en-US" smtClean="0">
                <a:latin typeface="Arial" panose="020B0604020202020204" pitchFamily="34" charset="0"/>
              </a:rPr>
            </a:fld>
            <a:endParaRPr lang="ko-KR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F17CD18-09B7-4474-91F8-9323506D8031}" type="slidenum">
              <a:rPr lang="ko-KR" altLang="en-US" smtClean="0">
                <a:latin typeface="Arial" panose="020B0604020202020204" pitchFamily="34" charset="0"/>
              </a:rPr>
            </a:fld>
            <a:endParaRPr lang="ko-KR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5E56837-FC21-428A-A701-6D231B0571DA}" type="slidenum">
              <a:rPr lang="ko-KR" altLang="en-US" smtClean="0">
                <a:latin typeface="Arial" panose="020B0604020202020204" pitchFamily="34" charset="0"/>
              </a:rPr>
            </a:fld>
            <a:endParaRPr lang="ko-KR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C04C69D-CA46-4EB3-B1B4-7FD413E51FED}" type="slidenum">
              <a:rPr lang="ko-KR" altLang="en-US" smtClean="0">
                <a:latin typeface="Arial" panose="020B0604020202020204" pitchFamily="34" charset="0"/>
              </a:rPr>
            </a:fld>
            <a:endParaRPr lang="ko-KR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500FB2E-4500-48E8-979D-BB8FD726A822}" type="slidenum">
              <a:rPr lang="ko-KR" altLang="en-US" smtClean="0">
                <a:latin typeface="Arial" panose="020B0604020202020204" pitchFamily="34" charset="0"/>
              </a:rPr>
            </a:fld>
            <a:endParaRPr lang="ko-KR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9500017-E414-47A7-A96D-9B684EEEFFFD}" type="slidenum">
              <a:rPr lang="ko-KR" altLang="en-US" smtClean="0">
                <a:latin typeface="Arial" panose="020B0604020202020204" pitchFamily="34" charset="0"/>
              </a:rPr>
            </a:fld>
            <a:endParaRPr lang="ko-KR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EAC6DC5-00E2-47CC-9B40-078FAF72D3D5}" type="slidenum">
              <a:rPr lang="ko-KR" altLang="en-US" smtClean="0">
                <a:latin typeface="Arial" panose="020B0604020202020204" pitchFamily="34" charset="0"/>
              </a:rPr>
            </a:fld>
            <a:endParaRPr lang="ko-KR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E46C665-662E-48BE-9392-19878FA94A09}" type="slidenum">
              <a:rPr lang="ko-KR" altLang="en-US" smtClean="0">
                <a:latin typeface="Arial" panose="020B0604020202020204" pitchFamily="34" charset="0"/>
              </a:rPr>
            </a:fld>
            <a:endParaRPr lang="ko-KR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5D91450-2217-4136-ABFC-D4F3BADE976E}" type="slidenum">
              <a:rPr lang="ko-KR" altLang="en-US" smtClean="0">
                <a:latin typeface="Arial" panose="020B0604020202020204" pitchFamily="34" charset="0"/>
              </a:rPr>
            </a:fld>
            <a:endParaRPr lang="ko-KR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27305"/>
            <a:ext cx="12191365" cy="6830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1" indent="0">
              <a:spcBef>
                <a:spcPts val="12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A={1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，写出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的幂集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Euclid Symbol" pitchFamily="18" charset="2"/>
              </a:rPr>
              <a:t>P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(A)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0">
              <a:spcBef>
                <a:spcPts val="12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若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A={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b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，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B={1, 2, 3}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，求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B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A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A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，以及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B)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∩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(B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marL="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、</a:t>
            </a:r>
            <a:r>
              <a:rPr lang="en-US" altLang="zh-CN" sz="2400" b="1" dirty="0">
                <a:solidFill>
                  <a:srgbClr val="7FD13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A={1,2,3,4}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，写出集合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上大于关系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en-US" altLang="zh-CN" sz="2400" b="1" baseline="-25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的关系矩阵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+mn-ea"/>
                <a:sym typeface="+mn-ea"/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给定集合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A={1,2,3,4,5}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上定义两个关系。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R={&lt;1,2&gt;,&lt;2,2&gt;,&lt;3,4&gt;}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S={&lt;1,3&gt;,&lt;2,5&gt;,&lt;3,1&gt;,&lt;4,2&gt;}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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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的矩阵。</a:t>
            </a:r>
            <a:endParaRPr lang="zh-CN" altLang="en-US" sz="2400" b="1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+mn-ea"/>
                <a:sym typeface="+mn-ea"/>
              </a:rPr>
              <a:t>5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、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设集合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X={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x,y,z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上的关系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R={&lt;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x,x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&gt;,&lt;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&gt;,&lt;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y,z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&gt;}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，求其自反、对称、传递闭包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+mn-ea"/>
                <a:sym typeface="+mn-ea"/>
              </a:rPr>
              <a:t>6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X={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a,b,c,d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}，R={&lt;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a,b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&gt;,&lt;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b,a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&gt;,&lt;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b,c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&gt;,&lt;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c,d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&gt;,&lt;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d,b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&gt;}，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Warshall算法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t(R)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设集合T={1,2,3,4}</a:t>
            </a:r>
            <a:r>
              <a:rPr 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R={&lt;1,1&gt;,&lt;1,4&gt;,&lt;4,1&gt;,&lt;4,4&gt;,&lt;2,2&gt;,&lt;2,3&gt;</a:t>
            </a:r>
            <a:r>
              <a:rPr 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&lt;3,2&gt;,&lt;3,3&gt;}。验证R是T上的等价关系。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是整数集，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R={&lt;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a,b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&gt;|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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mod</a:t>
            </a:r>
            <a:r>
              <a:rPr lang="en-US" altLang="zh-CN" sz="2400" b="1" i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),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a,b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I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，证明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是等价关系。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9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、给出相容关系R如右图所示，求出最大相容类。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10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、给定集合X={x1,x2,x3,x4,x5,x6} ，R是X上的相容关系且MR简化矩阵如右下图，试求出X的完全覆盖，并画出简化的相容关系图。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0">
              <a:spcBef>
                <a:spcPts val="12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0">
              <a:spcBef>
                <a:spcPts val="12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245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195" y="476250"/>
            <a:ext cx="2081530" cy="1311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195" y="4306570"/>
            <a:ext cx="1859915" cy="15957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814917" y="1962151"/>
            <a:ext cx="10465443" cy="190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ctr">
              <a:lnSpc>
                <a:spcPct val="150000"/>
              </a:lnSpc>
              <a:spcBef>
                <a:spcPts val="600"/>
              </a:spcBef>
              <a:buClr>
                <a:srgbClr val="0BD0D9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例：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A={1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，写出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的幂集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Euclid Symbol" pitchFamily="18" charset="2"/>
              </a:rPr>
              <a:t>P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(A)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fontAlgn="ctr">
              <a:lnSpc>
                <a:spcPct val="150000"/>
              </a:lnSpc>
              <a:spcBef>
                <a:spcPts val="600"/>
              </a:spcBef>
              <a:buClr>
                <a:srgbClr val="0BD0D9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解：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Euclid Symbol" pitchFamily="18" charset="2"/>
              </a:rPr>
              <a:t>P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(A)={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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{1}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{2}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{3}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3}}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fontAlgn="ctr">
              <a:lnSpc>
                <a:spcPct val="150000"/>
              </a:lnSpc>
              <a:spcBef>
                <a:spcPts val="600"/>
              </a:spcBef>
              <a:buClr>
                <a:srgbClr val="0BD0D9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定理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如果有限集合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有个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元素，则其幂集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P (A)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有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400" b="1" baseline="30000" dirty="0"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个元素。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320800" y="1167845"/>
            <a:ext cx="9575533" cy="3969385"/>
          </a:xfrm>
          <a:prstGeom prst="rect">
            <a:avLst/>
          </a:prstGeom>
          <a:ln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例题</a:t>
            </a: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1: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若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A={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b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，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B={1, 2, 3}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，求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B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A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A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，以及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B)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∩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(B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。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解：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B={&lt;a,1&gt;,&lt;a,2&gt;,&lt;a,3&gt;,&lt;b,1&gt;,&lt;b,2&gt;,&lt;b,3&gt;}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A={&lt;1,a&gt;,&lt;1,b&gt;,&lt;2,a&gt;,&lt;2,b&gt;,&lt;3,a&gt;,&lt;3,b&gt;}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defRPr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A={&lt;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a,a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&gt;,&lt;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a,b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&gt;,&lt;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b,a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&gt;,&lt;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b,b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&gt;}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defRPr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B)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∩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(B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) =Ø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defRPr/>
            </a:pPr>
            <a:endParaRPr lang="zh-CN" altLang="en-US" sz="2400" b="1" dirty="0">
              <a:solidFill>
                <a:srgbClr val="0A841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828771" y="1966384"/>
            <a:ext cx="10067561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ctr"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例题：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X={1,2,3,4}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上的大于关系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及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dom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R</a:t>
            </a:r>
            <a:r>
              <a:rPr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&gt;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ran R</a:t>
            </a:r>
            <a:r>
              <a:rPr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&gt;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9" name="Text Box 6"/>
          <p:cNvSpPr txBox="1">
            <a:spLocks noChangeArrowheads="1"/>
          </p:cNvSpPr>
          <p:nvPr/>
        </p:nvSpPr>
        <p:spPr bwMode="auto">
          <a:xfrm>
            <a:off x="911640" y="2707217"/>
            <a:ext cx="9984693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解：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R</a:t>
            </a:r>
            <a:r>
              <a:rPr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={&lt;2,1&gt;,&lt;3,1&gt;,&lt;4,1&gt;,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&lt;3,2&gt;,&lt;4,2&gt;,&lt;4,3&gt;}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fontAlgn="ctr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dom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R</a:t>
            </a:r>
            <a:r>
              <a:rPr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={2,3,4}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fontAlgn="ctr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ran R</a:t>
            </a:r>
            <a:r>
              <a:rPr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={1,2,3}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1640" y="1604873"/>
            <a:ext cx="10368720" cy="1939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665" b="1" dirty="0">
                <a:solidFill>
                  <a:srgbClr val="7FD13B"/>
                </a:solidFill>
                <a:latin typeface="微软雅黑" panose="020B0503020204020204" charset="-122"/>
                <a:ea typeface="微软雅黑" panose="020B0503020204020204" charset="-122"/>
              </a:rPr>
              <a:t>例题</a:t>
            </a:r>
            <a:r>
              <a:rPr lang="en-US" altLang="zh-CN" sz="2665" b="1" dirty="0">
                <a:solidFill>
                  <a:srgbClr val="7FD13B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设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A={1,2,3,4}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，写出集合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上大于关系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en-US" altLang="zh-CN" sz="2665" b="1" baseline="-25000" dirty="0"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的关系矩阵。</a:t>
            </a:r>
            <a:endParaRPr lang="en-US" altLang="zh-CN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665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解：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 R</a:t>
            </a:r>
            <a:r>
              <a:rPr lang="en-US" altLang="zh-CN" sz="2665" b="1" baseline="-25000" dirty="0"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={&lt;2,1&gt;,&lt;3,1&gt;,&lt;3,2&gt;,&lt;4,1&gt;,&lt;4,2&gt;,&lt;4,3&gt;}</a:t>
            </a:r>
            <a:endParaRPr lang="en-US" altLang="zh-CN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故：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764367" y="3429000"/>
          <a:ext cx="3627967" cy="2266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Equation" r:id="rId1" imgW="31699200" imgH="21945600" progId="Equation.DSMT4">
                  <p:embed/>
                </p:oleObj>
              </mc:Choice>
              <mc:Fallback>
                <p:oleObj name="Equation" r:id="rId1" imgW="31699200" imgH="21945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4367" y="3429000"/>
                        <a:ext cx="3627967" cy="2266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/>
          <p:cNvSpPr txBox="1">
            <a:spLocks noChangeArrowheads="1"/>
          </p:cNvSpPr>
          <p:nvPr/>
        </p:nvSpPr>
        <p:spPr>
          <a:xfrm>
            <a:off x="1625600" y="381000"/>
            <a:ext cx="88392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</a:rPr>
              <a:t>3-5 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关系及其表示</a:t>
            </a:r>
            <a:endParaRPr lang="en-US" altLang="ko-KR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195" y="448310"/>
            <a:ext cx="10890250" cy="5847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719667" y="1604433"/>
            <a:ext cx="10972800" cy="4320117"/>
          </a:xfrm>
        </p:spPr>
        <p:txBody>
          <a:bodyPr>
            <a:normAutofit lnSpcReduction="10000"/>
          </a:bodyPr>
          <a:lstStyle/>
          <a:p>
            <a:pPr marL="0" indent="0" eaLnBrk="1" fontAlgn="ctr" hangingPunct="1">
              <a:lnSpc>
                <a:spcPct val="14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例：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设集合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X={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x,y,z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上的关系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R={&lt;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x,x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&gt;,&lt;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x,y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&gt;,&lt;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y,z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&gt;}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lang="en-US" altLang="zh-CN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fontAlgn="ctr" hangingPunct="1">
              <a:lnSpc>
                <a:spcPct val="14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则自反闭包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fontAlgn="ctr" hangingPunct="1">
              <a:lnSpc>
                <a:spcPct val="14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   r(R)={&lt;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x,x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&gt;,&lt;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x,y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&gt;,&lt;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y,z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&gt;,</a:t>
            </a:r>
            <a:r>
              <a:rPr lang="en-US" altLang="zh-CN" sz="2400" dirty="0">
                <a:solidFill>
                  <a:srgbClr val="5FA326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2400" dirty="0" err="1">
                <a:solidFill>
                  <a:srgbClr val="5FA326"/>
                </a:solidFill>
                <a:latin typeface="微软雅黑" panose="020B0503020204020204" charset="-122"/>
                <a:ea typeface="微软雅黑" panose="020B0503020204020204" charset="-122"/>
              </a:rPr>
              <a:t>y,y</a:t>
            </a:r>
            <a:r>
              <a:rPr lang="en-US" altLang="zh-CN" sz="2400" dirty="0">
                <a:solidFill>
                  <a:srgbClr val="5FA326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en-US" altLang="zh-CN" sz="2400" dirty="0">
                <a:solidFill>
                  <a:srgbClr val="5FA326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z,z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fontAlgn="ctr" hangingPunct="1">
              <a:lnSpc>
                <a:spcPct val="14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对称闭包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fontAlgn="ctr" hangingPunct="1">
              <a:lnSpc>
                <a:spcPct val="14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   s(R)={&lt;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x,x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&gt;,&lt;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x,y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&gt;,&lt;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y,z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&gt;,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y,x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z,y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fontAlgn="ctr" hangingPunct="1">
              <a:lnSpc>
                <a:spcPct val="14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  传递闭包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fontAlgn="ctr" hangingPunct="1">
              <a:lnSpc>
                <a:spcPct val="14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      t(R)={&lt;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x,x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&gt;,&lt;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x,y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&gt;,&lt;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y,z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&gt;,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x,z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3-8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关系的闭包运算</a:t>
            </a:r>
            <a:endParaRPr lang="en-US" altLang="ko-KR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4" name="AutoShape 2"/>
          <p:cNvSpPr>
            <a:spLocks noChangeArrowheads="1"/>
          </p:cNvSpPr>
          <p:nvPr/>
        </p:nvSpPr>
        <p:spPr bwMode="auto">
          <a:xfrm>
            <a:off x="720097" y="1390487"/>
            <a:ext cx="2207683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6C0A38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Warshall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102784" y="1796887"/>
            <a:ext cx="10177576" cy="4512313"/>
          </a:xfrm>
        </p:spPr>
        <p:txBody>
          <a:bodyPr/>
          <a:lstStyle/>
          <a:p>
            <a:pPr marL="0" indent="0" eaLnBrk="1" fontAlgn="ctr" hangingPunct="1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是ｎ个元素集合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上的二元关系，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00355" lvl="1" indent="0" eaLnBrk="1" fontAlgn="ctr" hangingPunct="1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(1)A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的关系矩阵；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00355" lvl="1" indent="0" eaLnBrk="1" fontAlgn="ctr" hangingPunct="1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(2)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置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=1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00355" lvl="1" indent="0" eaLnBrk="1" fontAlgn="ctr" hangingPunct="1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(3)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对所有ｊ，如果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baseline="-30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ji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=1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，则对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k=1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…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00355" lvl="1" indent="0" eaLnBrk="1" fontAlgn="ctr" hangingPunct="1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baseline="-30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jk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baseline="-30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jk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+a</a:t>
            </a:r>
            <a:r>
              <a:rPr lang="en-US" altLang="zh-CN" sz="2400" b="1" baseline="-30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ik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（第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行与第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行逻辑相加，记于第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行）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00355" lvl="1" indent="0" eaLnBrk="1" fontAlgn="ctr" hangingPunct="1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(4)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=i+1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00355" lvl="1" indent="0" eaLnBrk="1" fontAlgn="ctr" hangingPunct="1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(5)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如果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i≤n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，则转到步骤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(3)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，否则停止。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3-8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关系的闭包运算</a:t>
            </a:r>
            <a:endParaRPr lang="en-US" altLang="ko-KR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89" name="Rectangle 3"/>
          <p:cNvSpPr txBox="1">
            <a:spLocks noChangeArrowheads="1"/>
          </p:cNvSpPr>
          <p:nvPr/>
        </p:nvSpPr>
        <p:spPr bwMode="auto">
          <a:xfrm>
            <a:off x="1102785" y="2067984"/>
            <a:ext cx="1017481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BD0D9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例：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设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X={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a,b,c,d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}，R={&lt;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a,b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&gt;,&lt;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b,a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&gt;,&lt;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b,c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&gt;,&lt;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c,d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&gt;,&lt;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d,b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&gt;}，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t(R)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1856317" y="2829984"/>
          <a:ext cx="3551767" cy="2302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0" name="Equation" r:id="rId1" imgW="30480000" imgH="21945600" progId="Equation.DSMT4">
                  <p:embed/>
                </p:oleObj>
              </mc:Choice>
              <mc:Fallback>
                <p:oleObj name="Equation" r:id="rId1" imgW="30480000" imgH="21945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317" y="2829984"/>
                        <a:ext cx="3551767" cy="23029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/>
          <p:nvPr/>
        </p:nvGraphicFramePr>
        <p:xfrm>
          <a:off x="6373284" y="2828917"/>
          <a:ext cx="3552000" cy="23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1" name="Equation" r:id="rId3" imgW="30480000" imgH="21945600" progId="Equation.DSMT4">
                  <p:embed/>
                </p:oleObj>
              </mc:Choice>
              <mc:Fallback>
                <p:oleObj name="Equation" r:id="rId3" imgW="30480000" imgH="21945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284" y="2828917"/>
                        <a:ext cx="3552000" cy="230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102784" y="5486400"/>
            <a:ext cx="10174816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分析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i＝1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时，第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列只有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A[2,1]=1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，所以把第1行加到第2行上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2"/>
          <p:cNvSpPr>
            <a:spLocks noChangeArrowheads="1"/>
          </p:cNvSpPr>
          <p:nvPr/>
        </p:nvSpPr>
        <p:spPr bwMode="auto">
          <a:xfrm>
            <a:off x="720096" y="1390487"/>
            <a:ext cx="3071743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6C0A38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Warshall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算法举例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3-8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关系的闭包运算</a:t>
            </a:r>
            <a:endParaRPr lang="en-US" altLang="ko-KR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4" name="Object 3"/>
          <p:cNvGraphicFramePr/>
          <p:nvPr/>
        </p:nvGraphicFramePr>
        <p:xfrm>
          <a:off x="4847913" y="1598564"/>
          <a:ext cx="2798400" cy="1835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4" name="Equation" r:id="rId1" imgW="30480000" imgH="21945600" progId="Equation.DSMT4">
                  <p:embed/>
                </p:oleObj>
              </mc:Choice>
              <mc:Fallback>
                <p:oleObj name="Equation" r:id="rId1" imgW="30480000" imgH="21945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7913" y="1598564"/>
                        <a:ext cx="2798400" cy="18351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/>
          <p:nvPr/>
        </p:nvGraphicFramePr>
        <p:xfrm>
          <a:off x="8208147" y="3511549"/>
          <a:ext cx="2798400" cy="1833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name="Equation" r:id="rId3" imgW="27736800" imgH="21945600" progId="Equation.DSMT4">
                  <p:embed/>
                </p:oleObj>
              </mc:Choice>
              <mc:Fallback>
                <p:oleObj name="Equation" r:id="rId3" imgW="27736800" imgH="21945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8147" y="3511549"/>
                        <a:ext cx="2798400" cy="18330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911639" y="3812116"/>
            <a:ext cx="662446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i＝2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时，第2列中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A[1,2]＝ A[2,2]＝A[4,2]＝1，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将第2行分别加到第1,2,4行上。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720096" y="1390487"/>
            <a:ext cx="3071743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6C0A38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Warshall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算法举例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/>
          <p:nvPr/>
        </p:nvGraphicFramePr>
        <p:xfrm>
          <a:off x="4559893" y="1359295"/>
          <a:ext cx="2774949" cy="1858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6" name="Equation" r:id="rId1" imgW="30480000" imgH="21945600" progId="Equation.DSMT4">
                  <p:embed/>
                </p:oleObj>
              </mc:Choice>
              <mc:Fallback>
                <p:oleObj name="Equation" r:id="rId1" imgW="30480000" imgH="21945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893" y="1359295"/>
                        <a:ext cx="2774949" cy="1858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/>
          <p:cNvGraphicFramePr/>
          <p:nvPr/>
        </p:nvGraphicFramePr>
        <p:xfrm>
          <a:off x="7990417" y="2802467"/>
          <a:ext cx="2784000" cy="18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7" name="Equation" r:id="rId3" imgW="29870400" imgH="21945600" progId="Equation.DSMT4">
                  <p:embed/>
                </p:oleObj>
              </mc:Choice>
              <mc:Fallback>
                <p:oleObj name="Equation" r:id="rId3" imgW="29870400" imgH="21945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0417" y="2802467"/>
                        <a:ext cx="2784000" cy="18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/>
          <p:nvPr/>
        </p:nvGraphicFramePr>
        <p:xfrm>
          <a:off x="7990417" y="4675717"/>
          <a:ext cx="2784000" cy="1824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8" name="Equation" r:id="rId5" imgW="27736800" imgH="21945600" progId="Equation.DSMT4">
                  <p:embed/>
                </p:oleObj>
              </mc:Choice>
              <mc:Fallback>
                <p:oleObj name="Equation" r:id="rId5" imgW="27736800" imgH="21945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0417" y="4675717"/>
                        <a:ext cx="2784000" cy="18245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917281" y="3332993"/>
            <a:ext cx="6618817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i＝3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时，第3列中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A[1,3]＝A[2,3]＝A[4,3]＝1，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将第3行分别加到第1,2,4行上。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917283" y="4869100"/>
            <a:ext cx="6618817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i＝4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时，第4列中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A[1,4]＝ A[2,4]＝A[3,4]＝A[4,4]＝1，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将第4行分别加到第1,2,3,4行上。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title"/>
          </p:nvPr>
        </p:nvSpPr>
        <p:spPr>
          <a:xfrm>
            <a:off x="1625600" y="381000"/>
            <a:ext cx="8839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3-8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关系的闭包运算</a:t>
            </a:r>
            <a:endParaRPr lang="en-US" altLang="ko-KR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2"/>
          <p:cNvSpPr>
            <a:spLocks noChangeArrowheads="1"/>
          </p:cNvSpPr>
          <p:nvPr/>
        </p:nvSpPr>
        <p:spPr bwMode="auto">
          <a:xfrm>
            <a:off x="720096" y="1390487"/>
            <a:ext cx="3071743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6C0A38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Warshall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算法举例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3-10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等价关系和等价类</a:t>
            </a:r>
            <a:endParaRPr lang="en-US" altLang="ko-KR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719627" y="1221317"/>
            <a:ext cx="11057507" cy="1439333"/>
          </a:xfrm>
        </p:spPr>
        <p:txBody>
          <a:bodyPr>
            <a:noAutofit/>
          </a:bodyPr>
          <a:lstStyle/>
          <a:p>
            <a:pPr marL="0" indent="0" fontAlgn="ctr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 2" panose="05020102010507070707" pitchFamily="18" charset="2"/>
              <a:buNone/>
              <a:defRPr/>
            </a:pPr>
            <a:r>
              <a:rPr lang="zh-CN" altLang="en-US" sz="2400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例题</a:t>
            </a:r>
            <a:r>
              <a:rPr lang="en-US" altLang="zh-CN" sz="2400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设集合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T={1,2,3,4}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R={&lt;1,1&gt;,&lt;1,4&gt;,&lt;4,1&gt;,&lt;4,4&gt;,&lt;2,2&gt;,&lt;2,3&gt;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&lt;3,2&gt;,&lt;3,3&gt;}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。验证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上的等价关系。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200151" y="4643967"/>
            <a:ext cx="10079567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    每个结点都有自回路，说明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是自反的。任意两个结点间或没有弧线连接，或有成对弧出现，故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是对称的。从序偶表示式中，可以看出，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是传递的。故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上的等价关系。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135169" y="2968414"/>
            <a:ext cx="283400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解：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画出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的关系图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60" y="2677565"/>
            <a:ext cx="1739900" cy="1926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3-10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等价关系和等价类</a:t>
            </a:r>
            <a:endParaRPr lang="en-US" altLang="ko-KR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719627" y="1221317"/>
            <a:ext cx="10656740" cy="863600"/>
          </a:xfrm>
        </p:spPr>
        <p:txBody>
          <a:bodyPr>
            <a:noAutofit/>
          </a:bodyPr>
          <a:lstStyle/>
          <a:p>
            <a:pPr marL="0" indent="0" fontAlgn="ctr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 2" panose="05020102010507070707" pitchFamily="18" charset="2"/>
              <a:buNone/>
              <a:defRPr/>
            </a:pPr>
            <a:r>
              <a:rPr lang="zh-CN" altLang="en-US" sz="2400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例题</a:t>
            </a:r>
            <a:r>
              <a:rPr lang="en-US" altLang="zh-CN" sz="2400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设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是整数集，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R={&lt;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a,b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&gt;|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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mod</a:t>
            </a:r>
            <a:r>
              <a:rPr lang="en-US" altLang="zh-CN" sz="2400" i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),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a,b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I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，证明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是等价关系。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007533" y="2084917"/>
            <a:ext cx="9984317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证明：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设任意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I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(1) 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因为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a-a=0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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，所以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a,a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R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是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自反的。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(2)  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a,b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R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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mod</a:t>
            </a:r>
            <a:r>
              <a:rPr lang="en-US" altLang="zh-CN" sz="2400" b="1" i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a-b=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tk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(t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为整数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，则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b-a=-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tk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，所以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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mod</a:t>
            </a:r>
            <a:r>
              <a:rPr lang="en-US" altLang="zh-CN" sz="2400" b="1" i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b,a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R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是对称的。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(3) 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a,b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R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b,c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R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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mod</a:t>
            </a:r>
            <a:r>
              <a:rPr lang="en-US" altLang="zh-CN" sz="2400" b="1" i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c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mod</a:t>
            </a:r>
            <a:r>
              <a:rPr lang="en-US" altLang="zh-CN" sz="2400" b="1" i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，则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a-b=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tk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b-c=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sk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(t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为整数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a-c=(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t+s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)k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，所以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c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mod</a:t>
            </a:r>
            <a:r>
              <a:rPr lang="en-US" altLang="zh-CN" sz="2400" b="1" i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a,c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R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是传递的。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因此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是等价关系。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3-11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相容关系</a:t>
            </a:r>
            <a:endParaRPr lang="en-US" altLang="ko-KR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4" name="Text Box 6"/>
          <p:cNvSpPr txBox="1">
            <a:spLocks noChangeArrowheads="1"/>
          </p:cNvSpPr>
          <p:nvPr/>
        </p:nvSpPr>
        <p:spPr bwMode="auto">
          <a:xfrm>
            <a:off x="906883" y="1988900"/>
            <a:ext cx="1037347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25" tIns="65312" rIns="130625" bIns="65312">
            <a:spAutoFit/>
          </a:bodyPr>
          <a:lstStyle>
            <a:lvl1pPr defTabSz="979805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9805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9805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9805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9805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980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980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980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980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例：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给出相容关系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如图所示，求出最大相容类。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245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533" y="2468933"/>
            <a:ext cx="4605867" cy="2901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271061" y="5541147"/>
            <a:ext cx="9797937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4572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0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解：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的最大相容类为：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a,b,d,f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},{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c,d,f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},{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d,e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},{g}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2"/>
          <p:cNvSpPr>
            <a:spLocks noChangeArrowheads="1"/>
          </p:cNvSpPr>
          <p:nvPr/>
        </p:nvSpPr>
        <p:spPr bwMode="auto">
          <a:xfrm>
            <a:off x="624416" y="1380067"/>
            <a:ext cx="1823329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6C0A38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eaLnBrk="0" hangingPunct="0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最大相容类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3-11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相容关系</a:t>
            </a:r>
            <a:endParaRPr lang="en-US" altLang="ko-KR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838200" y="1244600"/>
            <a:ext cx="10369551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kumimoji="1" lang="en-US" altLang="zh-CN" sz="2400" b="1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139</a:t>
            </a:r>
            <a:r>
              <a:rPr kumimoji="1" lang="zh-CN" altLang="en-US" sz="2400" b="1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页 </a:t>
            </a:r>
            <a:r>
              <a:rPr kumimoji="1" lang="en-US" altLang="zh-CN" sz="2400" b="1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3-11</a:t>
            </a:r>
            <a:r>
              <a:rPr kumimoji="1" lang="zh-CN" altLang="en-US" sz="2400" b="1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习题</a:t>
            </a:r>
            <a:r>
              <a:rPr kumimoji="1" lang="en-US" altLang="zh-CN" sz="2400" b="1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(2) 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给定集合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X={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x1,x2,x3,x4,x5,x6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} 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上的相容关系且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kumimoji="1"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简化矩阵如下，试求出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的完全覆盖，并画出简化的相容关系图。</a:t>
            </a:r>
            <a:endParaRPr kumimoji="1"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4153" y="3717020"/>
            <a:ext cx="3276191" cy="284444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63073"/>
            <a:ext cx="2768253" cy="237460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606453" y="2483196"/>
            <a:ext cx="6096000" cy="36766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解：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简化关系图如右图所示。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最大相容类为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{x1,x2,x3}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{x1,x3,x6}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{x3,x5,x6}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{x3,x4,x5}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集合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的完全覆盖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sz="2400" b="1" baseline="-30000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(A)={{x1,x2,x3} ,{x1,x3,x6},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   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{x3,x5,x6},{x3,x4,x5}}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4-1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函数的概念</a:t>
            </a:r>
            <a:endParaRPr lang="en-US" altLang="ko-KR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Box 1029"/>
          <p:cNvSpPr txBox="1">
            <a:spLocks noChangeArrowheads="1"/>
          </p:cNvSpPr>
          <p:nvPr/>
        </p:nvSpPr>
        <p:spPr bwMode="auto">
          <a:xfrm>
            <a:off x="1103653" y="1411817"/>
            <a:ext cx="10277664" cy="230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2400" b="1" dirty="0">
                <a:solidFill>
                  <a:srgbClr val="EA157A"/>
                </a:solidFill>
                <a:latin typeface="微软雅黑" panose="020B0503020204020204" charset="-122"/>
                <a:ea typeface="微软雅黑" panose="020B0503020204020204" charset="-122"/>
              </a:rPr>
              <a:t>例：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设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X={1,5,p,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张明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Y={2,q,7,9,G}</a:t>
            </a:r>
            <a:endParaRPr kumimoji="1"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f={&lt;1,2&gt;,&lt;5,q&gt;,&lt;p,7&gt;,&lt;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张明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,G&gt;}</a:t>
            </a:r>
            <a:endParaRPr kumimoji="1"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即：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f(1)=2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f(5)=q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f(p)=7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f(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张明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)=G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故：</a:t>
            </a:r>
            <a:r>
              <a:rPr kumimoji="1"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dom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f=X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ran f={2,q,7,G}</a:t>
            </a:r>
            <a:endParaRPr kumimoji="1"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YWRkOTYxMWU4MDI5MjU0NDNkNGEwMGM5ZjEzOWUyYzk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2657</Words>
  <Application>WPS 演示</Application>
  <PresentationFormat>宽屏</PresentationFormat>
  <Paragraphs>122</Paragraphs>
  <Slides>16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16</vt:i4>
      </vt:variant>
    </vt:vector>
  </HeadingPairs>
  <TitlesOfParts>
    <vt:vector size="39" baseType="lpstr">
      <vt:lpstr>Arial</vt:lpstr>
      <vt:lpstr>宋体</vt:lpstr>
      <vt:lpstr>Wingdings</vt:lpstr>
      <vt:lpstr>Wingdings</vt:lpstr>
      <vt:lpstr>微软雅黑</vt:lpstr>
      <vt:lpstr>Symbol</vt:lpstr>
      <vt:lpstr>Times New Roman</vt:lpstr>
      <vt:lpstr>Euclid Symbol</vt:lpstr>
      <vt:lpstr>Symbol</vt:lpstr>
      <vt:lpstr>黑体</vt:lpstr>
      <vt:lpstr>Wingdings 2</vt:lpstr>
      <vt:lpstr>Verdana</vt:lpstr>
      <vt:lpstr>Arial Unicode MS</vt:lpstr>
      <vt:lpstr>Calibri</vt:lpstr>
      <vt:lpstr>WPS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3-8 关系的闭包运算</vt:lpstr>
      <vt:lpstr>3-8 关系的闭包运算</vt:lpstr>
      <vt:lpstr>3-8 关系的闭包运算</vt:lpstr>
      <vt:lpstr>3-8 关系的闭包运算</vt:lpstr>
      <vt:lpstr>3-10 等价关系和等价类</vt:lpstr>
      <vt:lpstr>3-10 等价关系和等价类</vt:lpstr>
      <vt:lpstr>3-11 相容关系</vt:lpstr>
      <vt:lpstr>3-11 相容关系</vt:lpstr>
      <vt:lpstr>4-1 函数的概念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Dr.Water</cp:lastModifiedBy>
  <cp:revision>161</cp:revision>
  <dcterms:created xsi:type="dcterms:W3CDTF">2019-06-19T02:08:00Z</dcterms:created>
  <dcterms:modified xsi:type="dcterms:W3CDTF">2025-04-24T02:18:43Z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995E8DC50471478EAAA55B088FDE4952_11</vt:lpwstr>
  </property>
</Properties>
</file>