
<file path=[Content_Types].xml><?xml version="1.0" encoding="utf-8"?>
<Types xmlns="http://schemas.openxmlformats.org/package/2006/content-types">
  <Default Extension="png" ContentType="image/png"/>
  <Default Extension="wdp" ContentType="image/vnd.ms-photo"/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7"/>
  </p:notesMasterIdLst>
  <p:sldIdLst>
    <p:sldId id="288" r:id="rId3"/>
    <p:sldId id="329" r:id="rId4"/>
    <p:sldId id="328" r:id="rId5"/>
    <p:sldId id="313" r:id="rId6"/>
    <p:sldId id="314" r:id="rId8"/>
    <p:sldId id="315" r:id="rId9"/>
    <p:sldId id="317" r:id="rId10"/>
    <p:sldId id="318" r:id="rId11"/>
    <p:sldId id="319" r:id="rId12"/>
    <p:sldId id="322" r:id="rId13"/>
    <p:sldId id="324" r:id="rId14"/>
    <p:sldId id="325" r:id="rId15"/>
    <p:sldId id="326" r:id="rId16"/>
    <p:sldId id="327" r:id="rId17"/>
    <p:sldId id="342" r:id="rId18"/>
  </p:sldIdLst>
  <p:sldSz cx="12192000" cy="6858000"/>
  <p:notesSz cx="6858000" cy="9144000"/>
  <p:custDataLst>
    <p:tags r:id="rId22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91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99" d="100"/>
          <a:sy n="99" d="100"/>
        </p:scale>
        <p:origin x="84" y="582"/>
      </p:cViewPr>
      <p:guideLst>
        <p:guide orient="horz" pos="2191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2" Type="http://schemas.openxmlformats.org/officeDocument/2006/relationships/tags" Target="tags/tag64.xml"/><Relationship Id="rId21" Type="http://schemas.openxmlformats.org/officeDocument/2006/relationships/tableStyles" Target="tableStyles.xml"/><Relationship Id="rId20" Type="http://schemas.openxmlformats.org/officeDocument/2006/relationships/viewProps" Target="viewProps.xml"/><Relationship Id="rId2" Type="http://schemas.openxmlformats.org/officeDocument/2006/relationships/theme" Target="theme/theme1.xml"/><Relationship Id="rId19" Type="http://schemas.openxmlformats.org/officeDocument/2006/relationships/presProps" Target="presProps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18435" name="备注占位符 2"/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8436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fld id="{C9F8AED1-86E3-4670-AF9C-FC2ADE4AE322}" type="slidenum">
              <a:rPr lang="ko-KR" altLang="en-US" smtClean="0">
                <a:latin typeface="Arial" panose="020B0604020202020204" pitchFamily="34" charset="0"/>
              </a:rPr>
            </a:fld>
            <a:endParaRPr lang="ko-KR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22531" name="备注占位符 2"/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2532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fld id="{BA03D0AC-883E-4344-B1BF-78E74AE97B36}" type="slidenum">
              <a:rPr lang="ko-KR" altLang="en-US" smtClean="0">
                <a:latin typeface="Arial" panose="020B0604020202020204" pitchFamily="34" charset="0"/>
              </a:rPr>
            </a:fld>
            <a:endParaRPr lang="ko-KR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24579" name="备注占位符 2"/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4580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DA795E3D-C1B7-4B41-91E5-8EC8167180D9}" type="slidenum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Malgun Gothic" panose="020B0503020000020004" charset="-127"/>
                <a:cs typeface="+mn-cs"/>
              </a:rPr>
            </a:fld>
            <a:endParaRPr kumimoji="0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Malgun Gothic" panose="020B0503020000020004" charset="-127"/>
              <a:cs typeface="+mn-cs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25603" name="备注占位符 2"/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5604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A56F9D24-17B3-4AA4-9771-FCD86D30546A}" type="slidenum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Malgun Gothic" panose="020B0503020000020004" charset="-127"/>
                <a:cs typeface="+mn-cs"/>
              </a:rPr>
            </a:fld>
            <a:endParaRPr kumimoji="0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Malgun Gothic" panose="020B0503020000020004" charset="-127"/>
              <a:cs typeface="+mn-cs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53209FE5-AF30-4563-AD91-C22EF02A71D6}" type="slidenum"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74786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37478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4819" name="备注占位符 2"/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4820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3D8B526A-B1EE-42CB-A3F4-F7B94F0C2144}" type="slidenum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Malgun Gothic" panose="020B0503020000020004" charset="-127"/>
                <a:cs typeface="+mn-cs"/>
              </a:rPr>
            </a:fld>
            <a:endParaRPr kumimoji="0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Malgun Gothic" panose="020B0503020000020004" charset="-127"/>
              <a:cs typeface="+mn-cs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E5E99DD1-8E9C-4094-B52F-A6BEF42FD6B8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22242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52224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单击此处编辑文本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tags" Target="../tags/tag62.xml"/><Relationship Id="rId16" Type="http://schemas.openxmlformats.org/officeDocument/2006/relationships/tags" Target="../tags/tag61.xml"/><Relationship Id="rId15" Type="http://schemas.openxmlformats.org/officeDocument/2006/relationships/tags" Target="../tags/tag60.xml"/><Relationship Id="rId14" Type="http://schemas.openxmlformats.org/officeDocument/2006/relationships/tags" Target="../tags/tag59.xml"/><Relationship Id="rId13" Type="http://schemas.openxmlformats.org/officeDocument/2006/relationships/tags" Target="../tags/tag58.xml"/><Relationship Id="rId12" Type="http://schemas.openxmlformats.org/officeDocument/2006/relationships/tags" Target="../tags/tag57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1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1.xml"/><Relationship Id="rId6" Type="http://schemas.openxmlformats.org/officeDocument/2006/relationships/tags" Target="../tags/tag63.xml"/><Relationship Id="rId5" Type="http://schemas.openxmlformats.org/officeDocument/2006/relationships/image" Target="../media/image5.png"/><Relationship Id="rId4" Type="http://schemas.openxmlformats.org/officeDocument/2006/relationships/image" Target="../media/image4.png"/><Relationship Id="rId3" Type="http://schemas.microsoft.com/office/2007/relationships/hdphoto" Target="../media/image3.wdp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9" Type="http://schemas.openxmlformats.org/officeDocument/2006/relationships/image" Target="../media/image15.png"/><Relationship Id="rId8" Type="http://schemas.microsoft.com/office/2007/relationships/hdphoto" Target="../media/image14.wdp"/><Relationship Id="rId7" Type="http://schemas.openxmlformats.org/officeDocument/2006/relationships/image" Target="../media/image13.png"/><Relationship Id="rId6" Type="http://schemas.microsoft.com/office/2007/relationships/hdphoto" Target="../media/image12.wdp"/><Relationship Id="rId5" Type="http://schemas.openxmlformats.org/officeDocument/2006/relationships/image" Target="../media/image11.png"/><Relationship Id="rId4" Type="http://schemas.microsoft.com/office/2007/relationships/hdphoto" Target="../media/image10.wdp"/><Relationship Id="rId3" Type="http://schemas.openxmlformats.org/officeDocument/2006/relationships/image" Target="../media/image9.png"/><Relationship Id="rId2" Type="http://schemas.microsoft.com/office/2007/relationships/hdphoto" Target="../media/image3.wdp"/><Relationship Id="rId12" Type="http://schemas.openxmlformats.org/officeDocument/2006/relationships/notesSlide" Target="../notesSlides/notesSlide5.xml"/><Relationship Id="rId11" Type="http://schemas.openxmlformats.org/officeDocument/2006/relationships/slideLayout" Target="../slideLayouts/slideLayout2.xml"/><Relationship Id="rId10" Type="http://schemas.microsoft.com/office/2007/relationships/hdphoto" Target="../media/image16.wdp"/><Relationship Id="rId1" Type="http://schemas.openxmlformats.org/officeDocument/2006/relationships/image" Target="../media/image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7.jpeg"/></Relationships>
</file>

<file path=ppt/slides/_rels/slide1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7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9.png"/><Relationship Id="rId1" Type="http://schemas.openxmlformats.org/officeDocument/2006/relationships/image" Target="../media/image18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0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1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6720" y="5503545"/>
            <a:ext cx="1533525" cy="735330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85090" y="90805"/>
            <a:ext cx="12191365" cy="541274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eaLnBrk="1" hangingPunct="1">
              <a:spcBef>
                <a:spcPct val="50000"/>
              </a:spcBef>
              <a:buFont typeface="Wingdings" panose="05000000000000000000" pitchFamily="2" charset="2"/>
              <a:buNone/>
            </a:pPr>
            <a:r>
              <a:rPr lang="en-US" sz="20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1</a:t>
            </a:r>
            <a:r>
              <a:rPr lang="zh-CN" altLang="en-US" sz="20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、</a:t>
            </a:r>
            <a:r>
              <a:rPr kumimoji="1" lang="zh-CN" altLang="en-US" sz="2000" b="1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求出图中有向图的邻接矩阵</a:t>
            </a:r>
            <a:r>
              <a:rPr kumimoji="1" lang="en-US" altLang="zh-CN" sz="2000" b="1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A</a:t>
            </a:r>
            <a:r>
              <a:rPr kumimoji="1" lang="zh-CN" altLang="en-US" sz="2000" b="1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，找出从</a:t>
            </a:r>
            <a:r>
              <a:rPr kumimoji="1" lang="en-US" altLang="zh-CN" sz="2000" b="1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v</a:t>
            </a:r>
            <a:r>
              <a:rPr kumimoji="1" lang="en-US" altLang="zh-CN" sz="2000" b="1" baseline="-2500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1</a:t>
            </a:r>
            <a:r>
              <a:rPr kumimoji="1" lang="zh-CN" altLang="en-US" sz="2000" b="1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到</a:t>
            </a:r>
            <a:r>
              <a:rPr kumimoji="1" lang="en-US" altLang="zh-CN" sz="2000" b="1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v</a:t>
            </a:r>
            <a:r>
              <a:rPr kumimoji="1" lang="en-US" altLang="zh-CN" sz="2000" b="1" baseline="-2500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4</a:t>
            </a:r>
            <a:r>
              <a:rPr kumimoji="1" lang="zh-CN" altLang="en-US" sz="2000" b="1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长度为</a:t>
            </a:r>
            <a:r>
              <a:rPr kumimoji="1" lang="en-US" altLang="zh-CN" sz="2000" b="1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2</a:t>
            </a:r>
            <a:r>
              <a:rPr kumimoji="1" lang="zh-CN" altLang="en-US" sz="2000" b="1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和</a:t>
            </a:r>
            <a:r>
              <a:rPr kumimoji="1" lang="en-US" altLang="zh-CN" sz="2000" b="1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4</a:t>
            </a:r>
            <a:r>
              <a:rPr kumimoji="1" lang="zh-CN" altLang="en-US" sz="2000" b="1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的路，计算</a:t>
            </a:r>
            <a:r>
              <a:rPr kumimoji="1" lang="en-US" altLang="zh-CN" sz="2000" b="1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A</a:t>
            </a:r>
            <a:r>
              <a:rPr kumimoji="1" lang="en-US" altLang="zh-CN" sz="2000" b="1" baseline="3000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2</a:t>
            </a:r>
            <a:r>
              <a:rPr kumimoji="1" lang="zh-CN" altLang="en-US" sz="2000" b="1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，</a:t>
            </a:r>
            <a:r>
              <a:rPr kumimoji="1" lang="en-US" altLang="zh-CN" sz="2000" b="1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A</a:t>
            </a:r>
            <a:r>
              <a:rPr kumimoji="1" lang="en-US" altLang="zh-CN" sz="2000" b="1" baseline="3000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3</a:t>
            </a:r>
            <a:r>
              <a:rPr kumimoji="1" lang="zh-CN" altLang="en-US" sz="2000" b="1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，</a:t>
            </a:r>
            <a:r>
              <a:rPr kumimoji="1" lang="en-US" altLang="zh-CN" sz="2000" b="1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A</a:t>
            </a:r>
            <a:r>
              <a:rPr kumimoji="1" lang="en-US" altLang="zh-CN" sz="2000" b="1" baseline="3000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4</a:t>
            </a:r>
            <a:r>
              <a:rPr kumimoji="1" lang="zh-CN" altLang="en-US" sz="2000" b="1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来验证这结论</a:t>
            </a:r>
            <a:r>
              <a:rPr lang="zh-CN" altLang="en-US" sz="20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。</a:t>
            </a:r>
            <a:endParaRPr lang="zh-CN" altLang="en-US" sz="2000" b="1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eaLnBrk="1" hangingPunct="1">
              <a:spcBef>
                <a:spcPct val="50000"/>
              </a:spcBef>
              <a:buFont typeface="Wingdings" panose="05000000000000000000" pitchFamily="2" charset="2"/>
              <a:buNone/>
            </a:pPr>
            <a:r>
              <a:rPr lang="en-US" altLang="zh-CN" sz="20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2</a:t>
            </a:r>
            <a:r>
              <a:rPr lang="zh-CN" altLang="en-US" sz="20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、</a:t>
            </a:r>
            <a:r>
              <a:rPr lang="zh-CN" altLang="en-US" sz="2000" b="1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设</a:t>
            </a:r>
            <a:r>
              <a:rPr lang="en-US" altLang="zh-CN" sz="2000" b="1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T=&lt;V,E&gt;</a:t>
            </a:r>
            <a:r>
              <a:rPr lang="zh-CN" altLang="en-US" sz="2000" b="1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是树，如</a:t>
            </a:r>
            <a:r>
              <a:rPr lang="en-US" altLang="zh-CN" sz="2000" b="1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|V|=20</a:t>
            </a:r>
            <a:r>
              <a:rPr lang="zh-CN" altLang="en-US" sz="2000" b="1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，树叶共有</a:t>
            </a:r>
            <a:r>
              <a:rPr lang="en-US" altLang="zh-CN" sz="2000" b="1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8</a:t>
            </a:r>
            <a:r>
              <a:rPr lang="zh-CN" altLang="en-US" sz="2000" b="1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个，其它结点的度数均≤</a:t>
            </a:r>
            <a:r>
              <a:rPr lang="en-US" altLang="zh-CN" sz="2000" b="1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3</a:t>
            </a:r>
            <a:r>
              <a:rPr lang="zh-CN" altLang="en-US" sz="2000" b="1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，问</a:t>
            </a:r>
            <a:r>
              <a:rPr lang="en-US" altLang="zh-CN" sz="2000" b="1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2</a:t>
            </a:r>
            <a:r>
              <a:rPr lang="zh-CN" altLang="en-US" sz="2000" b="1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度结点和</a:t>
            </a:r>
            <a:r>
              <a:rPr lang="en-US" altLang="zh-CN" sz="2000" b="1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3</a:t>
            </a:r>
            <a:r>
              <a:rPr lang="zh-CN" altLang="en-US" sz="2000" b="1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度结点各有多少</a:t>
            </a:r>
            <a:r>
              <a:rPr lang="zh-CN" altLang="en-US" sz="20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。</a:t>
            </a:r>
            <a:endParaRPr lang="zh-CN" altLang="en-US" sz="2000" b="1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eaLnBrk="1" hangingPunct="1">
              <a:lnSpc>
                <a:spcPct val="150000"/>
              </a:lnSpc>
              <a:spcBef>
                <a:spcPts val="0"/>
              </a:spcBef>
            </a:pPr>
            <a:r>
              <a:rPr lang="en-US" altLang="zh-CN" sz="20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3</a:t>
            </a:r>
            <a:r>
              <a:rPr lang="zh-CN" altLang="en-US" sz="20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、</a:t>
            </a:r>
            <a:r>
              <a:rPr lang="en-US" altLang="zh-CN" sz="2000" b="1" dirty="0">
                <a:solidFill>
                  <a:srgbClr val="7030A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 </a:t>
            </a:r>
            <a:r>
              <a:rPr lang="zh-CN" altLang="en-US" sz="2000" b="1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一棵树有两个结点度数为</a:t>
            </a:r>
            <a:r>
              <a:rPr lang="en-US" altLang="zh-CN" sz="2000" b="1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2</a:t>
            </a:r>
            <a:r>
              <a:rPr lang="zh-CN" altLang="en-US" sz="2000" b="1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，一个结点度数为</a:t>
            </a:r>
            <a:r>
              <a:rPr lang="en-US" altLang="zh-CN" sz="2000" b="1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3</a:t>
            </a:r>
            <a:r>
              <a:rPr lang="zh-CN" altLang="en-US" sz="2000" b="1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，三个结点度数为</a:t>
            </a:r>
            <a:r>
              <a:rPr lang="en-US" altLang="zh-CN" sz="2000" b="1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4 </a:t>
            </a:r>
            <a:r>
              <a:rPr lang="zh-CN" altLang="en-US" sz="2000" b="1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，问它有几个度数为</a:t>
            </a:r>
            <a:r>
              <a:rPr lang="en-US" altLang="zh-CN" sz="2000" b="1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1</a:t>
            </a:r>
            <a:r>
              <a:rPr lang="zh-CN" altLang="en-US" sz="2000" b="1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的结点。</a:t>
            </a:r>
            <a:r>
              <a:rPr kumimoji="1" lang="zh-CN" altLang="en-US" sz="20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。</a:t>
            </a:r>
            <a:endParaRPr kumimoji="1" lang="en-US" altLang="zh-CN" sz="2000" b="1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eaLnBrk="0" hangingPunct="0">
              <a:lnSpc>
                <a:spcPct val="130000"/>
              </a:lnSpc>
              <a:spcBef>
                <a:spcPts val="0"/>
              </a:spcBef>
              <a:buClr>
                <a:schemeClr val="folHlink"/>
              </a:buClr>
              <a:buSzPct val="60000"/>
              <a:defRPr/>
            </a:pPr>
            <a:r>
              <a:rPr lang="en-US" altLang="zh-CN" sz="20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Symbol" panose="05050102010706020507" pitchFamily="18" charset="2"/>
              </a:rPr>
              <a:t>4</a:t>
            </a:r>
            <a:r>
              <a:rPr lang="zh-CN" altLang="en-US" sz="20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Symbol" panose="05050102010706020507" pitchFamily="18" charset="2"/>
              </a:rPr>
              <a:t>、</a:t>
            </a:r>
            <a:r>
              <a:rPr lang="zh-CN" altLang="en-US" sz="2000" b="1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求下图所示的图的生成树</a:t>
            </a:r>
            <a:r>
              <a:rPr lang="zh-CN" altLang="en-US" sz="20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  <a:sym typeface="+mn-ea"/>
              </a:rPr>
              <a:t>。</a:t>
            </a:r>
            <a:endParaRPr lang="zh-CN" altLang="en-US" sz="2000" b="1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Times New Roman" panose="02020603050405020304" pitchFamily="18" charset="0"/>
              <a:sym typeface="+mn-ea"/>
            </a:endParaRPr>
          </a:p>
          <a:p>
            <a:pPr>
              <a:lnSpc>
                <a:spcPct val="130000"/>
              </a:lnSpc>
              <a:spcBef>
                <a:spcPts val="0"/>
              </a:spcBef>
              <a:defRPr/>
            </a:pPr>
            <a:r>
              <a:rPr lang="en-US" altLang="zh-CN" sz="20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5</a:t>
            </a:r>
            <a:r>
              <a:rPr lang="zh-CN" altLang="en-US" sz="20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、</a:t>
            </a:r>
            <a:r>
              <a:rPr lang="zh-CN" altLang="en-US" sz="2000" b="1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求下图中有权图的最小生成树</a:t>
            </a:r>
            <a:r>
              <a:rPr lang="zh-CN" altLang="en-US" sz="2000" b="1" kern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。</a:t>
            </a:r>
            <a:endParaRPr kumimoji="0" lang="en-US" altLang="zh-CN" sz="2000" b="1" kern="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130000"/>
              </a:lnSpc>
              <a:spcBef>
                <a:spcPts val="0"/>
              </a:spcBef>
              <a:defRPr/>
            </a:pPr>
            <a:r>
              <a:rPr lang="en-US" altLang="zh-CN" sz="20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6</a:t>
            </a:r>
            <a:r>
              <a:rPr lang="zh-CN" altLang="en-US" sz="20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、</a:t>
            </a:r>
            <a:r>
              <a:rPr lang="zh-CN" altLang="en-US" sz="2000" b="1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设有一台计算机，它有一条加法指令，可计算</a:t>
            </a:r>
            <a:r>
              <a:rPr lang="en-US" altLang="zh-CN" sz="2000" b="1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3</a:t>
            </a:r>
            <a:r>
              <a:rPr lang="zh-CN" altLang="en-US" sz="2000" b="1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个数的和。如果要计算</a:t>
            </a:r>
            <a:r>
              <a:rPr lang="en-US" altLang="zh-CN" sz="2000" b="1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9</a:t>
            </a:r>
            <a:r>
              <a:rPr lang="zh-CN" altLang="en-US" sz="2000" b="1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个数的和，问至少要执行几次加法指令？</a:t>
            </a:r>
            <a:endParaRPr lang="zh-CN" altLang="en-US" sz="2000" b="1" dirty="0">
              <a:solidFill>
                <a:schemeClr val="tx1"/>
              </a:solidFill>
              <a:latin typeface="Times New Roman" panose="02020603050405020304" pitchFamily="18" charset="0"/>
              <a:ea typeface="黑体" panose="02010609060101010101" pitchFamily="49" charset="-122"/>
              <a:sym typeface="+mn-ea"/>
            </a:endParaRPr>
          </a:p>
          <a:p>
            <a:pPr marL="0" lvl="1" indent="0">
              <a:spcBef>
                <a:spcPts val="1200"/>
              </a:spcBef>
              <a:buClr>
                <a:srgbClr val="954F72"/>
              </a:buClr>
              <a:buSzPct val="80000"/>
              <a:buFont typeface="Wingdings" panose="05000000000000000000" pitchFamily="2" charset="2"/>
              <a:buNone/>
            </a:pPr>
            <a:r>
              <a:rPr lang="en-US" altLang="zh-CN" sz="2000" b="1" dirty="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7</a:t>
            </a:r>
            <a:r>
              <a:rPr lang="zh-CN" altLang="en-US" sz="2000" b="1" dirty="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、</a:t>
            </a:r>
            <a:r>
              <a:rPr lang="zh-CN" altLang="en-US" sz="2000" b="1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求带权</a:t>
            </a:r>
            <a:r>
              <a:rPr lang="en-US" altLang="zh-CN" sz="2000" b="1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2</a:t>
            </a:r>
            <a:r>
              <a:rPr lang="zh-CN" altLang="en-US" sz="2000" b="1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，</a:t>
            </a:r>
            <a:r>
              <a:rPr lang="en-US" altLang="zh-CN" sz="2000" b="1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2</a:t>
            </a:r>
            <a:r>
              <a:rPr lang="zh-CN" altLang="en-US" sz="2000" b="1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，</a:t>
            </a:r>
            <a:r>
              <a:rPr lang="en-US" altLang="zh-CN" sz="2000" b="1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3</a:t>
            </a:r>
            <a:r>
              <a:rPr lang="zh-CN" altLang="en-US" sz="2000" b="1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，</a:t>
            </a:r>
            <a:r>
              <a:rPr lang="en-US" altLang="zh-CN" sz="2000" b="1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3</a:t>
            </a:r>
            <a:r>
              <a:rPr lang="zh-CN" altLang="en-US" sz="2000" b="1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，</a:t>
            </a:r>
            <a:r>
              <a:rPr lang="en-US" altLang="zh-CN" sz="2000" b="1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5</a:t>
            </a:r>
            <a:r>
              <a:rPr lang="zh-CN" altLang="en-US" sz="2000" b="1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的最优二叉树</a:t>
            </a:r>
            <a:r>
              <a:rPr lang="en-US" altLang="zh-CN" sz="2000" b="1" i="1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T</a:t>
            </a:r>
            <a:r>
              <a:rPr lang="zh-CN" altLang="en-US" sz="2000" b="1" dirty="0">
                <a:solidFill>
                  <a:schemeClr val="tx1"/>
                </a:solidFill>
                <a:ea typeface="黑体" panose="02010609060101010101" pitchFamily="49" charset="-122"/>
                <a:sym typeface="+mn-ea"/>
              </a:rPr>
              <a:t>。</a:t>
            </a:r>
            <a:endParaRPr lang="zh-CN" altLang="en-US" sz="2000" b="1" dirty="0">
              <a:solidFill>
                <a:schemeClr val="tx1"/>
              </a:solidFill>
              <a:ea typeface="黑体" panose="02010609060101010101" pitchFamily="49" charset="-122"/>
              <a:sym typeface="+mn-ea"/>
            </a:endParaRPr>
          </a:p>
          <a:p>
            <a:pPr marL="0" eaLnBrk="1" fontAlgn="auto" hangingPunct="1">
              <a:lnSpc>
                <a:spcPct val="140000"/>
              </a:lnSpc>
              <a:spcBef>
                <a:spcPts val="600"/>
              </a:spcBef>
              <a:spcAft>
                <a:spcPts val="0"/>
              </a:spcAft>
              <a:buClr>
                <a:srgbClr val="FF0000"/>
              </a:buClr>
              <a:buSzPct val="80000"/>
              <a:buNone/>
              <a:defRPr/>
            </a:pPr>
            <a:r>
              <a:rPr lang="en-US" altLang="zh-CN" sz="2000" b="1" dirty="0">
                <a:solidFill>
                  <a:schemeClr val="tx1"/>
                </a:solidFill>
                <a:ea typeface="黑体" panose="02010609060101010101" pitchFamily="49" charset="-122"/>
                <a:sym typeface="+mn-ea"/>
              </a:rPr>
              <a:t>8</a:t>
            </a:r>
            <a:r>
              <a:rPr lang="zh-CN" altLang="en-US" sz="2000" b="1" dirty="0">
                <a:solidFill>
                  <a:schemeClr val="tx1"/>
                </a:solidFill>
                <a:ea typeface="黑体" panose="02010609060101010101" pitchFamily="49" charset="-122"/>
                <a:sym typeface="+mn-ea"/>
              </a:rPr>
              <a:t>、</a:t>
            </a:r>
            <a:r>
              <a:rPr lang="zh-CN" altLang="en-US" sz="2000" b="1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求图</a:t>
            </a:r>
            <a:r>
              <a:rPr lang="en-US" altLang="zh-CN" sz="2000" b="1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 (a)</a:t>
            </a:r>
            <a:r>
              <a:rPr lang="zh-CN" altLang="en-US" sz="2000" b="1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所示的二叉树产生的前缀码</a:t>
            </a:r>
            <a:r>
              <a:rPr lang="zh-CN" altLang="en-US" sz="2000" b="1" dirty="0">
                <a:solidFill>
                  <a:schemeClr val="tx1"/>
                </a:solidFill>
                <a:latin typeface="+mn-ea"/>
                <a:sym typeface="+mn-ea"/>
              </a:rPr>
              <a:t>。</a:t>
            </a:r>
            <a:endParaRPr lang="zh-CN" altLang="en-US" sz="2000" b="1" dirty="0">
              <a:solidFill>
                <a:schemeClr val="tx1"/>
              </a:solidFill>
              <a:latin typeface="+mn-ea"/>
              <a:sym typeface="+mn-ea"/>
            </a:endParaRPr>
          </a:p>
          <a:p>
            <a:pPr marL="0" eaLnBrk="1" fontAlgn="auto" hangingPunct="1">
              <a:lnSpc>
                <a:spcPct val="140000"/>
              </a:lnSpc>
              <a:spcBef>
                <a:spcPts val="600"/>
              </a:spcBef>
              <a:spcAft>
                <a:spcPts val="0"/>
              </a:spcAft>
              <a:buClr>
                <a:srgbClr val="FF0000"/>
              </a:buClr>
              <a:buSzPct val="80000"/>
              <a:buNone/>
              <a:defRPr/>
            </a:pPr>
            <a:r>
              <a:rPr lang="en-US" altLang="zh-CN" sz="2000" b="1" dirty="0">
                <a:solidFill>
                  <a:schemeClr val="tx1"/>
                </a:solidFill>
                <a:latin typeface="+mn-ea"/>
                <a:sym typeface="+mn-ea"/>
              </a:rPr>
              <a:t>9.</a:t>
            </a:r>
            <a:r>
              <a:rPr lang="zh-CN" altLang="en-US" sz="2000" b="1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设</a:t>
            </a:r>
            <a:r>
              <a:rPr lang="en-US" altLang="zh-CN" sz="2000" b="1" dirty="0">
                <a:latin typeface="微软雅黑" panose="020B0503020204020204" charset="-122"/>
                <a:ea typeface="微软雅黑" panose="020B0503020204020204" charset="-122"/>
                <a:sym typeface="Symbol" panose="05050102010706020507" pitchFamily="18" charset="2"/>
              </a:rPr>
              <a:t>{</a:t>
            </a:r>
            <a:r>
              <a:rPr lang="en-US" altLang="zh-CN" sz="2000" b="1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1,01,000</a:t>
            </a:r>
            <a:r>
              <a:rPr lang="en-US" altLang="zh-CN" sz="2000" b="1" dirty="0">
                <a:latin typeface="微软雅黑" panose="020B0503020204020204" charset="-122"/>
                <a:ea typeface="微软雅黑" panose="020B0503020204020204" charset="-122"/>
                <a:sym typeface="Symbol" panose="05050102010706020507" pitchFamily="18" charset="2"/>
              </a:rPr>
              <a:t>}</a:t>
            </a:r>
            <a:r>
              <a:rPr lang="zh-CN" altLang="en-US" sz="2000" b="1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是一前缀码，画出对应一个二叉树。</a:t>
            </a:r>
            <a:endParaRPr lang="zh-CN" altLang="en-US" sz="2000" b="1" dirty="0"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marL="0" eaLnBrk="1" fontAlgn="auto" hangingPunct="1">
              <a:lnSpc>
                <a:spcPct val="140000"/>
              </a:lnSpc>
              <a:spcBef>
                <a:spcPts val="600"/>
              </a:spcBef>
              <a:spcAft>
                <a:spcPts val="0"/>
              </a:spcAft>
              <a:buClr>
                <a:srgbClr val="FF0000"/>
              </a:buClr>
              <a:buSzPct val="80000"/>
              <a:buNone/>
              <a:defRPr/>
            </a:pPr>
            <a:r>
              <a:rPr lang="en-US" altLang="zh-CN" sz="2000" b="1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10.</a:t>
            </a:r>
            <a:r>
              <a:rPr lang="zh-CN" altLang="en-US" sz="2000" b="1" dirty="0">
                <a:latin typeface="+mn-ea"/>
                <a:sym typeface="+mn-ea"/>
              </a:rPr>
              <a:t>已知字母</a:t>
            </a:r>
            <a:r>
              <a:rPr lang="en-US" altLang="zh-CN" sz="2000" b="1" dirty="0">
                <a:latin typeface="+mn-ea"/>
                <a:sym typeface="+mn-ea"/>
              </a:rPr>
              <a:t>A</a:t>
            </a:r>
            <a:r>
              <a:rPr lang="zh-CN" altLang="en-US" sz="2000" b="1" dirty="0">
                <a:latin typeface="+mn-ea"/>
                <a:sym typeface="+mn-ea"/>
              </a:rPr>
              <a:t>、</a:t>
            </a:r>
            <a:r>
              <a:rPr lang="en-US" altLang="zh-CN" sz="2000" b="1" dirty="0">
                <a:latin typeface="+mn-ea"/>
                <a:sym typeface="+mn-ea"/>
              </a:rPr>
              <a:t>B</a:t>
            </a:r>
            <a:r>
              <a:rPr lang="zh-CN" altLang="en-US" sz="2000" b="1" dirty="0">
                <a:latin typeface="+mn-ea"/>
                <a:sym typeface="+mn-ea"/>
              </a:rPr>
              <a:t>、</a:t>
            </a:r>
            <a:r>
              <a:rPr lang="en-US" altLang="zh-CN" sz="2000" b="1" dirty="0">
                <a:latin typeface="+mn-ea"/>
                <a:sym typeface="+mn-ea"/>
              </a:rPr>
              <a:t>C</a:t>
            </a:r>
            <a:r>
              <a:rPr lang="zh-CN" altLang="en-US" sz="2000" b="1" dirty="0">
                <a:latin typeface="+mn-ea"/>
                <a:sym typeface="+mn-ea"/>
              </a:rPr>
              <a:t>、</a:t>
            </a:r>
            <a:r>
              <a:rPr lang="en-US" altLang="zh-CN" sz="2000" b="1" dirty="0">
                <a:latin typeface="+mn-ea"/>
                <a:sym typeface="+mn-ea"/>
              </a:rPr>
              <a:t>D</a:t>
            </a:r>
            <a:r>
              <a:rPr lang="zh-CN" altLang="en-US" sz="2000" b="1" dirty="0">
                <a:latin typeface="+mn-ea"/>
                <a:sym typeface="+mn-ea"/>
              </a:rPr>
              <a:t>、</a:t>
            </a:r>
            <a:r>
              <a:rPr lang="en-US" altLang="zh-CN" sz="2000" b="1" dirty="0">
                <a:latin typeface="+mn-ea"/>
                <a:sym typeface="+mn-ea"/>
              </a:rPr>
              <a:t>E</a:t>
            </a:r>
            <a:r>
              <a:rPr lang="zh-CN" altLang="en-US" sz="2000" b="1" dirty="0">
                <a:latin typeface="+mn-ea"/>
                <a:sym typeface="+mn-ea"/>
              </a:rPr>
              <a:t>、</a:t>
            </a:r>
            <a:r>
              <a:rPr lang="en-US" altLang="zh-CN" sz="2000" b="1" dirty="0">
                <a:latin typeface="+mn-ea"/>
                <a:sym typeface="+mn-ea"/>
              </a:rPr>
              <a:t>F</a:t>
            </a:r>
            <a:r>
              <a:rPr lang="zh-CN" altLang="en-US" sz="2000" b="1" dirty="0">
                <a:latin typeface="+mn-ea"/>
                <a:sym typeface="+mn-ea"/>
              </a:rPr>
              <a:t>出现的频率如下：</a:t>
            </a:r>
            <a:r>
              <a:rPr lang="en-US" altLang="zh-CN" sz="2000" b="1" dirty="0">
                <a:latin typeface="+mn-ea"/>
                <a:sym typeface="+mn-ea"/>
              </a:rPr>
              <a:t>A—30%</a:t>
            </a:r>
            <a:r>
              <a:rPr lang="zh-CN" altLang="en-US" sz="2000" b="1" dirty="0">
                <a:latin typeface="+mn-ea"/>
                <a:sym typeface="+mn-ea"/>
              </a:rPr>
              <a:t>，</a:t>
            </a:r>
            <a:r>
              <a:rPr lang="en-US" altLang="zh-CN" sz="2000" b="1" dirty="0">
                <a:latin typeface="+mn-ea"/>
                <a:sym typeface="+mn-ea"/>
              </a:rPr>
              <a:t>B—25%</a:t>
            </a:r>
            <a:r>
              <a:rPr lang="zh-CN" altLang="en-US" sz="2000" b="1" dirty="0">
                <a:latin typeface="+mn-ea"/>
                <a:sym typeface="+mn-ea"/>
              </a:rPr>
              <a:t>，</a:t>
            </a:r>
            <a:r>
              <a:rPr lang="en-US" altLang="zh-CN" sz="2000" b="1" dirty="0">
                <a:latin typeface="+mn-ea"/>
                <a:sym typeface="+mn-ea"/>
              </a:rPr>
              <a:t>C—20%</a:t>
            </a:r>
            <a:r>
              <a:rPr lang="zh-CN" altLang="en-US" sz="2000" b="1" dirty="0">
                <a:latin typeface="+mn-ea"/>
                <a:sym typeface="+mn-ea"/>
              </a:rPr>
              <a:t>，</a:t>
            </a:r>
            <a:r>
              <a:rPr lang="en-US" altLang="zh-CN" sz="2000" b="1" dirty="0">
                <a:latin typeface="+mn-ea"/>
                <a:sym typeface="+mn-ea"/>
              </a:rPr>
              <a:t>D—10%</a:t>
            </a:r>
            <a:r>
              <a:rPr lang="zh-CN" altLang="en-US" sz="2000" b="1" dirty="0">
                <a:latin typeface="+mn-ea"/>
                <a:sym typeface="+mn-ea"/>
              </a:rPr>
              <a:t>，</a:t>
            </a:r>
            <a:r>
              <a:rPr lang="en-US" altLang="zh-CN" sz="2000" b="1" dirty="0">
                <a:latin typeface="+mn-ea"/>
                <a:sym typeface="+mn-ea"/>
              </a:rPr>
              <a:t>E—10%</a:t>
            </a:r>
            <a:r>
              <a:rPr lang="zh-CN" altLang="en-US" sz="2000" b="1" dirty="0">
                <a:latin typeface="+mn-ea"/>
                <a:sym typeface="+mn-ea"/>
              </a:rPr>
              <a:t>，</a:t>
            </a:r>
            <a:r>
              <a:rPr lang="en-US" altLang="zh-CN" sz="2000" b="1" dirty="0">
                <a:latin typeface="+mn-ea"/>
                <a:sym typeface="+mn-ea"/>
              </a:rPr>
              <a:t>F—5%</a:t>
            </a:r>
            <a:r>
              <a:rPr lang="zh-CN" altLang="en-US" sz="2000" b="1" dirty="0">
                <a:latin typeface="+mn-ea"/>
                <a:sym typeface="+mn-ea"/>
              </a:rPr>
              <a:t>，构造一个表示</a:t>
            </a:r>
            <a:r>
              <a:rPr lang="en-US" altLang="zh-CN" sz="2000" b="1" dirty="0">
                <a:latin typeface="+mn-ea"/>
                <a:sym typeface="+mn-ea"/>
              </a:rPr>
              <a:t>A</a:t>
            </a:r>
            <a:r>
              <a:rPr lang="zh-CN" altLang="en-US" sz="2000" b="1" dirty="0">
                <a:latin typeface="+mn-ea"/>
                <a:sym typeface="+mn-ea"/>
              </a:rPr>
              <a:t>、</a:t>
            </a:r>
            <a:r>
              <a:rPr lang="en-US" altLang="zh-CN" sz="2000" b="1" dirty="0">
                <a:latin typeface="+mn-ea"/>
                <a:sym typeface="+mn-ea"/>
              </a:rPr>
              <a:t>B</a:t>
            </a:r>
            <a:r>
              <a:rPr lang="zh-CN" altLang="en-US" sz="2000" b="1" dirty="0">
                <a:latin typeface="+mn-ea"/>
                <a:sym typeface="+mn-ea"/>
              </a:rPr>
              <a:t>、</a:t>
            </a:r>
            <a:r>
              <a:rPr lang="en-US" altLang="zh-CN" sz="2000" b="1" dirty="0">
                <a:latin typeface="+mn-ea"/>
                <a:sym typeface="+mn-ea"/>
              </a:rPr>
              <a:t>C</a:t>
            </a:r>
            <a:r>
              <a:rPr lang="zh-CN" altLang="en-US" sz="2000" b="1" dirty="0">
                <a:latin typeface="+mn-ea"/>
                <a:sym typeface="+mn-ea"/>
              </a:rPr>
              <a:t>、</a:t>
            </a:r>
            <a:r>
              <a:rPr lang="en-US" altLang="zh-CN" sz="2000" b="1" dirty="0">
                <a:latin typeface="+mn-ea"/>
                <a:sym typeface="+mn-ea"/>
              </a:rPr>
              <a:t>D</a:t>
            </a:r>
            <a:r>
              <a:rPr lang="zh-CN" altLang="en-US" sz="2000" b="1" dirty="0">
                <a:latin typeface="+mn-ea"/>
                <a:sym typeface="+mn-ea"/>
              </a:rPr>
              <a:t>、</a:t>
            </a:r>
            <a:r>
              <a:rPr lang="en-US" altLang="zh-CN" sz="2000" b="1" dirty="0">
                <a:latin typeface="+mn-ea"/>
                <a:sym typeface="+mn-ea"/>
              </a:rPr>
              <a:t>E</a:t>
            </a:r>
            <a:r>
              <a:rPr lang="zh-CN" altLang="en-US" sz="2000" b="1" dirty="0">
                <a:latin typeface="+mn-ea"/>
                <a:sym typeface="+mn-ea"/>
              </a:rPr>
              <a:t>、</a:t>
            </a:r>
            <a:r>
              <a:rPr lang="en-US" altLang="zh-CN" sz="2000" b="1" dirty="0">
                <a:latin typeface="+mn-ea"/>
                <a:sym typeface="+mn-ea"/>
              </a:rPr>
              <a:t>F</a:t>
            </a:r>
            <a:r>
              <a:rPr lang="zh-CN" altLang="en-US" sz="2000" b="1" dirty="0">
                <a:latin typeface="+mn-ea"/>
                <a:sym typeface="+mn-ea"/>
              </a:rPr>
              <a:t>的前缀码，使得传输的二进制位最少。</a:t>
            </a:r>
            <a:endParaRPr lang="zh-CN" altLang="en-US" sz="2000" b="1" dirty="0">
              <a:latin typeface="微软雅黑" panose="020B0503020204020204" charset="-122"/>
              <a:ea typeface="微软雅黑" panose="020B0503020204020204" charset="-122"/>
            </a:endParaRPr>
          </a:p>
          <a:p>
            <a:pPr marL="0" eaLnBrk="1" fontAlgn="auto" hangingPunct="1">
              <a:lnSpc>
                <a:spcPct val="140000"/>
              </a:lnSpc>
              <a:spcBef>
                <a:spcPts val="600"/>
              </a:spcBef>
              <a:spcAft>
                <a:spcPts val="0"/>
              </a:spcAft>
              <a:buClr>
                <a:srgbClr val="FF0000"/>
              </a:buClr>
              <a:buSzPct val="80000"/>
              <a:buNone/>
              <a:defRPr/>
            </a:pPr>
            <a:endParaRPr lang="zh-CN" altLang="en-US" sz="2000" b="1" dirty="0">
              <a:solidFill>
                <a:schemeClr val="tx1"/>
              </a:solidFill>
              <a:latin typeface="+mn-ea"/>
              <a:sym typeface="+mn-ea"/>
            </a:endParaRPr>
          </a:p>
          <a:p>
            <a:pPr eaLnBrk="1" hangingPunct="1">
              <a:spcBef>
                <a:spcPct val="50000"/>
              </a:spcBef>
              <a:buFont typeface="Wingdings" panose="05000000000000000000" pitchFamily="2" charset="2"/>
              <a:buNone/>
            </a:pPr>
            <a:endParaRPr lang="zh-CN" altLang="en-US" sz="2000" b="1" dirty="0">
              <a:solidFill>
                <a:schemeClr val="tx1"/>
              </a:solidFill>
              <a:latin typeface="+mn-ea"/>
              <a:ea typeface="微软雅黑" panose="020B0503020204020204" charset="-122"/>
              <a:sym typeface="+mn-ea"/>
            </a:endParaRPr>
          </a:p>
        </p:txBody>
      </p:sp>
      <p:pic>
        <p:nvPicPr>
          <p:cNvPr id="22" name="图片 21"/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5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b="15377"/>
          <a:stretch>
            <a:fillRect/>
          </a:stretch>
        </p:blipFill>
        <p:spPr>
          <a:xfrm>
            <a:off x="2355215" y="5309235"/>
            <a:ext cx="1617980" cy="1160145"/>
          </a:xfrm>
          <a:prstGeom prst="rect">
            <a:avLst/>
          </a:prstGeom>
        </p:spPr>
      </p:pic>
      <p:pic>
        <p:nvPicPr>
          <p:cNvPr id="117763" name="Picture 6" descr="图9"/>
          <p:cNvPicPr>
            <a:picLocks noChangeAspect="1" noChangeArrowheads="1"/>
          </p:cNvPicPr>
          <p:nvPr/>
        </p:nvPicPr>
        <p:blipFill rotWithShape="1">
          <a:blip r:embed="rId4">
            <a:clrChange>
              <a:clrFrom>
                <a:srgbClr val="FFFFFF">
                  <a:alpha val="100000"/>
                </a:srgbClr>
              </a:clrFrom>
              <a:clrTo>
                <a:srgbClr val="FFFFFF">
                  <a:alpha val="100000"/>
                  <a:alpha val="0"/>
                </a:srgbClr>
              </a:clrTo>
            </a:clrChange>
            <a:duotone>
              <a:prstClr val="black"/>
              <a:schemeClr val="bg1">
                <a:lumMod val="75000"/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4825" b="24097"/>
          <a:stretch>
            <a:fillRect/>
          </a:stretch>
        </p:blipFill>
        <p:spPr bwMode="auto">
          <a:xfrm>
            <a:off x="7241540" y="5309235"/>
            <a:ext cx="1398905" cy="143573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32655" y="5309235"/>
            <a:ext cx="1461135" cy="1448435"/>
          </a:xfrm>
          <a:prstGeom prst="rect">
            <a:avLst/>
          </a:prstGeom>
        </p:spPr>
      </p:pic>
      <p:sp>
        <p:nvSpPr>
          <p:cNvPr id="25" name="文本框 24"/>
          <p:cNvSpPr txBox="1"/>
          <p:nvPr/>
        </p:nvSpPr>
        <p:spPr>
          <a:xfrm>
            <a:off x="828040" y="6376670"/>
            <a:ext cx="57912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200" b="1" dirty="0">
                <a:latin typeface="微软雅黑" panose="020B0503020204020204" charset="-122"/>
                <a:ea typeface="微软雅黑" panose="020B0503020204020204" charset="-122"/>
              </a:rPr>
              <a:t>题1</a:t>
            </a:r>
            <a:endParaRPr lang="zh-CN" altLang="en-US" sz="1200" b="1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6" name="文本框 25"/>
          <p:cNvSpPr txBox="1"/>
          <p:nvPr/>
        </p:nvSpPr>
        <p:spPr>
          <a:xfrm>
            <a:off x="2780030" y="6469380"/>
            <a:ext cx="57912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200" b="1" dirty="0">
                <a:latin typeface="微软雅黑" panose="020B0503020204020204" charset="-122"/>
                <a:ea typeface="微软雅黑" panose="020B0503020204020204" charset="-122"/>
              </a:rPr>
              <a:t>题</a:t>
            </a:r>
            <a:r>
              <a:rPr lang="en-US" altLang="zh-CN" sz="1200" b="1" dirty="0">
                <a:latin typeface="微软雅黑" panose="020B0503020204020204" charset="-122"/>
                <a:ea typeface="微软雅黑" panose="020B0503020204020204" charset="-122"/>
              </a:rPr>
              <a:t>4</a:t>
            </a:r>
            <a:endParaRPr lang="en-US" altLang="zh-CN" sz="1200" b="1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8" name="文本框 27"/>
          <p:cNvSpPr txBox="1"/>
          <p:nvPr/>
        </p:nvSpPr>
        <p:spPr>
          <a:xfrm>
            <a:off x="6254115" y="6503670"/>
            <a:ext cx="57912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200" b="1" dirty="0">
                <a:latin typeface="微软雅黑" panose="020B0503020204020204" charset="-122"/>
                <a:ea typeface="微软雅黑" panose="020B0503020204020204" charset="-122"/>
              </a:rPr>
              <a:t>题</a:t>
            </a:r>
            <a:r>
              <a:rPr lang="en-US" altLang="zh-CN" sz="1200" b="1" dirty="0">
                <a:latin typeface="微软雅黑" panose="020B0503020204020204" charset="-122"/>
                <a:ea typeface="微软雅黑" panose="020B0503020204020204" charset="-122"/>
              </a:rPr>
              <a:t>5</a:t>
            </a:r>
            <a:endParaRPr lang="en-US" altLang="zh-CN" sz="1200" b="1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9" name="文本框 28"/>
          <p:cNvSpPr txBox="1"/>
          <p:nvPr/>
        </p:nvSpPr>
        <p:spPr>
          <a:xfrm>
            <a:off x="8274050" y="6482080"/>
            <a:ext cx="57912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200" b="1" dirty="0">
                <a:latin typeface="微软雅黑" panose="020B0503020204020204" charset="-122"/>
                <a:ea typeface="微软雅黑" panose="020B0503020204020204" charset="-122"/>
              </a:rPr>
              <a:t>题</a:t>
            </a:r>
            <a:r>
              <a:rPr lang="en-US" altLang="zh-CN" sz="1200" b="1" dirty="0">
                <a:latin typeface="微软雅黑" panose="020B0503020204020204" charset="-122"/>
                <a:ea typeface="微软雅黑" panose="020B0503020204020204" charset="-122"/>
              </a:rPr>
              <a:t>8</a:t>
            </a:r>
            <a:endParaRPr lang="en-US" altLang="zh-CN" sz="1200" b="1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  <p:custDataLst>
      <p:tags r:id="rId6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latin typeface="微软雅黑" panose="020B0503020204020204" charset="-122"/>
                <a:ea typeface="微软雅黑" panose="020B0503020204020204" charset="-122"/>
              </a:rPr>
              <a:t>7-8 </a:t>
            </a:r>
            <a:r>
              <a:rPr lang="zh-CN" altLang="en-US" dirty="0">
                <a:latin typeface="微软雅黑" panose="020B0503020204020204" charset="-122"/>
                <a:ea typeface="微软雅黑" panose="020B0503020204020204" charset="-122"/>
              </a:rPr>
              <a:t>根树及其应用</a:t>
            </a:r>
            <a:endParaRPr lang="zh-CN" altLang="en-US" dirty="0"/>
          </a:p>
        </p:txBody>
      </p:sp>
      <p:sp>
        <p:nvSpPr>
          <p:cNvPr id="2" name="内容占位符 1"/>
          <p:cNvSpPr>
            <a:spLocks noGrp="1"/>
          </p:cNvSpPr>
          <p:nvPr>
            <p:ph sz="quarter" idx="13"/>
          </p:nvPr>
        </p:nvSpPr>
        <p:spPr/>
        <p:txBody>
          <a:bodyPr>
            <a:normAutofit lnSpcReduction="10000"/>
          </a:bodyPr>
          <a:lstStyle/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r>
              <a:rPr lang="zh-CN" altLang="en-US" sz="2400" b="1" dirty="0">
                <a:solidFill>
                  <a:srgbClr val="7030A0"/>
                </a:solidFill>
                <a:latin typeface="+mn-ea"/>
              </a:rPr>
              <a:t>例：</a:t>
            </a:r>
            <a:r>
              <a:rPr lang="zh-CN" altLang="en-US" sz="2400" b="1" dirty="0">
                <a:latin typeface="+mn-ea"/>
              </a:rPr>
              <a:t>已知字母</a:t>
            </a:r>
            <a:r>
              <a:rPr lang="en-US" altLang="zh-CN" sz="2400" b="1" dirty="0">
                <a:latin typeface="+mn-ea"/>
              </a:rPr>
              <a:t>A</a:t>
            </a:r>
            <a:r>
              <a:rPr lang="zh-CN" altLang="en-US" sz="2400" b="1" dirty="0">
                <a:latin typeface="+mn-ea"/>
              </a:rPr>
              <a:t>、</a:t>
            </a:r>
            <a:r>
              <a:rPr lang="en-US" altLang="zh-CN" sz="2400" b="1" dirty="0">
                <a:latin typeface="+mn-ea"/>
              </a:rPr>
              <a:t>B</a:t>
            </a:r>
            <a:r>
              <a:rPr lang="zh-CN" altLang="en-US" sz="2400" b="1" dirty="0">
                <a:latin typeface="+mn-ea"/>
              </a:rPr>
              <a:t>、</a:t>
            </a:r>
            <a:r>
              <a:rPr lang="en-US" altLang="zh-CN" sz="2400" b="1" dirty="0">
                <a:latin typeface="+mn-ea"/>
              </a:rPr>
              <a:t>C</a:t>
            </a:r>
            <a:r>
              <a:rPr lang="zh-CN" altLang="en-US" sz="2400" b="1" dirty="0">
                <a:latin typeface="+mn-ea"/>
              </a:rPr>
              <a:t>、</a:t>
            </a:r>
            <a:r>
              <a:rPr lang="en-US" altLang="zh-CN" sz="2400" b="1" dirty="0">
                <a:latin typeface="+mn-ea"/>
              </a:rPr>
              <a:t>D</a:t>
            </a:r>
            <a:r>
              <a:rPr lang="zh-CN" altLang="en-US" sz="2400" b="1" dirty="0">
                <a:latin typeface="+mn-ea"/>
              </a:rPr>
              <a:t>、</a:t>
            </a:r>
            <a:r>
              <a:rPr lang="en-US" altLang="zh-CN" sz="2400" b="1" dirty="0">
                <a:latin typeface="+mn-ea"/>
              </a:rPr>
              <a:t>E</a:t>
            </a:r>
            <a:r>
              <a:rPr lang="zh-CN" altLang="en-US" sz="2400" b="1" dirty="0">
                <a:latin typeface="+mn-ea"/>
              </a:rPr>
              <a:t>、</a:t>
            </a:r>
            <a:r>
              <a:rPr lang="en-US" altLang="zh-CN" sz="2400" b="1" dirty="0">
                <a:latin typeface="+mn-ea"/>
              </a:rPr>
              <a:t>F</a:t>
            </a:r>
            <a:r>
              <a:rPr lang="zh-CN" altLang="en-US" sz="2400" b="1" dirty="0">
                <a:latin typeface="+mn-ea"/>
              </a:rPr>
              <a:t>出现的频率如下：</a:t>
            </a:r>
            <a:r>
              <a:rPr lang="en-US" altLang="zh-CN" sz="2400" b="1" dirty="0">
                <a:latin typeface="+mn-ea"/>
              </a:rPr>
              <a:t>A—30%</a:t>
            </a:r>
            <a:r>
              <a:rPr lang="zh-CN" altLang="en-US" sz="2400" b="1" dirty="0">
                <a:latin typeface="+mn-ea"/>
              </a:rPr>
              <a:t>，</a:t>
            </a:r>
            <a:r>
              <a:rPr lang="en-US" altLang="zh-CN" sz="2400" b="1" dirty="0">
                <a:latin typeface="+mn-ea"/>
              </a:rPr>
              <a:t>B—25%</a:t>
            </a:r>
            <a:r>
              <a:rPr lang="zh-CN" altLang="en-US" sz="2400" b="1" dirty="0">
                <a:latin typeface="+mn-ea"/>
              </a:rPr>
              <a:t>，</a:t>
            </a:r>
            <a:r>
              <a:rPr lang="en-US" altLang="zh-CN" sz="2400" b="1" dirty="0">
                <a:latin typeface="+mn-ea"/>
              </a:rPr>
              <a:t>C—20%</a:t>
            </a:r>
            <a:r>
              <a:rPr lang="zh-CN" altLang="en-US" sz="2400" b="1" dirty="0">
                <a:latin typeface="+mn-ea"/>
              </a:rPr>
              <a:t>，</a:t>
            </a:r>
            <a:r>
              <a:rPr lang="en-US" altLang="zh-CN" sz="2400" b="1" dirty="0">
                <a:latin typeface="+mn-ea"/>
              </a:rPr>
              <a:t>D—10%</a:t>
            </a:r>
            <a:r>
              <a:rPr lang="zh-CN" altLang="en-US" sz="2400" b="1" dirty="0">
                <a:latin typeface="+mn-ea"/>
              </a:rPr>
              <a:t>，</a:t>
            </a:r>
            <a:r>
              <a:rPr lang="en-US" altLang="zh-CN" sz="2400" b="1" dirty="0">
                <a:latin typeface="+mn-ea"/>
              </a:rPr>
              <a:t>E—10%</a:t>
            </a:r>
            <a:r>
              <a:rPr lang="zh-CN" altLang="en-US" sz="2400" b="1" dirty="0">
                <a:latin typeface="+mn-ea"/>
              </a:rPr>
              <a:t>，</a:t>
            </a:r>
            <a:r>
              <a:rPr lang="en-US" altLang="zh-CN" sz="2400" b="1" dirty="0">
                <a:latin typeface="+mn-ea"/>
              </a:rPr>
              <a:t>F—5%</a:t>
            </a:r>
            <a:r>
              <a:rPr lang="zh-CN" altLang="en-US" sz="2400" b="1" dirty="0">
                <a:latin typeface="+mn-ea"/>
              </a:rPr>
              <a:t>，构造一个表示</a:t>
            </a:r>
            <a:r>
              <a:rPr lang="en-US" altLang="zh-CN" sz="2400" b="1" dirty="0">
                <a:latin typeface="+mn-ea"/>
              </a:rPr>
              <a:t>A</a:t>
            </a:r>
            <a:r>
              <a:rPr lang="zh-CN" altLang="en-US" sz="2400" b="1" dirty="0">
                <a:latin typeface="+mn-ea"/>
              </a:rPr>
              <a:t>、</a:t>
            </a:r>
            <a:r>
              <a:rPr lang="en-US" altLang="zh-CN" sz="2400" b="1" dirty="0">
                <a:latin typeface="+mn-ea"/>
              </a:rPr>
              <a:t>B</a:t>
            </a:r>
            <a:r>
              <a:rPr lang="zh-CN" altLang="en-US" sz="2400" b="1" dirty="0">
                <a:latin typeface="+mn-ea"/>
              </a:rPr>
              <a:t>、</a:t>
            </a:r>
            <a:r>
              <a:rPr lang="en-US" altLang="zh-CN" sz="2400" b="1" dirty="0">
                <a:latin typeface="+mn-ea"/>
              </a:rPr>
              <a:t>C</a:t>
            </a:r>
            <a:r>
              <a:rPr lang="zh-CN" altLang="en-US" sz="2400" b="1" dirty="0">
                <a:latin typeface="+mn-ea"/>
              </a:rPr>
              <a:t>、</a:t>
            </a:r>
            <a:r>
              <a:rPr lang="en-US" altLang="zh-CN" sz="2400" b="1" dirty="0">
                <a:latin typeface="+mn-ea"/>
              </a:rPr>
              <a:t>D</a:t>
            </a:r>
            <a:r>
              <a:rPr lang="zh-CN" altLang="en-US" sz="2400" b="1" dirty="0">
                <a:latin typeface="+mn-ea"/>
              </a:rPr>
              <a:t>、</a:t>
            </a:r>
            <a:r>
              <a:rPr lang="en-US" altLang="zh-CN" sz="2400" b="1" dirty="0">
                <a:latin typeface="+mn-ea"/>
              </a:rPr>
              <a:t>E</a:t>
            </a:r>
            <a:r>
              <a:rPr lang="zh-CN" altLang="en-US" sz="2400" b="1" dirty="0">
                <a:latin typeface="+mn-ea"/>
              </a:rPr>
              <a:t>、</a:t>
            </a:r>
            <a:r>
              <a:rPr lang="en-US" altLang="zh-CN" sz="2400" b="1" dirty="0">
                <a:latin typeface="+mn-ea"/>
              </a:rPr>
              <a:t>F</a:t>
            </a:r>
            <a:r>
              <a:rPr lang="zh-CN" altLang="en-US" sz="2400" b="1" dirty="0">
                <a:latin typeface="+mn-ea"/>
              </a:rPr>
              <a:t>的前缀码，使得传输的二进制位最少。</a:t>
            </a:r>
            <a:endParaRPr lang="en-US" altLang="zh-CN" sz="2400" b="1" dirty="0">
              <a:latin typeface="+mn-ea"/>
            </a:endParaRPr>
          </a:p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r>
              <a:rPr lang="zh-CN" altLang="en-US" sz="2400" b="1" dirty="0">
                <a:solidFill>
                  <a:srgbClr val="E87071"/>
                </a:solidFill>
                <a:latin typeface="+mn-ea"/>
              </a:rPr>
              <a:t>解：</a:t>
            </a:r>
            <a:r>
              <a:rPr lang="en-US" altLang="zh-CN" sz="2400" b="1" dirty="0">
                <a:solidFill>
                  <a:srgbClr val="EF623B"/>
                </a:solidFill>
                <a:latin typeface="+mn-ea"/>
              </a:rPr>
              <a:t>1.</a:t>
            </a:r>
            <a:r>
              <a:rPr lang="zh-CN" altLang="en-US" sz="2400" b="1" dirty="0">
                <a:latin typeface="+mn-ea"/>
              </a:rPr>
              <a:t>构造带权</a:t>
            </a:r>
            <a:r>
              <a:rPr lang="en-US" altLang="zh-CN" sz="2400" b="1" dirty="0">
                <a:latin typeface="+mn-ea"/>
              </a:rPr>
              <a:t>30,25,20,10,</a:t>
            </a:r>
            <a:endParaRPr lang="en-US" altLang="zh-CN" sz="2400" b="1" dirty="0">
              <a:latin typeface="+mn-ea"/>
            </a:endParaRPr>
          </a:p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r>
              <a:rPr lang="en-US" altLang="zh-CN" sz="2400" b="1" dirty="0">
                <a:latin typeface="+mn-ea"/>
              </a:rPr>
              <a:t>10,5</a:t>
            </a:r>
            <a:r>
              <a:rPr lang="zh-CN" altLang="en-US" sz="2400" b="1" dirty="0">
                <a:latin typeface="+mn-ea"/>
              </a:rPr>
              <a:t>的最优二叉树</a:t>
            </a:r>
            <a:r>
              <a:rPr lang="en-US" altLang="zh-CN" sz="2400" b="1" dirty="0">
                <a:latin typeface="+mn-ea"/>
              </a:rPr>
              <a:t>T</a:t>
            </a:r>
            <a:endParaRPr lang="en-US" altLang="zh-CN" sz="2400" b="1" dirty="0">
              <a:latin typeface="+mn-ea"/>
            </a:endParaRPr>
          </a:p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endParaRPr lang="en-US" altLang="zh-CN" sz="2400" b="1" dirty="0">
              <a:latin typeface="+mn-ea"/>
            </a:endParaRPr>
          </a:p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r>
              <a:rPr lang="en-US" altLang="zh-CN" sz="2400" b="1" dirty="0">
                <a:solidFill>
                  <a:srgbClr val="EF623B"/>
                </a:solidFill>
                <a:latin typeface="+mn-ea"/>
              </a:rPr>
              <a:t>2.</a:t>
            </a:r>
            <a:r>
              <a:rPr lang="zh-CN" altLang="en-US" sz="2400" b="1" dirty="0">
                <a:latin typeface="+mn-ea"/>
              </a:rPr>
              <a:t>在</a:t>
            </a:r>
            <a:r>
              <a:rPr lang="en-US" altLang="zh-CN" sz="2400" b="1" dirty="0">
                <a:latin typeface="+mn-ea"/>
              </a:rPr>
              <a:t>T</a:t>
            </a:r>
            <a:r>
              <a:rPr lang="zh-CN" altLang="en-US" sz="2400" b="1" dirty="0">
                <a:latin typeface="+mn-ea"/>
              </a:rPr>
              <a:t>上构造前缀码</a:t>
            </a:r>
            <a:endParaRPr lang="en-US" altLang="zh-CN" sz="2400" b="1" dirty="0">
              <a:latin typeface="+mn-ea"/>
            </a:endParaRPr>
          </a:p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endParaRPr lang="en-US" altLang="zh-CN" sz="2400" b="1" dirty="0">
              <a:latin typeface="+mn-ea"/>
            </a:endParaRPr>
          </a:p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r>
              <a:rPr lang="en-US" altLang="zh-CN" sz="2400" b="1" dirty="0">
                <a:solidFill>
                  <a:srgbClr val="EF623B"/>
                </a:solidFill>
                <a:latin typeface="+mn-ea"/>
              </a:rPr>
              <a:t>3.</a:t>
            </a:r>
            <a:r>
              <a:rPr lang="zh-CN" altLang="en-US" sz="2400" b="1" dirty="0">
                <a:latin typeface="+mn-ea"/>
              </a:rPr>
              <a:t>将前缀码对应于字母</a:t>
            </a:r>
            <a:endParaRPr lang="zh-CN" altLang="en-US" sz="2400" b="1" dirty="0">
              <a:latin typeface="+mn-ea"/>
            </a:endParaRPr>
          </a:p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endParaRPr lang="zh-CN" altLang="en-US" sz="2400" b="1" dirty="0">
              <a:latin typeface="+mn-ea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>
            <a:clrChange>
              <a:clrFrom>
                <a:srgbClr val="E6EFE6"/>
              </a:clrFrom>
              <a:clrTo>
                <a:srgbClr val="E6EFE6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77554" y="2393428"/>
            <a:ext cx="3867690" cy="3743847"/>
          </a:xfrm>
          <a:prstGeom prst="rect">
            <a:avLst/>
          </a:prstGeom>
        </p:spPr>
      </p:pic>
      <p:graphicFrame>
        <p:nvGraphicFramePr>
          <p:cNvPr id="7" name="表格 9"/>
          <p:cNvGraphicFramePr>
            <a:graphicFrameLocks noGrp="1"/>
          </p:cNvGraphicFramePr>
          <p:nvPr/>
        </p:nvGraphicFramePr>
        <p:xfrm>
          <a:off x="9442725" y="3061217"/>
          <a:ext cx="2077762" cy="2595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38881"/>
                <a:gridCol w="1038881"/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>
                          <a:latin typeface="+mn-ea"/>
                          <a:ea typeface="+mn-ea"/>
                        </a:rPr>
                        <a:t>字母</a:t>
                      </a:r>
                      <a:endParaRPr lang="zh-CN" altLang="en-US" dirty="0">
                        <a:latin typeface="+mn-ea"/>
                        <a:ea typeface="+mn-ea"/>
                      </a:endParaRPr>
                    </a:p>
                  </a:txBody>
                  <a:tcPr anchor="ctr">
                    <a:solidFill>
                      <a:srgbClr val="3C7D7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>
                          <a:latin typeface="+mn-ea"/>
                          <a:ea typeface="+mn-ea"/>
                        </a:rPr>
                        <a:t>编码</a:t>
                      </a:r>
                      <a:endParaRPr lang="zh-CN" altLang="en-US" dirty="0">
                        <a:latin typeface="+mn-ea"/>
                        <a:ea typeface="+mn-ea"/>
                      </a:endParaRPr>
                    </a:p>
                  </a:txBody>
                  <a:tcPr anchor="ctr">
                    <a:solidFill>
                      <a:srgbClr val="3C7D79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+mn-ea"/>
                          <a:ea typeface="+mn-ea"/>
                        </a:rPr>
                        <a:t>A</a:t>
                      </a:r>
                      <a:endParaRPr lang="zh-CN" altLang="en-US" dirty="0">
                        <a:latin typeface="+mn-ea"/>
                        <a:ea typeface="+mn-ea"/>
                      </a:endParaRPr>
                    </a:p>
                  </a:txBody>
                  <a:tcPr anchor="ctr">
                    <a:solidFill>
                      <a:srgbClr val="EF62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+mn-ea"/>
                          <a:ea typeface="+mn-ea"/>
                        </a:rPr>
                        <a:t>11</a:t>
                      </a:r>
                      <a:endParaRPr lang="zh-CN" altLang="en-US" dirty="0">
                        <a:latin typeface="+mn-ea"/>
                        <a:ea typeface="+mn-ea"/>
                      </a:endParaRPr>
                    </a:p>
                  </a:txBody>
                  <a:tcPr anchor="ctr">
                    <a:solidFill>
                      <a:srgbClr val="EF623B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+mn-ea"/>
                          <a:ea typeface="+mn-ea"/>
                        </a:rPr>
                        <a:t>B</a:t>
                      </a:r>
                      <a:endParaRPr lang="zh-CN" altLang="en-US" dirty="0">
                        <a:latin typeface="+mn-ea"/>
                        <a:ea typeface="+mn-ea"/>
                      </a:endParaRPr>
                    </a:p>
                  </a:txBody>
                  <a:tcPr anchor="ctr">
                    <a:solidFill>
                      <a:srgbClr val="EF62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+mn-ea"/>
                          <a:ea typeface="+mn-ea"/>
                        </a:rPr>
                        <a:t>10</a:t>
                      </a:r>
                      <a:endParaRPr lang="zh-CN" altLang="en-US" dirty="0">
                        <a:latin typeface="+mn-ea"/>
                        <a:ea typeface="+mn-ea"/>
                      </a:endParaRPr>
                    </a:p>
                  </a:txBody>
                  <a:tcPr anchor="ctr">
                    <a:solidFill>
                      <a:srgbClr val="EF623B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+mn-ea"/>
                          <a:ea typeface="+mn-ea"/>
                        </a:rPr>
                        <a:t>C</a:t>
                      </a:r>
                      <a:endParaRPr lang="zh-CN" altLang="en-US" dirty="0">
                        <a:latin typeface="+mn-ea"/>
                        <a:ea typeface="+mn-ea"/>
                      </a:endParaRPr>
                    </a:p>
                  </a:txBody>
                  <a:tcPr anchor="ctr">
                    <a:solidFill>
                      <a:srgbClr val="EF62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+mn-ea"/>
                          <a:ea typeface="+mn-ea"/>
                        </a:rPr>
                        <a:t>01</a:t>
                      </a:r>
                      <a:endParaRPr lang="zh-CN" altLang="en-US" dirty="0">
                        <a:latin typeface="+mn-ea"/>
                        <a:ea typeface="+mn-ea"/>
                      </a:endParaRPr>
                    </a:p>
                  </a:txBody>
                  <a:tcPr anchor="ctr">
                    <a:solidFill>
                      <a:srgbClr val="EF623B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+mn-ea"/>
                          <a:ea typeface="+mn-ea"/>
                        </a:rPr>
                        <a:t>D</a:t>
                      </a:r>
                      <a:endParaRPr lang="zh-CN" altLang="en-US" dirty="0">
                        <a:latin typeface="+mn-ea"/>
                        <a:ea typeface="+mn-ea"/>
                      </a:endParaRPr>
                    </a:p>
                  </a:txBody>
                  <a:tcPr anchor="ctr">
                    <a:solidFill>
                      <a:srgbClr val="EF62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+mn-ea"/>
                          <a:ea typeface="+mn-ea"/>
                        </a:rPr>
                        <a:t>001</a:t>
                      </a:r>
                      <a:endParaRPr lang="zh-CN" altLang="en-US" dirty="0">
                        <a:latin typeface="+mn-ea"/>
                        <a:ea typeface="+mn-ea"/>
                      </a:endParaRPr>
                    </a:p>
                  </a:txBody>
                  <a:tcPr anchor="ctr">
                    <a:solidFill>
                      <a:srgbClr val="EF623B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+mn-ea"/>
                          <a:ea typeface="+mn-ea"/>
                        </a:rPr>
                        <a:t>E</a:t>
                      </a:r>
                      <a:endParaRPr lang="zh-CN" altLang="en-US" dirty="0">
                        <a:latin typeface="+mn-ea"/>
                        <a:ea typeface="+mn-ea"/>
                      </a:endParaRPr>
                    </a:p>
                  </a:txBody>
                  <a:tcPr anchor="ctr">
                    <a:solidFill>
                      <a:srgbClr val="EF62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+mn-ea"/>
                          <a:ea typeface="+mn-ea"/>
                        </a:rPr>
                        <a:t>0001</a:t>
                      </a:r>
                      <a:endParaRPr lang="zh-CN" altLang="en-US" dirty="0">
                        <a:latin typeface="+mn-ea"/>
                        <a:ea typeface="+mn-ea"/>
                      </a:endParaRPr>
                    </a:p>
                  </a:txBody>
                  <a:tcPr anchor="ctr">
                    <a:solidFill>
                      <a:srgbClr val="EF623B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+mn-ea"/>
                          <a:ea typeface="+mn-ea"/>
                        </a:rPr>
                        <a:t>F</a:t>
                      </a:r>
                      <a:endParaRPr lang="zh-CN" altLang="en-US" dirty="0">
                        <a:latin typeface="+mn-ea"/>
                        <a:ea typeface="+mn-ea"/>
                      </a:endParaRPr>
                    </a:p>
                  </a:txBody>
                  <a:tcPr anchor="ctr">
                    <a:solidFill>
                      <a:srgbClr val="EF62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+mn-ea"/>
                          <a:ea typeface="+mn-ea"/>
                        </a:rPr>
                        <a:t>0000</a:t>
                      </a:r>
                      <a:endParaRPr lang="zh-CN" altLang="en-US" dirty="0">
                        <a:latin typeface="+mn-ea"/>
                        <a:ea typeface="+mn-ea"/>
                      </a:endParaRPr>
                    </a:p>
                  </a:txBody>
                  <a:tcPr anchor="ctr">
                    <a:solidFill>
                      <a:srgbClr val="EF623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9810" name="Picture 4" descr="图9"/>
          <p:cNvPicPr>
            <a:picLocks noChangeAspect="1" noChangeArrowheads="1"/>
          </p:cNvPicPr>
          <p:nvPr/>
        </p:nvPicPr>
        <p:blipFill rotWithShape="1">
          <a:blip r:embed="rId1">
            <a:duotone>
              <a:prstClr val="black"/>
              <a:schemeClr val="bg1">
                <a:lumMod val="75000"/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6264"/>
          <a:stretch>
            <a:fillRect/>
          </a:stretch>
        </p:blipFill>
        <p:spPr bwMode="auto">
          <a:xfrm>
            <a:off x="5110012" y="2165990"/>
            <a:ext cx="6409559" cy="325737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latin typeface="微软雅黑" panose="020B0503020204020204" charset="-122"/>
                <a:ea typeface="微软雅黑" panose="020B0503020204020204" charset="-122"/>
              </a:rPr>
              <a:t>7-8 </a:t>
            </a:r>
            <a:r>
              <a:rPr lang="zh-CN" altLang="en-US" dirty="0">
                <a:latin typeface="微软雅黑" panose="020B0503020204020204" charset="-122"/>
                <a:ea typeface="微软雅黑" panose="020B0503020204020204" charset="-122"/>
              </a:rPr>
              <a:t>根树及其应用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quarter" idx="13"/>
          </p:nvPr>
        </p:nvSpPr>
        <p:spPr>
          <a:xfrm>
            <a:off x="678314" y="1153443"/>
            <a:ext cx="10874813" cy="556610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r>
              <a:rPr lang="zh-CN" altLang="en-US" sz="2400" b="1" dirty="0">
                <a:solidFill>
                  <a:srgbClr val="7030A0"/>
                </a:solidFill>
                <a:latin typeface="微软雅黑" panose="020B0503020204020204" charset="-122"/>
                <a:ea typeface="微软雅黑" panose="020B0503020204020204" charset="-122"/>
              </a:rPr>
              <a:t>例：</a:t>
            </a:r>
            <a: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</a:rPr>
              <a:t>设</a:t>
            </a:r>
            <a:r>
              <a:rPr lang="en-US" altLang="zh-CN" sz="2400" b="1" dirty="0">
                <a:latin typeface="微软雅黑" panose="020B0503020204020204" charset="-122"/>
                <a:ea typeface="微软雅黑" panose="020B0503020204020204" charset="-122"/>
                <a:sym typeface="Symbol" panose="05050102010706020507" pitchFamily="18" charset="2"/>
              </a:rPr>
              <a:t>{</a:t>
            </a:r>
            <a:r>
              <a:rPr lang="en-US" altLang="zh-CN" sz="2400" b="1" dirty="0">
                <a:latin typeface="微软雅黑" panose="020B0503020204020204" charset="-122"/>
                <a:ea typeface="微软雅黑" panose="020B0503020204020204" charset="-122"/>
              </a:rPr>
              <a:t>1,01,000</a:t>
            </a:r>
            <a:r>
              <a:rPr lang="en-US" altLang="zh-CN" sz="2400" b="1" dirty="0">
                <a:latin typeface="微软雅黑" panose="020B0503020204020204" charset="-122"/>
                <a:ea typeface="微软雅黑" panose="020B0503020204020204" charset="-122"/>
                <a:sym typeface="Symbol" panose="05050102010706020507" pitchFamily="18" charset="2"/>
              </a:rPr>
              <a:t>}</a:t>
            </a:r>
            <a: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</a:rPr>
              <a:t>是一前缀码，画出对应一个二叉树。</a:t>
            </a:r>
            <a:endParaRPr lang="zh-CN" altLang="en-US" sz="2400" b="1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669925" y="1783400"/>
            <a:ext cx="4307593" cy="404290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just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E8707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解：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画出一个高为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3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的正则二叉树，给各边标记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0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或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1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，每一个结点对应一个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0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、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1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序列，如果某个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0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、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1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序列是前缀码的元素，则标记该结点。如图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(a)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所示。将已标记结点的所有后代和该结点的射出边全部删除，再删除未加标记的树叶，得到要求的二叉树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, 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如图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 (b)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所示。</a:t>
            </a: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微软雅黑" panose="020B0503020204020204" charset="-122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8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198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198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1" name="Rectangle 6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b="1">
                <a:latin typeface="微软雅黑" panose="020B0503020204020204" charset="-122"/>
                <a:ea typeface="微软雅黑" panose="020B0503020204020204" charset="-122"/>
              </a:rPr>
              <a:t>7-3  </a:t>
            </a:r>
            <a:r>
              <a:rPr lang="zh-CN" altLang="en-US" b="1">
                <a:latin typeface="微软雅黑" panose="020B0503020204020204" charset="-122"/>
                <a:ea typeface="微软雅黑" panose="020B0503020204020204" charset="-122"/>
              </a:rPr>
              <a:t>图的矩阵表示</a:t>
            </a:r>
            <a:endParaRPr lang="en-US" altLang="ko-KR"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" name="Text Box 15"/>
          <p:cNvSpPr txBox="1">
            <a:spLocks noChangeArrowheads="1"/>
          </p:cNvSpPr>
          <p:nvPr/>
        </p:nvSpPr>
        <p:spPr bwMode="auto">
          <a:xfrm>
            <a:off x="6443415" y="1338177"/>
            <a:ext cx="3486149" cy="24929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fontAlgn="ctr" hangingPunct="1">
              <a:buClr>
                <a:schemeClr val="folHlink"/>
              </a:buClr>
              <a:buSzPct val="60000"/>
              <a:buFont typeface="Wingdings" panose="05000000000000000000" pitchFamily="2" charset="2"/>
              <a:buNone/>
            </a:pPr>
            <a:endParaRPr kumimoji="1" lang="en-US" altLang="zh-CN" sz="2400" b="1" dirty="0">
              <a:latin typeface="微软雅黑" panose="020B0503020204020204" charset="-122"/>
              <a:ea typeface="微软雅黑" panose="020B0503020204020204" charset="-122"/>
            </a:endParaRPr>
          </a:p>
          <a:p>
            <a:pPr eaLnBrk="1" fontAlgn="ctr" hangingPunct="1">
              <a:buClr>
                <a:schemeClr val="folHlink"/>
              </a:buClr>
              <a:buSzPct val="60000"/>
              <a:buFont typeface="Wingdings" panose="05000000000000000000" pitchFamily="2" charset="2"/>
              <a:buNone/>
            </a:pPr>
            <a:r>
              <a:rPr kumimoji="1" lang="en-US" altLang="zh-CN" sz="2400" b="1" dirty="0">
                <a:latin typeface="微软雅黑" panose="020B0503020204020204" charset="-122"/>
                <a:ea typeface="微软雅黑" panose="020B0503020204020204" charset="-122"/>
              </a:rPr>
              <a:t>               0  1  0  0</a:t>
            </a:r>
            <a:endParaRPr kumimoji="1" lang="en-US" altLang="zh-CN" sz="2400" b="1" dirty="0">
              <a:latin typeface="微软雅黑" panose="020B0503020204020204" charset="-122"/>
              <a:ea typeface="微软雅黑" panose="020B0503020204020204" charset="-122"/>
            </a:endParaRPr>
          </a:p>
          <a:p>
            <a:pPr eaLnBrk="1" fontAlgn="ctr" hangingPunct="1">
              <a:buClr>
                <a:schemeClr val="folHlink"/>
              </a:buClr>
              <a:buSzPct val="60000"/>
              <a:buFont typeface="Wingdings" panose="05000000000000000000" pitchFamily="2" charset="2"/>
              <a:buNone/>
            </a:pPr>
            <a:r>
              <a:rPr kumimoji="1" lang="en-US" altLang="zh-CN" sz="2400" b="1" dirty="0">
                <a:latin typeface="微软雅黑" panose="020B0503020204020204" charset="-122"/>
                <a:ea typeface="微软雅黑" panose="020B0503020204020204" charset="-122"/>
              </a:rPr>
              <a:t>A(G)=     0  0  1  1</a:t>
            </a:r>
            <a:endParaRPr kumimoji="1" lang="en-US" altLang="zh-CN" sz="2400" b="1" dirty="0">
              <a:latin typeface="微软雅黑" panose="020B0503020204020204" charset="-122"/>
              <a:ea typeface="微软雅黑" panose="020B0503020204020204" charset="-122"/>
            </a:endParaRPr>
          </a:p>
          <a:p>
            <a:pPr eaLnBrk="1" fontAlgn="ctr" hangingPunct="1">
              <a:buClr>
                <a:schemeClr val="folHlink"/>
              </a:buClr>
              <a:buSzPct val="60000"/>
              <a:buFont typeface="Wingdings" panose="05000000000000000000" pitchFamily="2" charset="2"/>
              <a:buNone/>
            </a:pPr>
            <a:r>
              <a:rPr kumimoji="1" lang="en-US" altLang="zh-CN" sz="2400" b="1" dirty="0">
                <a:latin typeface="微软雅黑" panose="020B0503020204020204" charset="-122"/>
                <a:ea typeface="微软雅黑" panose="020B0503020204020204" charset="-122"/>
              </a:rPr>
              <a:t>               1  1  0</a:t>
            </a:r>
            <a:r>
              <a:rPr kumimoji="1" lang="zh-CN" altLang="en-US" sz="2400" b="1" dirty="0">
                <a:latin typeface="微软雅黑" panose="020B0503020204020204" charset="-122"/>
                <a:ea typeface="微软雅黑" panose="020B0503020204020204" charset="-122"/>
              </a:rPr>
              <a:t> </a:t>
            </a:r>
            <a:r>
              <a:rPr kumimoji="1" lang="en-US" altLang="zh-CN" sz="2400" b="1" dirty="0">
                <a:latin typeface="微软雅黑" panose="020B0503020204020204" charset="-122"/>
                <a:ea typeface="微软雅黑" panose="020B0503020204020204" charset="-122"/>
              </a:rPr>
              <a:t> 1</a:t>
            </a:r>
            <a:endParaRPr kumimoji="1" lang="en-US" altLang="zh-CN" sz="2400" b="1" dirty="0">
              <a:latin typeface="微软雅黑" panose="020B0503020204020204" charset="-122"/>
              <a:ea typeface="微软雅黑" panose="020B0503020204020204" charset="-122"/>
            </a:endParaRPr>
          </a:p>
          <a:p>
            <a:pPr eaLnBrk="1" fontAlgn="ctr" hangingPunct="1">
              <a:buClr>
                <a:schemeClr val="folHlink"/>
              </a:buClr>
              <a:buSzPct val="60000"/>
              <a:buFont typeface="Wingdings" panose="05000000000000000000" pitchFamily="2" charset="2"/>
              <a:buNone/>
            </a:pPr>
            <a:r>
              <a:rPr kumimoji="1" lang="en-US" altLang="zh-CN" sz="2400" b="1" dirty="0">
                <a:latin typeface="微软雅黑" panose="020B0503020204020204" charset="-122"/>
                <a:ea typeface="微软雅黑" panose="020B0503020204020204" charset="-122"/>
              </a:rPr>
              <a:t>               1  0  0  0</a:t>
            </a:r>
            <a:endParaRPr kumimoji="1" lang="en-US" altLang="zh-CN" sz="2400" b="1" dirty="0">
              <a:latin typeface="微软雅黑" panose="020B0503020204020204" charset="-122"/>
              <a:ea typeface="微软雅黑" panose="020B0503020204020204" charset="-122"/>
            </a:endParaRPr>
          </a:p>
          <a:p>
            <a:pPr eaLnBrk="1" hangingPunct="1">
              <a:spcBef>
                <a:spcPct val="50000"/>
              </a:spcBef>
            </a:pPr>
            <a:endParaRPr kumimoji="1" lang="en-US" altLang="zh-CN" sz="2400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grpSp>
        <p:nvGrpSpPr>
          <p:cNvPr id="14" name="Group 18"/>
          <p:cNvGrpSpPr/>
          <p:nvPr/>
        </p:nvGrpSpPr>
        <p:grpSpPr bwMode="auto">
          <a:xfrm>
            <a:off x="7692860" y="1717355"/>
            <a:ext cx="1713624" cy="1532174"/>
            <a:chOff x="1488" y="2928"/>
            <a:chExt cx="960" cy="864"/>
          </a:xfrm>
        </p:grpSpPr>
        <p:sp>
          <p:nvSpPr>
            <p:cNvPr id="7178" name="AutoShape 11"/>
            <p:cNvSpPr/>
            <p:nvPr/>
          </p:nvSpPr>
          <p:spPr bwMode="auto">
            <a:xfrm>
              <a:off x="1488" y="2928"/>
              <a:ext cx="48" cy="864"/>
            </a:xfrm>
            <a:prstGeom prst="leftBracket">
              <a:avLst>
                <a:gd name="adj" fmla="val 150000"/>
              </a:avLst>
            </a:prstGeom>
            <a:noFill/>
            <a:ln w="9525">
              <a:solidFill>
                <a:schemeClr val="tx1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 sz="2400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7179" name="AutoShape 12"/>
            <p:cNvSpPr/>
            <p:nvPr/>
          </p:nvSpPr>
          <p:spPr bwMode="auto">
            <a:xfrm>
              <a:off x="2400" y="2928"/>
              <a:ext cx="48" cy="864"/>
            </a:xfrm>
            <a:prstGeom prst="rightBracket">
              <a:avLst>
                <a:gd name="adj" fmla="val 150000"/>
              </a:avLst>
            </a:prstGeom>
            <a:noFill/>
            <a:ln w="9525">
              <a:solidFill>
                <a:schemeClr val="tx1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 sz="2400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sp>
        <p:nvSpPr>
          <p:cNvPr id="6" name="TextBox 5"/>
          <p:cNvSpPr txBox="1"/>
          <p:nvPr/>
        </p:nvSpPr>
        <p:spPr>
          <a:xfrm>
            <a:off x="817034" y="1113368"/>
            <a:ext cx="800219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buFont typeface="Arial" panose="020B0604020202020204" pitchFamily="34" charset="0"/>
              <a:buNone/>
              <a:defRPr/>
            </a:pPr>
            <a:r>
              <a:rPr lang="zh-CN" altLang="en-US" sz="2400" b="1" dirty="0">
                <a:solidFill>
                  <a:srgbClr val="7030A0"/>
                </a:solidFill>
                <a:latin typeface="微软雅黑" panose="020B0503020204020204" charset="-122"/>
                <a:ea typeface="微软雅黑" panose="020B0503020204020204" charset="-122"/>
              </a:rPr>
              <a:t>例：</a:t>
            </a:r>
            <a:endParaRPr lang="zh-CN" altLang="en-US" sz="2400" b="1" dirty="0">
              <a:solidFill>
                <a:srgbClr val="7030A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" name="矩形 6"/>
          <p:cNvSpPr>
            <a:spLocks noChangeArrowheads="1"/>
          </p:cNvSpPr>
          <p:nvPr/>
        </p:nvSpPr>
        <p:spPr bwMode="auto">
          <a:xfrm>
            <a:off x="1102783" y="3831167"/>
            <a:ext cx="10065959" cy="23083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SzPct val="80000"/>
            </a:pPr>
            <a:r>
              <a:rPr lang="zh-CN" altLang="en-US" sz="2400" b="1" dirty="0">
                <a:solidFill>
                  <a:srgbClr val="0070C0"/>
                </a:solidFill>
                <a:latin typeface="微软雅黑" panose="020B0503020204020204" charset="-122"/>
                <a:ea typeface="微软雅黑" panose="020B0503020204020204" charset="-122"/>
              </a:rPr>
              <a:t> </a:t>
            </a:r>
            <a:r>
              <a:rPr lang="zh-CN" altLang="en-US" sz="2400" b="1" dirty="0">
                <a:solidFill>
                  <a:srgbClr val="EE623A"/>
                </a:solidFill>
                <a:latin typeface="微软雅黑" panose="020B0503020204020204" charset="-122"/>
                <a:ea typeface="微软雅黑" panose="020B0503020204020204" charset="-122"/>
              </a:rPr>
              <a:t>有向简单图</a:t>
            </a:r>
            <a:r>
              <a:rPr lang="en-US" altLang="zh-CN" sz="2400" b="1" i="1" dirty="0">
                <a:solidFill>
                  <a:srgbClr val="EE623A"/>
                </a:solidFill>
                <a:latin typeface="微软雅黑" panose="020B0503020204020204" charset="-122"/>
                <a:ea typeface="微软雅黑" panose="020B0503020204020204" charset="-122"/>
              </a:rPr>
              <a:t>G</a:t>
            </a:r>
            <a:r>
              <a:rPr lang="zh-CN" altLang="en-US" sz="2400" b="1" dirty="0">
                <a:solidFill>
                  <a:srgbClr val="EE623A"/>
                </a:solidFill>
                <a:latin typeface="微软雅黑" panose="020B0503020204020204" charset="-122"/>
                <a:ea typeface="微软雅黑" panose="020B0503020204020204" charset="-122"/>
              </a:rPr>
              <a:t>的邻接矩阵的性质</a:t>
            </a:r>
            <a:r>
              <a:rPr lang="en-US" altLang="zh-CN" sz="2400" b="1" dirty="0">
                <a:solidFill>
                  <a:srgbClr val="EE623A"/>
                </a:solidFill>
                <a:latin typeface="微软雅黑" panose="020B0503020204020204" charset="-122"/>
                <a:ea typeface="微软雅黑" panose="020B0503020204020204" charset="-122"/>
              </a:rPr>
              <a:t>:</a:t>
            </a:r>
            <a:endParaRPr lang="en-US" altLang="zh-CN" sz="2400" b="1" dirty="0">
              <a:solidFill>
                <a:srgbClr val="EE623A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en-US" altLang="zh-CN" sz="2400" b="1" dirty="0">
                <a:latin typeface="微软雅黑" panose="020B0503020204020204" charset="-122"/>
                <a:ea typeface="微软雅黑" panose="020B0503020204020204" charset="-122"/>
              </a:rPr>
              <a:t>     (1) </a:t>
            </a:r>
            <a:r>
              <a:rPr lang="en-US" altLang="zh-CN" sz="2400" b="1" i="1" dirty="0">
                <a:latin typeface="微软雅黑" panose="020B0503020204020204" charset="-122"/>
                <a:ea typeface="微软雅黑" panose="020B0503020204020204" charset="-122"/>
              </a:rPr>
              <a:t>A</a:t>
            </a:r>
            <a: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</a:rPr>
              <a:t>一般不对称。</a:t>
            </a:r>
            <a:endParaRPr lang="zh-CN" altLang="en-US" sz="2400" b="1" dirty="0"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en-US" altLang="zh-CN" sz="2400" b="1" dirty="0">
                <a:latin typeface="微软雅黑" panose="020B0503020204020204" charset="-122"/>
                <a:ea typeface="微软雅黑" panose="020B0503020204020204" charset="-122"/>
              </a:rPr>
              <a:t>     (2) </a:t>
            </a:r>
            <a: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</a:rPr>
              <a:t>第</a:t>
            </a:r>
            <a:r>
              <a:rPr lang="en-US" altLang="zh-CN" sz="2400" b="1" i="1" dirty="0" err="1">
                <a:latin typeface="微软雅黑" panose="020B0503020204020204" charset="-122"/>
                <a:ea typeface="微软雅黑" panose="020B0503020204020204" charset="-122"/>
              </a:rPr>
              <a:t>i</a:t>
            </a:r>
            <a:r>
              <a:rPr lang="en-US" altLang="zh-CN" sz="2400" b="1" i="1" dirty="0">
                <a:latin typeface="微软雅黑" panose="020B0503020204020204" charset="-122"/>
                <a:ea typeface="微软雅黑" panose="020B0503020204020204" charset="-122"/>
              </a:rPr>
              <a:t> </a:t>
            </a:r>
            <a: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</a:rPr>
              <a:t>行中值为</a:t>
            </a:r>
            <a:r>
              <a:rPr lang="en-US" altLang="zh-CN" sz="2400" b="1" dirty="0">
                <a:latin typeface="微软雅黑" panose="020B0503020204020204" charset="-122"/>
                <a:ea typeface="微软雅黑" panose="020B0503020204020204" charset="-122"/>
              </a:rPr>
              <a:t>1</a:t>
            </a:r>
            <a: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</a:rPr>
              <a:t>的元素的数目恰好为顶点</a:t>
            </a:r>
            <a:r>
              <a:rPr lang="en-US" altLang="zh-CN" sz="2400" b="1" i="1" dirty="0">
                <a:latin typeface="微软雅黑" panose="020B0503020204020204" charset="-122"/>
                <a:ea typeface="微软雅黑" panose="020B0503020204020204" charset="-122"/>
              </a:rPr>
              <a:t>v</a:t>
            </a:r>
            <a:r>
              <a:rPr lang="en-US" altLang="zh-CN" sz="2400" b="1" i="1" baseline="-25000" dirty="0">
                <a:latin typeface="微软雅黑" panose="020B0503020204020204" charset="-122"/>
                <a:ea typeface="微软雅黑" panose="020B0503020204020204" charset="-122"/>
              </a:rPr>
              <a:t>i  </a:t>
            </a:r>
            <a: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</a:rPr>
              <a:t>的出度。</a:t>
            </a:r>
            <a:endParaRPr lang="zh-CN" altLang="en-US" sz="2400" b="1" dirty="0"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en-US" altLang="zh-CN" sz="2400" b="1" dirty="0">
                <a:latin typeface="微软雅黑" panose="020B0503020204020204" charset="-122"/>
                <a:ea typeface="微软雅黑" panose="020B0503020204020204" charset="-122"/>
              </a:rPr>
              <a:t>     (3) </a:t>
            </a:r>
            <a: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</a:rPr>
              <a:t>第</a:t>
            </a:r>
            <a:r>
              <a:rPr lang="en-US" altLang="zh-CN" sz="2400" b="1" i="1" dirty="0" err="1">
                <a:latin typeface="微软雅黑" panose="020B0503020204020204" charset="-122"/>
                <a:ea typeface="微软雅黑" panose="020B0503020204020204" charset="-122"/>
              </a:rPr>
              <a:t>i</a:t>
            </a:r>
            <a:r>
              <a:rPr lang="en-US" altLang="zh-CN" sz="2400" b="1" i="1" dirty="0">
                <a:latin typeface="微软雅黑" panose="020B0503020204020204" charset="-122"/>
                <a:ea typeface="微软雅黑" panose="020B0503020204020204" charset="-122"/>
              </a:rPr>
              <a:t> </a:t>
            </a:r>
            <a: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</a:rPr>
              <a:t>列中值为</a:t>
            </a:r>
            <a:r>
              <a:rPr lang="en-US" altLang="zh-CN" sz="2400" b="1" dirty="0">
                <a:latin typeface="微软雅黑" panose="020B0503020204020204" charset="-122"/>
                <a:ea typeface="微软雅黑" panose="020B0503020204020204" charset="-122"/>
              </a:rPr>
              <a:t>1</a:t>
            </a:r>
            <a: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</a:rPr>
              <a:t>的元素的数目恰好为顶点</a:t>
            </a:r>
            <a:r>
              <a:rPr lang="en-US" altLang="zh-CN" sz="2400" b="1" i="1" dirty="0">
                <a:latin typeface="微软雅黑" panose="020B0503020204020204" charset="-122"/>
                <a:ea typeface="微软雅黑" panose="020B0503020204020204" charset="-122"/>
              </a:rPr>
              <a:t>v</a:t>
            </a:r>
            <a:r>
              <a:rPr lang="en-US" altLang="zh-CN" sz="2400" b="1" i="1" baseline="-25000" dirty="0">
                <a:latin typeface="微软雅黑" panose="020B0503020204020204" charset="-122"/>
                <a:ea typeface="微软雅黑" panose="020B0503020204020204" charset="-122"/>
              </a:rPr>
              <a:t>i  </a:t>
            </a:r>
            <a: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</a:rPr>
              <a:t>的入度。</a:t>
            </a:r>
            <a:endParaRPr lang="zh-CN" altLang="en-US" sz="2400" b="1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68783" y="1507405"/>
            <a:ext cx="2581464" cy="1853711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utoUpdateAnimBg="0"/>
      <p:bldP spid="7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Box 3"/>
          <p:cNvSpPr txBox="1">
            <a:spLocks noChangeArrowheads="1"/>
          </p:cNvSpPr>
          <p:nvPr/>
        </p:nvSpPr>
        <p:spPr bwMode="auto">
          <a:xfrm>
            <a:off x="660400" y="1341218"/>
            <a:ext cx="10972800" cy="11350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lnSpc>
                <a:spcPct val="150000"/>
              </a:lnSpc>
            </a:pPr>
            <a:r>
              <a:rPr kumimoji="1" lang="en-US" altLang="zh-CN" sz="2400" b="1" dirty="0">
                <a:solidFill>
                  <a:srgbClr val="7030A0"/>
                </a:solidFill>
                <a:latin typeface="微软雅黑" panose="020B0503020204020204" charset="-122"/>
                <a:ea typeface="微软雅黑" panose="020B0503020204020204" charset="-122"/>
              </a:rPr>
              <a:t>P300</a:t>
            </a:r>
            <a:r>
              <a:rPr kumimoji="1" lang="zh-CN" altLang="en-US" sz="2400" b="1" dirty="0">
                <a:solidFill>
                  <a:srgbClr val="7030A0"/>
                </a:solidFill>
                <a:latin typeface="微软雅黑" panose="020B0503020204020204" charset="-122"/>
                <a:ea typeface="微软雅黑" panose="020B0503020204020204" charset="-122"/>
              </a:rPr>
              <a:t>：</a:t>
            </a:r>
            <a:r>
              <a:rPr kumimoji="1" lang="en-US" altLang="zh-CN" sz="2400" b="1" dirty="0">
                <a:solidFill>
                  <a:srgbClr val="7030A0"/>
                </a:solidFill>
                <a:latin typeface="微软雅黑" panose="020B0503020204020204" charset="-122"/>
                <a:ea typeface="微软雅黑" panose="020B0503020204020204" charset="-122"/>
              </a:rPr>
              <a:t> (1) </a:t>
            </a:r>
            <a:r>
              <a:rPr kumimoji="1" lang="zh-CN" altLang="en-US" sz="2400" b="1" dirty="0">
                <a:latin typeface="微软雅黑" panose="020B0503020204020204" charset="-122"/>
                <a:ea typeface="微软雅黑" panose="020B0503020204020204" charset="-122"/>
              </a:rPr>
              <a:t>求出图中有向图的邻接矩阵</a:t>
            </a:r>
            <a:r>
              <a:rPr kumimoji="1" lang="en-US" altLang="zh-CN" sz="2400" b="1" dirty="0">
                <a:latin typeface="微软雅黑" panose="020B0503020204020204" charset="-122"/>
                <a:ea typeface="微软雅黑" panose="020B0503020204020204" charset="-122"/>
              </a:rPr>
              <a:t>A</a:t>
            </a:r>
            <a:r>
              <a:rPr kumimoji="1" lang="zh-CN" altLang="en-US" sz="2400" b="1" dirty="0">
                <a:latin typeface="微软雅黑" panose="020B0503020204020204" charset="-122"/>
                <a:ea typeface="微软雅黑" panose="020B0503020204020204" charset="-122"/>
              </a:rPr>
              <a:t>，找出从</a:t>
            </a:r>
            <a:r>
              <a:rPr kumimoji="1" lang="en-US" altLang="zh-CN" sz="2400" b="1" dirty="0">
                <a:latin typeface="微软雅黑" panose="020B0503020204020204" charset="-122"/>
                <a:ea typeface="微软雅黑" panose="020B0503020204020204" charset="-122"/>
              </a:rPr>
              <a:t>v</a:t>
            </a:r>
            <a:r>
              <a:rPr kumimoji="1" lang="en-US" altLang="zh-CN" sz="2400" b="1" baseline="-25000" dirty="0">
                <a:latin typeface="微软雅黑" panose="020B0503020204020204" charset="-122"/>
                <a:ea typeface="微软雅黑" panose="020B0503020204020204" charset="-122"/>
              </a:rPr>
              <a:t>1</a:t>
            </a:r>
            <a:r>
              <a:rPr kumimoji="1" lang="zh-CN" altLang="en-US" sz="2400" b="1" dirty="0">
                <a:latin typeface="微软雅黑" panose="020B0503020204020204" charset="-122"/>
                <a:ea typeface="微软雅黑" panose="020B0503020204020204" charset="-122"/>
              </a:rPr>
              <a:t>到</a:t>
            </a:r>
            <a:r>
              <a:rPr kumimoji="1" lang="en-US" altLang="zh-CN" sz="2400" b="1" dirty="0">
                <a:latin typeface="微软雅黑" panose="020B0503020204020204" charset="-122"/>
                <a:ea typeface="微软雅黑" panose="020B0503020204020204" charset="-122"/>
              </a:rPr>
              <a:t>v</a:t>
            </a:r>
            <a:r>
              <a:rPr kumimoji="1" lang="en-US" altLang="zh-CN" sz="2400" b="1" baseline="-25000" dirty="0">
                <a:latin typeface="微软雅黑" panose="020B0503020204020204" charset="-122"/>
                <a:ea typeface="微软雅黑" panose="020B0503020204020204" charset="-122"/>
              </a:rPr>
              <a:t>4</a:t>
            </a:r>
            <a:r>
              <a:rPr kumimoji="1" lang="zh-CN" altLang="en-US" sz="2400" b="1" dirty="0">
                <a:latin typeface="微软雅黑" panose="020B0503020204020204" charset="-122"/>
                <a:ea typeface="微软雅黑" panose="020B0503020204020204" charset="-122"/>
              </a:rPr>
              <a:t>长度为</a:t>
            </a:r>
            <a:r>
              <a:rPr kumimoji="1" lang="en-US" altLang="zh-CN" sz="2400" b="1" dirty="0">
                <a:latin typeface="微软雅黑" panose="020B0503020204020204" charset="-122"/>
                <a:ea typeface="微软雅黑" panose="020B0503020204020204" charset="-122"/>
              </a:rPr>
              <a:t>2</a:t>
            </a:r>
            <a:r>
              <a:rPr kumimoji="1" lang="zh-CN" altLang="en-US" sz="2400" b="1" dirty="0">
                <a:latin typeface="微软雅黑" panose="020B0503020204020204" charset="-122"/>
                <a:ea typeface="微软雅黑" panose="020B0503020204020204" charset="-122"/>
              </a:rPr>
              <a:t>和</a:t>
            </a:r>
            <a:r>
              <a:rPr kumimoji="1" lang="en-US" altLang="zh-CN" sz="2400" b="1" dirty="0">
                <a:latin typeface="微软雅黑" panose="020B0503020204020204" charset="-122"/>
                <a:ea typeface="微软雅黑" panose="020B0503020204020204" charset="-122"/>
              </a:rPr>
              <a:t>4</a:t>
            </a:r>
            <a:r>
              <a:rPr kumimoji="1" lang="zh-CN" altLang="en-US" sz="2400" b="1" dirty="0">
                <a:latin typeface="微软雅黑" panose="020B0503020204020204" charset="-122"/>
                <a:ea typeface="微软雅黑" panose="020B0503020204020204" charset="-122"/>
              </a:rPr>
              <a:t>的路，计算</a:t>
            </a:r>
            <a:r>
              <a:rPr kumimoji="1" lang="en-US" altLang="zh-CN" sz="2400" b="1" dirty="0">
                <a:latin typeface="微软雅黑" panose="020B0503020204020204" charset="-122"/>
                <a:ea typeface="微软雅黑" panose="020B0503020204020204" charset="-122"/>
              </a:rPr>
              <a:t>A</a:t>
            </a:r>
            <a:r>
              <a:rPr kumimoji="1" lang="en-US" altLang="zh-CN" sz="2400" b="1" baseline="30000" dirty="0">
                <a:latin typeface="微软雅黑" panose="020B0503020204020204" charset="-122"/>
                <a:ea typeface="微软雅黑" panose="020B0503020204020204" charset="-122"/>
              </a:rPr>
              <a:t>2</a:t>
            </a:r>
            <a:r>
              <a:rPr kumimoji="1" lang="zh-CN" altLang="en-US" sz="2400" b="1" dirty="0">
                <a:latin typeface="微软雅黑" panose="020B0503020204020204" charset="-122"/>
                <a:ea typeface="微软雅黑" panose="020B0503020204020204" charset="-122"/>
              </a:rPr>
              <a:t>，</a:t>
            </a:r>
            <a:r>
              <a:rPr kumimoji="1" lang="en-US" altLang="zh-CN" sz="2400" b="1" dirty="0">
                <a:latin typeface="微软雅黑" panose="020B0503020204020204" charset="-122"/>
                <a:ea typeface="微软雅黑" panose="020B0503020204020204" charset="-122"/>
              </a:rPr>
              <a:t>A</a:t>
            </a:r>
            <a:r>
              <a:rPr kumimoji="1" lang="en-US" altLang="zh-CN" sz="2400" b="1" baseline="30000" dirty="0">
                <a:latin typeface="微软雅黑" panose="020B0503020204020204" charset="-122"/>
                <a:ea typeface="微软雅黑" panose="020B0503020204020204" charset="-122"/>
              </a:rPr>
              <a:t>3</a:t>
            </a:r>
            <a:r>
              <a:rPr kumimoji="1" lang="zh-CN" altLang="en-US" sz="2400" b="1" dirty="0">
                <a:latin typeface="微软雅黑" panose="020B0503020204020204" charset="-122"/>
                <a:ea typeface="微软雅黑" panose="020B0503020204020204" charset="-122"/>
              </a:rPr>
              <a:t>，</a:t>
            </a:r>
            <a:r>
              <a:rPr kumimoji="1" lang="en-US" altLang="zh-CN" sz="2400" b="1" dirty="0">
                <a:latin typeface="微软雅黑" panose="020B0503020204020204" charset="-122"/>
                <a:ea typeface="微软雅黑" panose="020B0503020204020204" charset="-122"/>
              </a:rPr>
              <a:t>A</a:t>
            </a:r>
            <a:r>
              <a:rPr kumimoji="1" lang="en-US" altLang="zh-CN" sz="2400" b="1" baseline="30000" dirty="0">
                <a:latin typeface="微软雅黑" panose="020B0503020204020204" charset="-122"/>
                <a:ea typeface="微软雅黑" panose="020B0503020204020204" charset="-122"/>
              </a:rPr>
              <a:t>4</a:t>
            </a:r>
            <a:r>
              <a:rPr kumimoji="1" lang="zh-CN" altLang="en-US" sz="2400" b="1" dirty="0">
                <a:latin typeface="微软雅黑" panose="020B0503020204020204" charset="-122"/>
                <a:ea typeface="微软雅黑" panose="020B0503020204020204" charset="-122"/>
              </a:rPr>
              <a:t>来验证这结论。</a:t>
            </a:r>
            <a:endParaRPr kumimoji="1" lang="zh-CN" altLang="en-US" sz="2400" b="1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" name="Text Box 5"/>
          <p:cNvSpPr txBox="1">
            <a:spLocks noChangeArrowheads="1"/>
          </p:cNvSpPr>
          <p:nvPr/>
        </p:nvSpPr>
        <p:spPr bwMode="auto">
          <a:xfrm>
            <a:off x="660400" y="2410904"/>
            <a:ext cx="5598510" cy="168905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lnSpc>
                <a:spcPct val="150000"/>
              </a:lnSpc>
            </a:pPr>
            <a:r>
              <a:rPr kumimoji="1" lang="zh-CN" altLang="en-US" sz="2400" b="1" dirty="0">
                <a:solidFill>
                  <a:srgbClr val="E87071"/>
                </a:solidFill>
                <a:latin typeface="微软雅黑" panose="020B0503020204020204" charset="-122"/>
                <a:ea typeface="微软雅黑" panose="020B0503020204020204" charset="-122"/>
              </a:rPr>
              <a:t>解：</a:t>
            </a:r>
            <a:r>
              <a:rPr kumimoji="1" lang="zh-CN" altLang="en-US" sz="2400" b="1" dirty="0">
                <a:latin typeface="微软雅黑" panose="020B0503020204020204" charset="-122"/>
                <a:ea typeface="微软雅黑" panose="020B0503020204020204" charset="-122"/>
              </a:rPr>
              <a:t>从</a:t>
            </a:r>
            <a:r>
              <a:rPr kumimoji="1" lang="en-US" altLang="zh-CN" sz="2400" b="1" dirty="0">
                <a:latin typeface="微软雅黑" panose="020B0503020204020204" charset="-122"/>
                <a:ea typeface="微软雅黑" panose="020B0503020204020204" charset="-122"/>
              </a:rPr>
              <a:t>v</a:t>
            </a:r>
            <a:r>
              <a:rPr kumimoji="1" lang="en-US" altLang="zh-CN" sz="2400" b="1" baseline="-25000" dirty="0">
                <a:latin typeface="微软雅黑" panose="020B0503020204020204" charset="-122"/>
                <a:ea typeface="微软雅黑" panose="020B0503020204020204" charset="-122"/>
              </a:rPr>
              <a:t>1</a:t>
            </a:r>
            <a:r>
              <a:rPr kumimoji="1" lang="zh-CN" altLang="en-US" sz="2400" b="1" dirty="0">
                <a:latin typeface="微软雅黑" panose="020B0503020204020204" charset="-122"/>
                <a:ea typeface="微软雅黑" panose="020B0503020204020204" charset="-122"/>
              </a:rPr>
              <a:t>到</a:t>
            </a:r>
            <a:r>
              <a:rPr kumimoji="1" lang="en-US" altLang="zh-CN" sz="2400" b="1" dirty="0">
                <a:latin typeface="微软雅黑" panose="020B0503020204020204" charset="-122"/>
                <a:ea typeface="微软雅黑" panose="020B0503020204020204" charset="-122"/>
              </a:rPr>
              <a:t>v</a:t>
            </a:r>
            <a:r>
              <a:rPr kumimoji="1" lang="en-US" altLang="zh-CN" sz="2400" b="1" baseline="-25000" dirty="0">
                <a:latin typeface="微软雅黑" panose="020B0503020204020204" charset="-122"/>
                <a:ea typeface="微软雅黑" panose="020B0503020204020204" charset="-122"/>
              </a:rPr>
              <a:t>4</a:t>
            </a:r>
            <a:r>
              <a:rPr kumimoji="1" lang="zh-CN" altLang="en-US" sz="2400" b="1" dirty="0">
                <a:latin typeface="微软雅黑" panose="020B0503020204020204" charset="-122"/>
                <a:ea typeface="微软雅黑" panose="020B0503020204020204" charset="-122"/>
              </a:rPr>
              <a:t>长度为</a:t>
            </a:r>
            <a:r>
              <a:rPr kumimoji="1" lang="en-US" altLang="zh-CN" sz="2400" b="1" dirty="0">
                <a:latin typeface="微软雅黑" panose="020B0503020204020204" charset="-122"/>
                <a:ea typeface="微软雅黑" panose="020B0503020204020204" charset="-122"/>
              </a:rPr>
              <a:t>2</a:t>
            </a:r>
            <a:r>
              <a:rPr kumimoji="1" lang="zh-CN" altLang="en-US" sz="2400" b="1" dirty="0">
                <a:latin typeface="微软雅黑" panose="020B0503020204020204" charset="-122"/>
                <a:ea typeface="微软雅黑" panose="020B0503020204020204" charset="-122"/>
              </a:rPr>
              <a:t>的路为：</a:t>
            </a:r>
            <a:r>
              <a:rPr kumimoji="1" lang="en-US" altLang="zh-CN" sz="2400" b="1" dirty="0">
                <a:solidFill>
                  <a:srgbClr val="EE623A"/>
                </a:solidFill>
                <a:latin typeface="微软雅黑" panose="020B0503020204020204" charset="-122"/>
                <a:ea typeface="微软雅黑" panose="020B0503020204020204" charset="-122"/>
              </a:rPr>
              <a:t>v</a:t>
            </a:r>
            <a:r>
              <a:rPr kumimoji="1" lang="en-US" altLang="zh-CN" sz="2400" b="1" baseline="-25000" dirty="0">
                <a:solidFill>
                  <a:srgbClr val="EE623A"/>
                </a:solidFill>
                <a:latin typeface="微软雅黑" panose="020B0503020204020204" charset="-122"/>
                <a:ea typeface="微软雅黑" panose="020B0503020204020204" charset="-122"/>
              </a:rPr>
              <a:t>1 </a:t>
            </a:r>
            <a:r>
              <a:rPr kumimoji="1" lang="en-US" altLang="zh-CN" sz="2400" b="1" dirty="0">
                <a:solidFill>
                  <a:srgbClr val="EE623A"/>
                </a:solidFill>
                <a:latin typeface="微软雅黑" panose="020B0503020204020204" charset="-122"/>
                <a:ea typeface="微软雅黑" panose="020B0503020204020204" charset="-122"/>
              </a:rPr>
              <a:t>v</a:t>
            </a:r>
            <a:r>
              <a:rPr kumimoji="1" lang="en-US" altLang="zh-CN" sz="2400" b="1" baseline="-25000" dirty="0">
                <a:solidFill>
                  <a:srgbClr val="EE623A"/>
                </a:solidFill>
                <a:latin typeface="微软雅黑" panose="020B0503020204020204" charset="-122"/>
                <a:ea typeface="微软雅黑" panose="020B0503020204020204" charset="-122"/>
              </a:rPr>
              <a:t>2</a:t>
            </a:r>
            <a:r>
              <a:rPr kumimoji="1" lang="en-US" altLang="zh-CN" sz="2400" b="1" dirty="0">
                <a:solidFill>
                  <a:srgbClr val="EE623A"/>
                </a:solidFill>
                <a:latin typeface="微软雅黑" panose="020B0503020204020204" charset="-122"/>
                <a:ea typeface="微软雅黑" panose="020B0503020204020204" charset="-122"/>
              </a:rPr>
              <a:t> v</a:t>
            </a:r>
            <a:r>
              <a:rPr kumimoji="1" lang="en-US" altLang="zh-CN" sz="2400" b="1" baseline="-25000" dirty="0">
                <a:solidFill>
                  <a:srgbClr val="EE623A"/>
                </a:solidFill>
                <a:latin typeface="微软雅黑" panose="020B0503020204020204" charset="-122"/>
                <a:ea typeface="微软雅黑" panose="020B0503020204020204" charset="-122"/>
              </a:rPr>
              <a:t>4</a:t>
            </a:r>
            <a:endParaRPr kumimoji="1" lang="en-US" altLang="zh-CN" sz="2400" b="1" dirty="0">
              <a:solidFill>
                <a:srgbClr val="EE623A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eaLnBrk="1" hangingPunct="1">
              <a:lnSpc>
                <a:spcPct val="150000"/>
              </a:lnSpc>
            </a:pPr>
            <a:r>
              <a:rPr kumimoji="1" lang="zh-CN" altLang="en-US" sz="2400" b="1" dirty="0">
                <a:latin typeface="微软雅黑" panose="020B0503020204020204" charset="-122"/>
                <a:ea typeface="微软雅黑" panose="020B0503020204020204" charset="-122"/>
              </a:rPr>
              <a:t>从</a:t>
            </a:r>
            <a:r>
              <a:rPr kumimoji="1" lang="en-US" altLang="zh-CN" sz="2400" b="1" dirty="0">
                <a:latin typeface="微软雅黑" panose="020B0503020204020204" charset="-122"/>
                <a:ea typeface="微软雅黑" panose="020B0503020204020204" charset="-122"/>
              </a:rPr>
              <a:t>v</a:t>
            </a:r>
            <a:r>
              <a:rPr kumimoji="1" lang="en-US" altLang="zh-CN" sz="2400" b="1" baseline="-25000" dirty="0">
                <a:latin typeface="微软雅黑" panose="020B0503020204020204" charset="-122"/>
                <a:ea typeface="微软雅黑" panose="020B0503020204020204" charset="-122"/>
              </a:rPr>
              <a:t>1</a:t>
            </a:r>
            <a:r>
              <a:rPr kumimoji="1" lang="zh-CN" altLang="en-US" sz="2400" b="1" dirty="0">
                <a:latin typeface="微软雅黑" panose="020B0503020204020204" charset="-122"/>
                <a:ea typeface="微软雅黑" panose="020B0503020204020204" charset="-122"/>
              </a:rPr>
              <a:t>到</a:t>
            </a:r>
            <a:r>
              <a:rPr kumimoji="1" lang="en-US" altLang="zh-CN" sz="2400" b="1" dirty="0">
                <a:latin typeface="微软雅黑" panose="020B0503020204020204" charset="-122"/>
                <a:ea typeface="微软雅黑" panose="020B0503020204020204" charset="-122"/>
              </a:rPr>
              <a:t>v</a:t>
            </a:r>
            <a:r>
              <a:rPr kumimoji="1" lang="en-US" altLang="zh-CN" sz="2400" b="1" baseline="-25000" dirty="0">
                <a:latin typeface="微软雅黑" panose="020B0503020204020204" charset="-122"/>
                <a:ea typeface="微软雅黑" panose="020B0503020204020204" charset="-122"/>
              </a:rPr>
              <a:t>4</a:t>
            </a:r>
            <a:r>
              <a:rPr kumimoji="1" lang="zh-CN" altLang="en-US" sz="2400" b="1" dirty="0">
                <a:latin typeface="微软雅黑" panose="020B0503020204020204" charset="-122"/>
                <a:ea typeface="微软雅黑" panose="020B0503020204020204" charset="-122"/>
              </a:rPr>
              <a:t>长度为</a:t>
            </a:r>
            <a:r>
              <a:rPr kumimoji="1" lang="en-US" altLang="zh-CN" sz="2400" b="1" dirty="0">
                <a:latin typeface="微软雅黑" panose="020B0503020204020204" charset="-122"/>
                <a:ea typeface="微软雅黑" panose="020B0503020204020204" charset="-122"/>
              </a:rPr>
              <a:t>4</a:t>
            </a:r>
            <a:r>
              <a:rPr kumimoji="1" lang="zh-CN" altLang="en-US" sz="2400" b="1" dirty="0">
                <a:latin typeface="微软雅黑" panose="020B0503020204020204" charset="-122"/>
                <a:ea typeface="微软雅黑" panose="020B0503020204020204" charset="-122"/>
              </a:rPr>
              <a:t>的路有：</a:t>
            </a:r>
            <a:r>
              <a:rPr kumimoji="1" lang="en-US" altLang="zh-CN" sz="2400" b="1" dirty="0">
                <a:solidFill>
                  <a:srgbClr val="EE623A"/>
                </a:solidFill>
                <a:latin typeface="微软雅黑" panose="020B0503020204020204" charset="-122"/>
                <a:ea typeface="微软雅黑" panose="020B0503020204020204" charset="-122"/>
              </a:rPr>
              <a:t>v</a:t>
            </a:r>
            <a:r>
              <a:rPr kumimoji="1" lang="en-US" altLang="zh-CN" sz="2400" b="1" baseline="-25000" dirty="0">
                <a:solidFill>
                  <a:srgbClr val="EE623A"/>
                </a:solidFill>
                <a:latin typeface="微软雅黑" panose="020B0503020204020204" charset="-122"/>
                <a:ea typeface="微软雅黑" panose="020B0503020204020204" charset="-122"/>
              </a:rPr>
              <a:t>1 </a:t>
            </a:r>
            <a:r>
              <a:rPr kumimoji="1" lang="en-US" altLang="zh-CN" sz="2400" b="1" dirty="0">
                <a:solidFill>
                  <a:srgbClr val="EE623A"/>
                </a:solidFill>
                <a:latin typeface="微软雅黑" panose="020B0503020204020204" charset="-122"/>
                <a:ea typeface="微软雅黑" panose="020B0503020204020204" charset="-122"/>
              </a:rPr>
              <a:t>v</a:t>
            </a:r>
            <a:r>
              <a:rPr kumimoji="1" lang="en-US" altLang="zh-CN" sz="2400" b="1" baseline="-25000" dirty="0">
                <a:solidFill>
                  <a:srgbClr val="EE623A"/>
                </a:solidFill>
                <a:latin typeface="微软雅黑" panose="020B0503020204020204" charset="-122"/>
                <a:ea typeface="微软雅黑" panose="020B0503020204020204" charset="-122"/>
              </a:rPr>
              <a:t>2</a:t>
            </a:r>
            <a:r>
              <a:rPr kumimoji="1" lang="en-US" altLang="zh-CN" sz="2400" b="1" dirty="0">
                <a:solidFill>
                  <a:srgbClr val="EE623A"/>
                </a:solidFill>
                <a:latin typeface="微软雅黑" panose="020B0503020204020204" charset="-122"/>
                <a:ea typeface="微软雅黑" panose="020B0503020204020204" charset="-122"/>
              </a:rPr>
              <a:t> v</a:t>
            </a:r>
            <a:r>
              <a:rPr kumimoji="1" lang="en-US" altLang="zh-CN" sz="2400" b="1" baseline="-25000" dirty="0">
                <a:solidFill>
                  <a:srgbClr val="EE623A"/>
                </a:solidFill>
                <a:latin typeface="微软雅黑" panose="020B0503020204020204" charset="-122"/>
                <a:ea typeface="微软雅黑" panose="020B0503020204020204" charset="-122"/>
              </a:rPr>
              <a:t>4 </a:t>
            </a:r>
            <a:r>
              <a:rPr kumimoji="1" lang="en-US" altLang="zh-CN" sz="2400" b="1" dirty="0">
                <a:solidFill>
                  <a:srgbClr val="EE623A"/>
                </a:solidFill>
                <a:latin typeface="微软雅黑" panose="020B0503020204020204" charset="-122"/>
                <a:ea typeface="微软雅黑" panose="020B0503020204020204" charset="-122"/>
              </a:rPr>
              <a:t>v</a:t>
            </a:r>
            <a:r>
              <a:rPr kumimoji="1" lang="en-US" altLang="zh-CN" sz="2400" b="1" baseline="-25000" dirty="0">
                <a:solidFill>
                  <a:srgbClr val="EE623A"/>
                </a:solidFill>
                <a:latin typeface="微软雅黑" panose="020B0503020204020204" charset="-122"/>
                <a:ea typeface="微软雅黑" panose="020B0503020204020204" charset="-122"/>
              </a:rPr>
              <a:t>2</a:t>
            </a:r>
            <a:r>
              <a:rPr kumimoji="1" lang="en-US" altLang="zh-CN" sz="2400" b="1" dirty="0">
                <a:solidFill>
                  <a:srgbClr val="EE623A"/>
                </a:solidFill>
                <a:latin typeface="微软雅黑" panose="020B0503020204020204" charset="-122"/>
                <a:ea typeface="微软雅黑" panose="020B0503020204020204" charset="-122"/>
              </a:rPr>
              <a:t> v</a:t>
            </a:r>
            <a:r>
              <a:rPr kumimoji="1" lang="en-US" altLang="zh-CN" sz="2400" b="1" baseline="-25000" dirty="0">
                <a:solidFill>
                  <a:srgbClr val="EE623A"/>
                </a:solidFill>
                <a:latin typeface="微软雅黑" panose="020B0503020204020204" charset="-122"/>
                <a:ea typeface="微软雅黑" panose="020B0503020204020204" charset="-122"/>
              </a:rPr>
              <a:t>4</a:t>
            </a:r>
            <a:r>
              <a:rPr kumimoji="1" lang="zh-CN" altLang="en-US" sz="2400" b="1" dirty="0">
                <a:solidFill>
                  <a:srgbClr val="EE623A"/>
                </a:solidFill>
                <a:latin typeface="微软雅黑" panose="020B0503020204020204" charset="-122"/>
                <a:ea typeface="微软雅黑" panose="020B0503020204020204" charset="-122"/>
              </a:rPr>
              <a:t>，</a:t>
            </a:r>
            <a:r>
              <a:rPr kumimoji="1" lang="en-US" altLang="zh-CN" sz="2400" b="1" baseline="-25000" dirty="0">
                <a:solidFill>
                  <a:srgbClr val="EE623A"/>
                </a:solidFill>
                <a:latin typeface="微软雅黑" panose="020B0503020204020204" charset="-122"/>
                <a:ea typeface="微软雅黑" panose="020B0503020204020204" charset="-122"/>
              </a:rPr>
              <a:t> </a:t>
            </a:r>
            <a:endParaRPr kumimoji="1" lang="en-US" altLang="zh-CN" sz="2400" b="1" baseline="-25000" dirty="0">
              <a:solidFill>
                <a:srgbClr val="EE623A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eaLnBrk="1" hangingPunct="1">
              <a:lnSpc>
                <a:spcPct val="150000"/>
              </a:lnSpc>
            </a:pPr>
            <a:r>
              <a:rPr kumimoji="1" lang="en-US" altLang="zh-CN" sz="2400" b="1" dirty="0">
                <a:solidFill>
                  <a:srgbClr val="EE623A"/>
                </a:solidFill>
                <a:latin typeface="微软雅黑" panose="020B0503020204020204" charset="-122"/>
                <a:ea typeface="微软雅黑" panose="020B0503020204020204" charset="-122"/>
              </a:rPr>
              <a:t>v</a:t>
            </a:r>
            <a:r>
              <a:rPr kumimoji="1" lang="en-US" altLang="zh-CN" sz="2400" b="1" baseline="-25000" dirty="0">
                <a:solidFill>
                  <a:srgbClr val="EE623A"/>
                </a:solidFill>
                <a:latin typeface="微软雅黑" panose="020B0503020204020204" charset="-122"/>
                <a:ea typeface="微软雅黑" panose="020B0503020204020204" charset="-122"/>
              </a:rPr>
              <a:t>1 </a:t>
            </a:r>
            <a:r>
              <a:rPr kumimoji="1" lang="en-US" altLang="zh-CN" sz="2400" b="1" dirty="0">
                <a:solidFill>
                  <a:srgbClr val="EE623A"/>
                </a:solidFill>
                <a:latin typeface="微软雅黑" panose="020B0503020204020204" charset="-122"/>
                <a:ea typeface="微软雅黑" panose="020B0503020204020204" charset="-122"/>
              </a:rPr>
              <a:t>v</a:t>
            </a:r>
            <a:r>
              <a:rPr kumimoji="1" lang="en-US" altLang="zh-CN" sz="2400" b="1" baseline="-25000" dirty="0">
                <a:solidFill>
                  <a:srgbClr val="EE623A"/>
                </a:solidFill>
                <a:latin typeface="微软雅黑" panose="020B0503020204020204" charset="-122"/>
                <a:ea typeface="微软雅黑" panose="020B0503020204020204" charset="-122"/>
              </a:rPr>
              <a:t>2</a:t>
            </a:r>
            <a:r>
              <a:rPr kumimoji="1" lang="en-US" altLang="zh-CN" sz="2400" b="1" dirty="0">
                <a:solidFill>
                  <a:srgbClr val="EE623A"/>
                </a:solidFill>
                <a:latin typeface="微软雅黑" panose="020B0503020204020204" charset="-122"/>
                <a:ea typeface="微软雅黑" panose="020B0503020204020204" charset="-122"/>
              </a:rPr>
              <a:t> v</a:t>
            </a:r>
            <a:r>
              <a:rPr kumimoji="1" lang="en-US" altLang="zh-CN" sz="2400" b="1" baseline="-25000" dirty="0">
                <a:solidFill>
                  <a:srgbClr val="EE623A"/>
                </a:solidFill>
                <a:latin typeface="微软雅黑" panose="020B0503020204020204" charset="-122"/>
                <a:ea typeface="微软雅黑" panose="020B0503020204020204" charset="-122"/>
              </a:rPr>
              <a:t>3 </a:t>
            </a:r>
            <a:r>
              <a:rPr kumimoji="1" lang="en-US" altLang="zh-CN" sz="2400" b="1" dirty="0">
                <a:solidFill>
                  <a:srgbClr val="EE623A"/>
                </a:solidFill>
                <a:latin typeface="微软雅黑" panose="020B0503020204020204" charset="-122"/>
                <a:ea typeface="微软雅黑" panose="020B0503020204020204" charset="-122"/>
              </a:rPr>
              <a:t>v</a:t>
            </a:r>
            <a:r>
              <a:rPr kumimoji="1" lang="en-US" altLang="zh-CN" sz="2400" b="1" baseline="-25000" dirty="0">
                <a:solidFill>
                  <a:srgbClr val="EE623A"/>
                </a:solidFill>
                <a:latin typeface="微软雅黑" panose="020B0503020204020204" charset="-122"/>
                <a:ea typeface="微软雅黑" panose="020B0503020204020204" charset="-122"/>
              </a:rPr>
              <a:t>2 </a:t>
            </a:r>
            <a:r>
              <a:rPr kumimoji="1" lang="en-US" altLang="zh-CN" sz="2400" b="1" dirty="0">
                <a:solidFill>
                  <a:srgbClr val="EE623A"/>
                </a:solidFill>
                <a:latin typeface="微软雅黑" panose="020B0503020204020204" charset="-122"/>
                <a:ea typeface="微软雅黑" panose="020B0503020204020204" charset="-122"/>
              </a:rPr>
              <a:t>v</a:t>
            </a:r>
            <a:r>
              <a:rPr kumimoji="1" lang="en-US" altLang="zh-CN" sz="2400" b="1" baseline="-25000" dirty="0">
                <a:solidFill>
                  <a:srgbClr val="EE623A"/>
                </a:solidFill>
                <a:latin typeface="微软雅黑" panose="020B0503020204020204" charset="-122"/>
                <a:ea typeface="微软雅黑" panose="020B0503020204020204" charset="-122"/>
              </a:rPr>
              <a:t>4</a:t>
            </a:r>
            <a:r>
              <a:rPr kumimoji="1" lang="zh-CN" altLang="en-US" sz="2400" b="1" dirty="0">
                <a:solidFill>
                  <a:srgbClr val="EE623A"/>
                </a:solidFill>
                <a:latin typeface="微软雅黑" panose="020B0503020204020204" charset="-122"/>
                <a:ea typeface="微软雅黑" panose="020B0503020204020204" charset="-122"/>
              </a:rPr>
              <a:t>，</a:t>
            </a:r>
            <a:r>
              <a:rPr kumimoji="1" lang="en-US" altLang="zh-CN" sz="2400" b="1" dirty="0">
                <a:solidFill>
                  <a:srgbClr val="EE623A"/>
                </a:solidFill>
                <a:latin typeface="微软雅黑" panose="020B0503020204020204" charset="-122"/>
                <a:ea typeface="微软雅黑" panose="020B0503020204020204" charset="-122"/>
              </a:rPr>
              <a:t>v</a:t>
            </a:r>
            <a:r>
              <a:rPr kumimoji="1" lang="en-US" altLang="zh-CN" sz="2400" b="1" baseline="-25000" dirty="0">
                <a:solidFill>
                  <a:srgbClr val="EE623A"/>
                </a:solidFill>
                <a:latin typeface="微软雅黑" panose="020B0503020204020204" charset="-122"/>
                <a:ea typeface="微软雅黑" panose="020B0503020204020204" charset="-122"/>
              </a:rPr>
              <a:t>1 </a:t>
            </a:r>
            <a:r>
              <a:rPr kumimoji="1" lang="en-US" altLang="zh-CN" sz="2400" b="1" dirty="0">
                <a:solidFill>
                  <a:srgbClr val="EE623A"/>
                </a:solidFill>
                <a:latin typeface="微软雅黑" panose="020B0503020204020204" charset="-122"/>
                <a:ea typeface="微软雅黑" panose="020B0503020204020204" charset="-122"/>
              </a:rPr>
              <a:t>v</a:t>
            </a:r>
            <a:r>
              <a:rPr kumimoji="1" lang="en-US" altLang="zh-CN" sz="2400" b="1" baseline="-25000" dirty="0">
                <a:solidFill>
                  <a:srgbClr val="EE623A"/>
                </a:solidFill>
                <a:latin typeface="微软雅黑" panose="020B0503020204020204" charset="-122"/>
                <a:ea typeface="微软雅黑" panose="020B0503020204020204" charset="-122"/>
              </a:rPr>
              <a:t>4 </a:t>
            </a:r>
            <a:r>
              <a:rPr kumimoji="1" lang="en-US" altLang="zh-CN" sz="2400" b="1" dirty="0">
                <a:solidFill>
                  <a:srgbClr val="EE623A"/>
                </a:solidFill>
                <a:latin typeface="微软雅黑" panose="020B0503020204020204" charset="-122"/>
                <a:ea typeface="微软雅黑" panose="020B0503020204020204" charset="-122"/>
              </a:rPr>
              <a:t>v</a:t>
            </a:r>
            <a:r>
              <a:rPr kumimoji="1" lang="en-US" altLang="zh-CN" sz="2400" b="1" baseline="-25000" dirty="0">
                <a:solidFill>
                  <a:srgbClr val="EE623A"/>
                </a:solidFill>
                <a:latin typeface="微软雅黑" panose="020B0503020204020204" charset="-122"/>
                <a:ea typeface="微软雅黑" panose="020B0503020204020204" charset="-122"/>
              </a:rPr>
              <a:t>2 </a:t>
            </a:r>
            <a:r>
              <a:rPr kumimoji="1" lang="en-US" altLang="zh-CN" sz="2400" b="1" dirty="0">
                <a:solidFill>
                  <a:srgbClr val="EE623A"/>
                </a:solidFill>
                <a:latin typeface="微软雅黑" panose="020B0503020204020204" charset="-122"/>
                <a:ea typeface="微软雅黑" panose="020B0503020204020204" charset="-122"/>
              </a:rPr>
              <a:t>v</a:t>
            </a:r>
            <a:r>
              <a:rPr kumimoji="1" lang="en-US" altLang="zh-CN" sz="2400" b="1" baseline="-25000" dirty="0">
                <a:solidFill>
                  <a:srgbClr val="EE623A"/>
                </a:solidFill>
                <a:latin typeface="微软雅黑" panose="020B0503020204020204" charset="-122"/>
                <a:ea typeface="微软雅黑" panose="020B0503020204020204" charset="-122"/>
              </a:rPr>
              <a:t>3  </a:t>
            </a:r>
            <a:r>
              <a:rPr kumimoji="1" lang="en-US" altLang="zh-CN" sz="2400" b="1" dirty="0">
                <a:solidFill>
                  <a:srgbClr val="EE623A"/>
                </a:solidFill>
                <a:latin typeface="微软雅黑" panose="020B0503020204020204" charset="-122"/>
                <a:ea typeface="微软雅黑" panose="020B0503020204020204" charset="-122"/>
              </a:rPr>
              <a:t>v</a:t>
            </a:r>
            <a:r>
              <a:rPr kumimoji="1" lang="en-US" altLang="zh-CN" sz="2400" b="1" baseline="-25000" dirty="0">
                <a:solidFill>
                  <a:srgbClr val="EE623A"/>
                </a:solidFill>
                <a:latin typeface="微软雅黑" panose="020B0503020204020204" charset="-122"/>
                <a:ea typeface="微软雅黑" panose="020B0503020204020204" charset="-122"/>
              </a:rPr>
              <a:t>4 </a:t>
            </a:r>
            <a:endParaRPr kumimoji="1" lang="en-US" altLang="zh-CN" sz="2400" b="1" baseline="-25000" dirty="0">
              <a:solidFill>
                <a:srgbClr val="EE623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grpSp>
        <p:nvGrpSpPr>
          <p:cNvPr id="11" name="Group 26"/>
          <p:cNvGrpSpPr/>
          <p:nvPr/>
        </p:nvGrpSpPr>
        <p:grpSpPr bwMode="auto">
          <a:xfrm>
            <a:off x="669924" y="4513468"/>
            <a:ext cx="2959100" cy="1494365"/>
            <a:chOff x="528" y="1632"/>
            <a:chExt cx="1398" cy="706"/>
          </a:xfrm>
        </p:grpSpPr>
        <p:sp>
          <p:nvSpPr>
            <p:cNvPr id="11287" name="Text Box 6"/>
            <p:cNvSpPr txBox="1">
              <a:spLocks noChangeArrowheads="1"/>
            </p:cNvSpPr>
            <p:nvPr/>
          </p:nvSpPr>
          <p:spPr bwMode="auto">
            <a:xfrm>
              <a:off x="528" y="1920"/>
              <a:ext cx="384" cy="21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kumimoji="1" lang="en-US" altLang="zh-CN" sz="2400" b="1">
                  <a:latin typeface="微软雅黑" panose="020B0503020204020204" charset="-122"/>
                  <a:ea typeface="微软雅黑" panose="020B0503020204020204" charset="-122"/>
                </a:rPr>
                <a:t>A=</a:t>
              </a:r>
              <a:endParaRPr kumimoji="1" lang="en-US" altLang="zh-CN" sz="2400" b="1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grpSp>
          <p:nvGrpSpPr>
            <p:cNvPr id="11288" name="Group 22"/>
            <p:cNvGrpSpPr/>
            <p:nvPr/>
          </p:nvGrpSpPr>
          <p:grpSpPr bwMode="auto">
            <a:xfrm>
              <a:off x="774" y="1632"/>
              <a:ext cx="1152" cy="706"/>
              <a:chOff x="774" y="1632"/>
              <a:chExt cx="1152" cy="706"/>
            </a:xfrm>
          </p:grpSpPr>
          <p:sp>
            <p:nvSpPr>
              <p:cNvPr id="11289" name="Text Box 4"/>
              <p:cNvSpPr txBox="1">
                <a:spLocks noChangeArrowheads="1"/>
              </p:cNvSpPr>
              <p:nvPr/>
            </p:nvSpPr>
            <p:spPr bwMode="auto">
              <a:xfrm>
                <a:off x="774" y="1632"/>
                <a:ext cx="1152" cy="70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kumimoji="1" lang="en-US" altLang="zh-CN" sz="2400" b="1" dirty="0">
                    <a:latin typeface="微软雅黑" panose="020B0503020204020204" charset="-122"/>
                    <a:ea typeface="微软雅黑" panose="020B0503020204020204" charset="-122"/>
                  </a:rPr>
                  <a:t>  0  1  0  1</a:t>
                </a:r>
                <a:endParaRPr kumimoji="1" lang="en-US" altLang="zh-CN" sz="2400" b="1" dirty="0">
                  <a:latin typeface="微软雅黑" panose="020B0503020204020204" charset="-122"/>
                  <a:ea typeface="微软雅黑" panose="020B0503020204020204" charset="-122"/>
                </a:endParaRPr>
              </a:p>
              <a:p>
                <a:pPr eaLnBrk="1" hangingPunct="1">
                  <a:lnSpc>
                    <a:spcPct val="40000"/>
                  </a:lnSpc>
                  <a:spcBef>
                    <a:spcPct val="50000"/>
                  </a:spcBef>
                </a:pPr>
                <a:r>
                  <a:rPr kumimoji="1" lang="en-US" altLang="zh-CN" sz="2400" b="1" dirty="0">
                    <a:latin typeface="微软雅黑" panose="020B0503020204020204" charset="-122"/>
                    <a:ea typeface="微软雅黑" panose="020B0503020204020204" charset="-122"/>
                  </a:rPr>
                  <a:t>  0  0  1  1</a:t>
                </a:r>
                <a:endParaRPr kumimoji="1" lang="en-US" altLang="zh-CN" sz="2400" b="1" dirty="0">
                  <a:latin typeface="微软雅黑" panose="020B0503020204020204" charset="-122"/>
                  <a:ea typeface="微软雅黑" panose="020B0503020204020204" charset="-122"/>
                </a:endParaRPr>
              </a:p>
              <a:p>
                <a:pPr eaLnBrk="1" hangingPunct="1">
                  <a:lnSpc>
                    <a:spcPct val="40000"/>
                  </a:lnSpc>
                  <a:spcBef>
                    <a:spcPct val="50000"/>
                  </a:spcBef>
                </a:pPr>
                <a:r>
                  <a:rPr kumimoji="1" lang="en-US" altLang="zh-CN" sz="2400" b="1" dirty="0">
                    <a:latin typeface="微软雅黑" panose="020B0503020204020204" charset="-122"/>
                    <a:ea typeface="微软雅黑" panose="020B0503020204020204" charset="-122"/>
                  </a:rPr>
                  <a:t>  0  1  0  1</a:t>
                </a:r>
                <a:endParaRPr kumimoji="1" lang="en-US" altLang="zh-CN" sz="2400" b="1" dirty="0">
                  <a:latin typeface="微软雅黑" panose="020B0503020204020204" charset="-122"/>
                  <a:ea typeface="微软雅黑" panose="020B0503020204020204" charset="-122"/>
                </a:endParaRPr>
              </a:p>
              <a:p>
                <a:pPr eaLnBrk="1" hangingPunct="1">
                  <a:lnSpc>
                    <a:spcPct val="40000"/>
                  </a:lnSpc>
                  <a:spcBef>
                    <a:spcPct val="50000"/>
                  </a:spcBef>
                </a:pPr>
                <a:r>
                  <a:rPr kumimoji="1" lang="en-US" altLang="zh-CN" sz="2400" b="1" dirty="0">
                    <a:latin typeface="微软雅黑" panose="020B0503020204020204" charset="-122"/>
                    <a:ea typeface="微软雅黑" panose="020B0503020204020204" charset="-122"/>
                  </a:rPr>
                  <a:t>  0  1  0  0</a:t>
                </a:r>
                <a:endParaRPr kumimoji="1" lang="en-US" altLang="zh-CN" sz="2400" b="1" dirty="0">
                  <a:latin typeface="微软雅黑" panose="020B0503020204020204" charset="-122"/>
                  <a:ea typeface="微软雅黑" panose="020B0503020204020204" charset="-122"/>
                </a:endParaRPr>
              </a:p>
            </p:txBody>
          </p:sp>
          <p:sp>
            <p:nvSpPr>
              <p:cNvPr id="11290" name="AutoShape 13"/>
              <p:cNvSpPr/>
              <p:nvPr/>
            </p:nvSpPr>
            <p:spPr bwMode="auto">
              <a:xfrm>
                <a:off x="832" y="1710"/>
                <a:ext cx="53" cy="578"/>
              </a:xfrm>
              <a:prstGeom prst="leftBracket">
                <a:avLst>
                  <a:gd name="adj" fmla="val 83327"/>
                </a:avLst>
              </a:prstGeom>
              <a:noFill/>
              <a:ln w="9525">
                <a:solidFill>
                  <a:schemeClr val="tx1"/>
                </a:solidFill>
                <a:miter lim="800000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 sz="2400" b="1">
                  <a:latin typeface="微软雅黑" panose="020B0503020204020204" charset="-122"/>
                  <a:ea typeface="微软雅黑" panose="020B0503020204020204" charset="-122"/>
                </a:endParaRPr>
              </a:p>
            </p:txBody>
          </p:sp>
          <p:sp>
            <p:nvSpPr>
              <p:cNvPr id="11291" name="AutoShape 17"/>
              <p:cNvSpPr/>
              <p:nvPr/>
            </p:nvSpPr>
            <p:spPr bwMode="auto">
              <a:xfrm>
                <a:off x="1527" y="1697"/>
                <a:ext cx="48" cy="578"/>
              </a:xfrm>
              <a:prstGeom prst="rightBracket">
                <a:avLst>
                  <a:gd name="adj" fmla="val 83362"/>
                </a:avLst>
              </a:prstGeom>
              <a:noFill/>
              <a:ln w="9525">
                <a:solidFill>
                  <a:schemeClr val="tx1"/>
                </a:solidFill>
                <a:miter lim="800000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 sz="2400" b="1">
                  <a:latin typeface="微软雅黑" panose="020B0503020204020204" charset="-122"/>
                  <a:ea typeface="微软雅黑" panose="020B0503020204020204" charset="-122"/>
                </a:endParaRPr>
              </a:p>
            </p:txBody>
          </p:sp>
        </p:grpSp>
      </p:grpSp>
      <p:grpSp>
        <p:nvGrpSpPr>
          <p:cNvPr id="17" name="Group 23"/>
          <p:cNvGrpSpPr/>
          <p:nvPr/>
        </p:nvGrpSpPr>
        <p:grpSpPr bwMode="auto">
          <a:xfrm>
            <a:off x="3430978" y="4543101"/>
            <a:ext cx="3149600" cy="1494365"/>
            <a:chOff x="384" y="3072"/>
            <a:chExt cx="1488" cy="706"/>
          </a:xfrm>
        </p:grpSpPr>
        <p:sp>
          <p:nvSpPr>
            <p:cNvPr id="11283" name="Text Box 7"/>
            <p:cNvSpPr txBox="1">
              <a:spLocks noChangeArrowheads="1"/>
            </p:cNvSpPr>
            <p:nvPr/>
          </p:nvSpPr>
          <p:spPr bwMode="auto">
            <a:xfrm>
              <a:off x="720" y="3072"/>
              <a:ext cx="1152" cy="70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kumimoji="1" lang="en-US" altLang="zh-CN" sz="2400" b="1" dirty="0">
                  <a:latin typeface="微软雅黑" panose="020B0503020204020204" charset="-122"/>
                  <a:ea typeface="微软雅黑" panose="020B0503020204020204" charset="-122"/>
                </a:rPr>
                <a:t> 0  1  1  </a:t>
              </a:r>
              <a:r>
                <a:rPr kumimoji="1" lang="en-US" altLang="zh-CN" sz="2400" b="1" dirty="0">
                  <a:solidFill>
                    <a:srgbClr val="EE623A"/>
                  </a:solidFill>
                  <a:latin typeface="微软雅黑" panose="020B0503020204020204" charset="-122"/>
                  <a:ea typeface="微软雅黑" panose="020B0503020204020204" charset="-122"/>
                </a:rPr>
                <a:t>1</a:t>
              </a:r>
              <a:endParaRPr kumimoji="1" lang="en-US" altLang="zh-CN" sz="2400" b="1" dirty="0">
                <a:solidFill>
                  <a:srgbClr val="EE623A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  <a:p>
              <a:pPr eaLnBrk="1" hangingPunct="1">
                <a:lnSpc>
                  <a:spcPct val="40000"/>
                </a:lnSpc>
                <a:spcBef>
                  <a:spcPct val="50000"/>
                </a:spcBef>
              </a:pPr>
              <a:r>
                <a:rPr kumimoji="1" lang="en-US" altLang="zh-CN" sz="2400" b="1" dirty="0">
                  <a:latin typeface="微软雅黑" panose="020B0503020204020204" charset="-122"/>
                  <a:ea typeface="微软雅黑" panose="020B0503020204020204" charset="-122"/>
                </a:rPr>
                <a:t> 0  2  0  1</a:t>
              </a:r>
              <a:endParaRPr kumimoji="1" lang="en-US" altLang="zh-CN" sz="2400" b="1" dirty="0">
                <a:latin typeface="微软雅黑" panose="020B0503020204020204" charset="-122"/>
                <a:ea typeface="微软雅黑" panose="020B0503020204020204" charset="-122"/>
              </a:endParaRPr>
            </a:p>
            <a:p>
              <a:pPr eaLnBrk="1" hangingPunct="1">
                <a:lnSpc>
                  <a:spcPct val="40000"/>
                </a:lnSpc>
                <a:spcBef>
                  <a:spcPct val="50000"/>
                </a:spcBef>
              </a:pPr>
              <a:r>
                <a:rPr kumimoji="1" lang="en-US" altLang="zh-CN" sz="2400" b="1" dirty="0">
                  <a:latin typeface="微软雅黑" panose="020B0503020204020204" charset="-122"/>
                  <a:ea typeface="微软雅黑" panose="020B0503020204020204" charset="-122"/>
                </a:rPr>
                <a:t> 0  1  1  1</a:t>
              </a:r>
              <a:endParaRPr kumimoji="1" lang="en-US" altLang="zh-CN" sz="2400" b="1" dirty="0">
                <a:latin typeface="微软雅黑" panose="020B0503020204020204" charset="-122"/>
                <a:ea typeface="微软雅黑" panose="020B0503020204020204" charset="-122"/>
              </a:endParaRPr>
            </a:p>
            <a:p>
              <a:pPr eaLnBrk="1" hangingPunct="1">
                <a:lnSpc>
                  <a:spcPct val="40000"/>
                </a:lnSpc>
                <a:spcBef>
                  <a:spcPct val="50000"/>
                </a:spcBef>
              </a:pPr>
              <a:r>
                <a:rPr kumimoji="1" lang="en-US" altLang="zh-CN" sz="2400" b="1" dirty="0">
                  <a:latin typeface="微软雅黑" panose="020B0503020204020204" charset="-122"/>
                  <a:ea typeface="微软雅黑" panose="020B0503020204020204" charset="-122"/>
                </a:rPr>
                <a:t> 0  0  1  1</a:t>
              </a:r>
              <a:endParaRPr kumimoji="1" lang="en-US" altLang="zh-CN" sz="2400" b="1" dirty="0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1284" name="Text Box 8"/>
            <p:cNvSpPr txBox="1">
              <a:spLocks noChangeArrowheads="1"/>
            </p:cNvSpPr>
            <p:nvPr/>
          </p:nvSpPr>
          <p:spPr bwMode="auto">
            <a:xfrm>
              <a:off x="384" y="3360"/>
              <a:ext cx="480" cy="21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kumimoji="1" lang="en-US" altLang="zh-CN" sz="2400" b="1" dirty="0">
                  <a:latin typeface="微软雅黑" panose="020B0503020204020204" charset="-122"/>
                  <a:ea typeface="微软雅黑" panose="020B0503020204020204" charset="-122"/>
                </a:rPr>
                <a:t>A</a:t>
              </a:r>
              <a:r>
                <a:rPr kumimoji="1" lang="en-US" altLang="zh-CN" sz="2400" b="1" baseline="30000" dirty="0">
                  <a:latin typeface="微软雅黑" panose="020B0503020204020204" charset="-122"/>
                  <a:ea typeface="微软雅黑" panose="020B0503020204020204" charset="-122"/>
                </a:rPr>
                <a:t>2</a:t>
              </a:r>
              <a:r>
                <a:rPr kumimoji="1" lang="en-US" altLang="zh-CN" sz="2400" b="1" dirty="0">
                  <a:latin typeface="微软雅黑" panose="020B0503020204020204" charset="-122"/>
                  <a:ea typeface="微软雅黑" panose="020B0503020204020204" charset="-122"/>
                </a:rPr>
                <a:t>=</a:t>
              </a:r>
              <a:endParaRPr kumimoji="1" lang="en-US" altLang="zh-CN" sz="2400" b="1" dirty="0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1285" name="AutoShape 14"/>
            <p:cNvSpPr/>
            <p:nvPr/>
          </p:nvSpPr>
          <p:spPr bwMode="auto">
            <a:xfrm>
              <a:off x="711" y="3136"/>
              <a:ext cx="51" cy="578"/>
            </a:xfrm>
            <a:prstGeom prst="leftBracket">
              <a:avLst>
                <a:gd name="adj" fmla="val 79167"/>
              </a:avLst>
            </a:prstGeom>
            <a:noFill/>
            <a:ln w="9525">
              <a:solidFill>
                <a:schemeClr val="tx1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 sz="2400" b="1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1286" name="AutoShape 18"/>
            <p:cNvSpPr/>
            <p:nvPr/>
          </p:nvSpPr>
          <p:spPr bwMode="auto">
            <a:xfrm>
              <a:off x="1449" y="3143"/>
              <a:ext cx="48" cy="578"/>
            </a:xfrm>
            <a:prstGeom prst="rightBracket">
              <a:avLst>
                <a:gd name="adj" fmla="val 158333"/>
              </a:avLst>
            </a:prstGeom>
            <a:noFill/>
            <a:ln w="9525">
              <a:solidFill>
                <a:schemeClr val="tx1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 sz="2400" b="1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grpSp>
        <p:nvGrpSpPr>
          <p:cNvPr id="22" name="Group 24"/>
          <p:cNvGrpSpPr/>
          <p:nvPr/>
        </p:nvGrpSpPr>
        <p:grpSpPr bwMode="auto">
          <a:xfrm>
            <a:off x="6338731" y="4532517"/>
            <a:ext cx="3454400" cy="1494365"/>
            <a:chOff x="1920" y="3072"/>
            <a:chExt cx="1632" cy="706"/>
          </a:xfrm>
        </p:grpSpPr>
        <p:sp>
          <p:nvSpPr>
            <p:cNvPr id="11279" name="Text Box 9"/>
            <p:cNvSpPr txBox="1">
              <a:spLocks noChangeArrowheads="1"/>
            </p:cNvSpPr>
            <p:nvPr/>
          </p:nvSpPr>
          <p:spPr bwMode="auto">
            <a:xfrm>
              <a:off x="2256" y="3072"/>
              <a:ext cx="1296" cy="70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kumimoji="1" lang="en-US" altLang="zh-CN" sz="2400" b="1" dirty="0">
                  <a:latin typeface="微软雅黑" panose="020B0503020204020204" charset="-122"/>
                  <a:ea typeface="微软雅黑" panose="020B0503020204020204" charset="-122"/>
                </a:rPr>
                <a:t> 0  2  1  2</a:t>
              </a:r>
              <a:endParaRPr kumimoji="1" lang="en-US" altLang="zh-CN" sz="2400" b="1" dirty="0">
                <a:latin typeface="微软雅黑" panose="020B0503020204020204" charset="-122"/>
                <a:ea typeface="微软雅黑" panose="020B0503020204020204" charset="-122"/>
              </a:endParaRPr>
            </a:p>
            <a:p>
              <a:pPr eaLnBrk="1" hangingPunct="1">
                <a:lnSpc>
                  <a:spcPct val="40000"/>
                </a:lnSpc>
                <a:spcBef>
                  <a:spcPct val="50000"/>
                </a:spcBef>
              </a:pPr>
              <a:r>
                <a:rPr kumimoji="1" lang="en-US" altLang="zh-CN" sz="2400" b="1" dirty="0">
                  <a:latin typeface="微软雅黑" panose="020B0503020204020204" charset="-122"/>
                  <a:ea typeface="微软雅黑" panose="020B0503020204020204" charset="-122"/>
                </a:rPr>
                <a:t> 0  1  2  2</a:t>
              </a:r>
              <a:endParaRPr kumimoji="1" lang="en-US" altLang="zh-CN" sz="2400" b="1" dirty="0">
                <a:latin typeface="微软雅黑" panose="020B0503020204020204" charset="-122"/>
                <a:ea typeface="微软雅黑" panose="020B0503020204020204" charset="-122"/>
              </a:endParaRPr>
            </a:p>
            <a:p>
              <a:pPr eaLnBrk="1" hangingPunct="1">
                <a:lnSpc>
                  <a:spcPct val="40000"/>
                </a:lnSpc>
                <a:spcBef>
                  <a:spcPct val="50000"/>
                </a:spcBef>
              </a:pPr>
              <a:r>
                <a:rPr kumimoji="1" lang="en-US" altLang="zh-CN" sz="2400" b="1" dirty="0">
                  <a:latin typeface="微软雅黑" panose="020B0503020204020204" charset="-122"/>
                  <a:ea typeface="微软雅黑" panose="020B0503020204020204" charset="-122"/>
                </a:rPr>
                <a:t> 0  2  1  2</a:t>
              </a:r>
              <a:endParaRPr kumimoji="1" lang="en-US" altLang="zh-CN" sz="2400" b="1" dirty="0">
                <a:latin typeface="微软雅黑" panose="020B0503020204020204" charset="-122"/>
                <a:ea typeface="微软雅黑" panose="020B0503020204020204" charset="-122"/>
              </a:endParaRPr>
            </a:p>
            <a:p>
              <a:pPr eaLnBrk="1" hangingPunct="1">
                <a:lnSpc>
                  <a:spcPct val="40000"/>
                </a:lnSpc>
                <a:spcBef>
                  <a:spcPct val="50000"/>
                </a:spcBef>
              </a:pPr>
              <a:r>
                <a:rPr kumimoji="1" lang="en-US" altLang="zh-CN" sz="2400" b="1" dirty="0">
                  <a:latin typeface="微软雅黑" panose="020B0503020204020204" charset="-122"/>
                  <a:ea typeface="微软雅黑" panose="020B0503020204020204" charset="-122"/>
                </a:rPr>
                <a:t> 0  2  0  1</a:t>
              </a:r>
              <a:endParaRPr kumimoji="1" lang="en-US" altLang="zh-CN" sz="2400" b="1" dirty="0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1280" name="Text Box 10"/>
            <p:cNvSpPr txBox="1">
              <a:spLocks noChangeArrowheads="1"/>
            </p:cNvSpPr>
            <p:nvPr/>
          </p:nvSpPr>
          <p:spPr bwMode="auto">
            <a:xfrm>
              <a:off x="1920" y="3360"/>
              <a:ext cx="624" cy="21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kumimoji="1" lang="en-US" altLang="zh-CN" sz="2400" b="1">
                  <a:latin typeface="微软雅黑" panose="020B0503020204020204" charset="-122"/>
                  <a:ea typeface="微软雅黑" panose="020B0503020204020204" charset="-122"/>
                </a:rPr>
                <a:t>A</a:t>
              </a:r>
              <a:r>
                <a:rPr kumimoji="1" lang="en-US" altLang="zh-CN" sz="2400" b="1" baseline="30000">
                  <a:latin typeface="微软雅黑" panose="020B0503020204020204" charset="-122"/>
                  <a:ea typeface="微软雅黑" panose="020B0503020204020204" charset="-122"/>
                </a:rPr>
                <a:t>3</a:t>
              </a:r>
              <a:r>
                <a:rPr kumimoji="1" lang="en-US" altLang="zh-CN" sz="2400" b="1">
                  <a:latin typeface="微软雅黑" panose="020B0503020204020204" charset="-122"/>
                  <a:ea typeface="微软雅黑" panose="020B0503020204020204" charset="-122"/>
                </a:rPr>
                <a:t>=</a:t>
              </a:r>
              <a:endParaRPr kumimoji="1" lang="en-US" altLang="zh-CN" sz="2400" b="1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1281" name="AutoShape 15"/>
            <p:cNvSpPr/>
            <p:nvPr/>
          </p:nvSpPr>
          <p:spPr bwMode="auto">
            <a:xfrm>
              <a:off x="2269" y="3129"/>
              <a:ext cx="48" cy="578"/>
            </a:xfrm>
            <a:prstGeom prst="leftBracket">
              <a:avLst>
                <a:gd name="adj" fmla="val 158333"/>
              </a:avLst>
            </a:prstGeom>
            <a:noFill/>
            <a:ln w="9525">
              <a:solidFill>
                <a:schemeClr val="tx1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 sz="2400" b="1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1282" name="AutoShape 19"/>
            <p:cNvSpPr/>
            <p:nvPr/>
          </p:nvSpPr>
          <p:spPr bwMode="auto">
            <a:xfrm>
              <a:off x="2986" y="3136"/>
              <a:ext cx="48" cy="578"/>
            </a:xfrm>
            <a:prstGeom prst="rightBracket">
              <a:avLst>
                <a:gd name="adj" fmla="val 158333"/>
              </a:avLst>
            </a:prstGeom>
            <a:noFill/>
            <a:ln w="9525">
              <a:solidFill>
                <a:schemeClr val="tx1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 sz="2400" b="1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grpSp>
        <p:nvGrpSpPr>
          <p:cNvPr id="27" name="Group 25"/>
          <p:cNvGrpSpPr/>
          <p:nvPr/>
        </p:nvGrpSpPr>
        <p:grpSpPr bwMode="auto">
          <a:xfrm>
            <a:off x="9089923" y="4532517"/>
            <a:ext cx="3000479" cy="1494367"/>
            <a:chOff x="3648" y="3024"/>
            <a:chExt cx="1440" cy="706"/>
          </a:xfrm>
        </p:grpSpPr>
        <p:sp>
          <p:nvSpPr>
            <p:cNvPr id="11275" name="Text Box 11"/>
            <p:cNvSpPr txBox="1">
              <a:spLocks noChangeArrowheads="1"/>
            </p:cNvSpPr>
            <p:nvPr/>
          </p:nvSpPr>
          <p:spPr bwMode="auto">
            <a:xfrm>
              <a:off x="3936" y="3024"/>
              <a:ext cx="1152" cy="70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kumimoji="1" lang="en-US" altLang="zh-CN" sz="2400" b="1" dirty="0">
                  <a:latin typeface="微软雅黑" panose="020B0503020204020204" charset="-122"/>
                  <a:ea typeface="微软雅黑" panose="020B0503020204020204" charset="-122"/>
                </a:rPr>
                <a:t> 0  3  2  </a:t>
              </a:r>
              <a:r>
                <a:rPr kumimoji="1" lang="en-US" altLang="zh-CN" sz="2400" b="1" dirty="0">
                  <a:solidFill>
                    <a:srgbClr val="EE623A"/>
                  </a:solidFill>
                  <a:latin typeface="微软雅黑" panose="020B0503020204020204" charset="-122"/>
                  <a:ea typeface="微软雅黑" panose="020B0503020204020204" charset="-122"/>
                </a:rPr>
                <a:t>3</a:t>
              </a:r>
              <a:endParaRPr kumimoji="1" lang="en-US" altLang="zh-CN" sz="2400" b="1" dirty="0">
                <a:solidFill>
                  <a:srgbClr val="EE623A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  <a:p>
              <a:pPr eaLnBrk="1" hangingPunct="1">
                <a:lnSpc>
                  <a:spcPct val="40000"/>
                </a:lnSpc>
                <a:spcBef>
                  <a:spcPct val="50000"/>
                </a:spcBef>
              </a:pPr>
              <a:r>
                <a:rPr kumimoji="1" lang="en-US" altLang="zh-CN" sz="2400" b="1" dirty="0">
                  <a:latin typeface="微软雅黑" panose="020B0503020204020204" charset="-122"/>
                  <a:ea typeface="微软雅黑" panose="020B0503020204020204" charset="-122"/>
                </a:rPr>
                <a:t> 0  4  1  3</a:t>
              </a:r>
              <a:endParaRPr kumimoji="1" lang="en-US" altLang="zh-CN" sz="2400" b="1" dirty="0">
                <a:latin typeface="微软雅黑" panose="020B0503020204020204" charset="-122"/>
                <a:ea typeface="微软雅黑" panose="020B0503020204020204" charset="-122"/>
              </a:endParaRPr>
            </a:p>
            <a:p>
              <a:pPr eaLnBrk="1" hangingPunct="1">
                <a:lnSpc>
                  <a:spcPct val="40000"/>
                </a:lnSpc>
                <a:spcBef>
                  <a:spcPct val="50000"/>
                </a:spcBef>
              </a:pPr>
              <a:r>
                <a:rPr kumimoji="1" lang="en-US" altLang="zh-CN" sz="2400" b="1" dirty="0">
                  <a:latin typeface="微软雅黑" panose="020B0503020204020204" charset="-122"/>
                  <a:ea typeface="微软雅黑" panose="020B0503020204020204" charset="-122"/>
                </a:rPr>
                <a:t> 0  3  2  3</a:t>
              </a:r>
              <a:endParaRPr kumimoji="1" lang="en-US" altLang="zh-CN" sz="2400" b="1" dirty="0">
                <a:latin typeface="微软雅黑" panose="020B0503020204020204" charset="-122"/>
                <a:ea typeface="微软雅黑" panose="020B0503020204020204" charset="-122"/>
              </a:endParaRPr>
            </a:p>
            <a:p>
              <a:pPr eaLnBrk="1" hangingPunct="1">
                <a:lnSpc>
                  <a:spcPct val="40000"/>
                </a:lnSpc>
                <a:spcBef>
                  <a:spcPct val="50000"/>
                </a:spcBef>
              </a:pPr>
              <a:r>
                <a:rPr kumimoji="1" lang="en-US" altLang="zh-CN" sz="2400" b="1" dirty="0">
                  <a:latin typeface="微软雅黑" panose="020B0503020204020204" charset="-122"/>
                  <a:ea typeface="微软雅黑" panose="020B0503020204020204" charset="-122"/>
                </a:rPr>
                <a:t> 0  1  2  2</a:t>
              </a:r>
              <a:endParaRPr kumimoji="1" lang="en-US" altLang="zh-CN" sz="2400" b="1" dirty="0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1276" name="Text Box 12"/>
            <p:cNvSpPr txBox="1">
              <a:spLocks noChangeArrowheads="1"/>
            </p:cNvSpPr>
            <p:nvPr/>
          </p:nvSpPr>
          <p:spPr bwMode="auto">
            <a:xfrm>
              <a:off x="3648" y="3312"/>
              <a:ext cx="528" cy="21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kumimoji="1" lang="en-US" altLang="zh-CN" sz="2400" b="1">
                  <a:latin typeface="微软雅黑" panose="020B0503020204020204" charset="-122"/>
                  <a:ea typeface="微软雅黑" panose="020B0503020204020204" charset="-122"/>
                </a:rPr>
                <a:t>A</a:t>
              </a:r>
              <a:r>
                <a:rPr kumimoji="1" lang="en-US" altLang="zh-CN" sz="2400" b="1" baseline="30000">
                  <a:latin typeface="微软雅黑" panose="020B0503020204020204" charset="-122"/>
                  <a:ea typeface="微软雅黑" panose="020B0503020204020204" charset="-122"/>
                </a:rPr>
                <a:t>4</a:t>
              </a:r>
              <a:r>
                <a:rPr kumimoji="1" lang="en-US" altLang="zh-CN" sz="2400" b="1">
                  <a:latin typeface="微软雅黑" panose="020B0503020204020204" charset="-122"/>
                  <a:ea typeface="微软雅黑" panose="020B0503020204020204" charset="-122"/>
                </a:rPr>
                <a:t>=</a:t>
              </a:r>
              <a:endParaRPr kumimoji="1" lang="en-US" altLang="zh-CN" sz="2400" b="1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1277" name="AutoShape 16"/>
            <p:cNvSpPr/>
            <p:nvPr/>
          </p:nvSpPr>
          <p:spPr bwMode="auto">
            <a:xfrm>
              <a:off x="3969" y="3093"/>
              <a:ext cx="51" cy="578"/>
            </a:xfrm>
            <a:prstGeom prst="leftBracket">
              <a:avLst>
                <a:gd name="adj" fmla="val 75000"/>
              </a:avLst>
            </a:prstGeom>
            <a:noFill/>
            <a:ln w="9525">
              <a:solidFill>
                <a:schemeClr val="tx1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 sz="2400" b="1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1278" name="AutoShape 20"/>
            <p:cNvSpPr/>
            <p:nvPr/>
          </p:nvSpPr>
          <p:spPr bwMode="auto">
            <a:xfrm>
              <a:off x="4649" y="3079"/>
              <a:ext cx="48" cy="578"/>
            </a:xfrm>
            <a:prstGeom prst="rightBracket">
              <a:avLst>
                <a:gd name="adj" fmla="val 141667"/>
              </a:avLst>
            </a:prstGeom>
            <a:noFill/>
            <a:ln w="9525">
              <a:solidFill>
                <a:schemeClr val="tx1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 sz="2400" b="1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latin typeface="微软雅黑" panose="020B0503020204020204" charset="-122"/>
                <a:ea typeface="微软雅黑" panose="020B0503020204020204" charset="-122"/>
              </a:rPr>
              <a:t>7-3  </a:t>
            </a:r>
            <a:r>
              <a:rPr lang="zh-CN" altLang="en-US" dirty="0">
                <a:latin typeface="微软雅黑" panose="020B0503020204020204" charset="-122"/>
                <a:ea typeface="微软雅黑" panose="020B0503020204020204" charset="-122"/>
              </a:rPr>
              <a:t>图的矩阵表示</a:t>
            </a:r>
            <a:endParaRPr lang="zh-CN" altLang="en-US" dirty="0"/>
          </a:p>
        </p:txBody>
      </p:sp>
      <p:grpSp>
        <p:nvGrpSpPr>
          <p:cNvPr id="28" name="组合 27"/>
          <p:cNvGrpSpPr/>
          <p:nvPr/>
        </p:nvGrpSpPr>
        <p:grpSpPr>
          <a:xfrm>
            <a:off x="7659531" y="2270906"/>
            <a:ext cx="3240088" cy="1538288"/>
            <a:chOff x="3492500" y="908050"/>
            <a:chExt cx="3240088" cy="1538288"/>
          </a:xfrm>
        </p:grpSpPr>
        <p:sp>
          <p:nvSpPr>
            <p:cNvPr id="29" name="Oval 27"/>
            <p:cNvSpPr>
              <a:spLocks noChangeArrowheads="1"/>
            </p:cNvSpPr>
            <p:nvPr/>
          </p:nvSpPr>
          <p:spPr bwMode="auto">
            <a:xfrm>
              <a:off x="4284663" y="1412875"/>
              <a:ext cx="215900" cy="215900"/>
            </a:xfrm>
            <a:prstGeom prst="ellipse">
              <a:avLst/>
            </a:prstGeom>
            <a:solidFill>
              <a:srgbClr val="EE6139"/>
            </a:solidFill>
            <a:ln w="9525">
              <a:solidFill>
                <a:srgbClr val="EE6139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30" name="Oval 28"/>
            <p:cNvSpPr>
              <a:spLocks noChangeArrowheads="1"/>
            </p:cNvSpPr>
            <p:nvPr/>
          </p:nvSpPr>
          <p:spPr bwMode="auto">
            <a:xfrm>
              <a:off x="3924300" y="2133600"/>
              <a:ext cx="215900" cy="215900"/>
            </a:xfrm>
            <a:prstGeom prst="ellipse">
              <a:avLst/>
            </a:prstGeom>
            <a:solidFill>
              <a:srgbClr val="EE6139"/>
            </a:solidFill>
            <a:ln w="9525">
              <a:solidFill>
                <a:srgbClr val="EE6139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31" name="Oval 29"/>
            <p:cNvSpPr>
              <a:spLocks noChangeArrowheads="1"/>
            </p:cNvSpPr>
            <p:nvPr/>
          </p:nvSpPr>
          <p:spPr bwMode="auto">
            <a:xfrm>
              <a:off x="5364163" y="1125538"/>
              <a:ext cx="215900" cy="215900"/>
            </a:xfrm>
            <a:prstGeom prst="ellipse">
              <a:avLst/>
            </a:prstGeom>
            <a:solidFill>
              <a:srgbClr val="EE6139"/>
            </a:solidFill>
            <a:ln w="9525">
              <a:solidFill>
                <a:srgbClr val="EE6139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33" name="Oval 30"/>
            <p:cNvSpPr>
              <a:spLocks noChangeArrowheads="1"/>
            </p:cNvSpPr>
            <p:nvPr/>
          </p:nvSpPr>
          <p:spPr bwMode="auto">
            <a:xfrm>
              <a:off x="5940425" y="1844675"/>
              <a:ext cx="215900" cy="215900"/>
            </a:xfrm>
            <a:prstGeom prst="ellipse">
              <a:avLst/>
            </a:prstGeom>
            <a:solidFill>
              <a:srgbClr val="EE6139"/>
            </a:solidFill>
            <a:ln w="9525">
              <a:solidFill>
                <a:srgbClr val="EE6139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34" name="Freeform 31"/>
            <p:cNvSpPr/>
            <p:nvPr/>
          </p:nvSpPr>
          <p:spPr bwMode="auto">
            <a:xfrm>
              <a:off x="3876675" y="1557338"/>
              <a:ext cx="407988" cy="576262"/>
            </a:xfrm>
            <a:custGeom>
              <a:avLst/>
              <a:gdLst>
                <a:gd name="T0" fmla="*/ 75 w 257"/>
                <a:gd name="T1" fmla="*/ 363 h 363"/>
                <a:gd name="T2" fmla="*/ 30 w 257"/>
                <a:gd name="T3" fmla="*/ 136 h 363"/>
                <a:gd name="T4" fmla="*/ 257 w 257"/>
                <a:gd name="T5" fmla="*/ 0 h 3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57" h="363">
                  <a:moveTo>
                    <a:pt x="75" y="363"/>
                  </a:moveTo>
                  <a:cubicBezTo>
                    <a:pt x="37" y="279"/>
                    <a:pt x="0" y="196"/>
                    <a:pt x="30" y="136"/>
                  </a:cubicBezTo>
                  <a:cubicBezTo>
                    <a:pt x="60" y="76"/>
                    <a:pt x="158" y="38"/>
                    <a:pt x="257" y="0"/>
                  </a:cubicBezTo>
                </a:path>
              </a:pathLst>
            </a:custGeom>
            <a:noFill/>
            <a:ln w="38100" cap="flat" cmpd="sng">
              <a:solidFill>
                <a:schemeClr val="tx1"/>
              </a:solidFill>
              <a:prstDash val="solid"/>
              <a:round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35" name="Freeform 32"/>
            <p:cNvSpPr/>
            <p:nvPr/>
          </p:nvSpPr>
          <p:spPr bwMode="auto">
            <a:xfrm>
              <a:off x="4140200" y="1628775"/>
              <a:ext cx="407988" cy="576263"/>
            </a:xfrm>
            <a:custGeom>
              <a:avLst/>
              <a:gdLst>
                <a:gd name="T0" fmla="*/ 182 w 257"/>
                <a:gd name="T1" fmla="*/ 0 h 363"/>
                <a:gd name="T2" fmla="*/ 227 w 257"/>
                <a:gd name="T3" fmla="*/ 181 h 363"/>
                <a:gd name="T4" fmla="*/ 0 w 257"/>
                <a:gd name="T5" fmla="*/ 363 h 3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57" h="363">
                  <a:moveTo>
                    <a:pt x="182" y="0"/>
                  </a:moveTo>
                  <a:cubicBezTo>
                    <a:pt x="219" y="60"/>
                    <a:pt x="257" y="121"/>
                    <a:pt x="227" y="181"/>
                  </a:cubicBezTo>
                  <a:cubicBezTo>
                    <a:pt x="197" y="241"/>
                    <a:pt x="98" y="302"/>
                    <a:pt x="0" y="363"/>
                  </a:cubicBezTo>
                </a:path>
              </a:pathLst>
            </a:custGeom>
            <a:noFill/>
            <a:ln w="38100" cap="flat" cmpd="sng">
              <a:solidFill>
                <a:schemeClr val="tx1"/>
              </a:solidFill>
              <a:prstDash val="solid"/>
              <a:round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36" name="Freeform 33"/>
            <p:cNvSpPr/>
            <p:nvPr/>
          </p:nvSpPr>
          <p:spPr bwMode="auto">
            <a:xfrm>
              <a:off x="4500563" y="1196975"/>
              <a:ext cx="863600" cy="287338"/>
            </a:xfrm>
            <a:custGeom>
              <a:avLst/>
              <a:gdLst>
                <a:gd name="T0" fmla="*/ 544 w 544"/>
                <a:gd name="T1" fmla="*/ 0 h 181"/>
                <a:gd name="T2" fmla="*/ 0 w 544"/>
                <a:gd name="T3" fmla="*/ 181 h 1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544" h="181">
                  <a:moveTo>
                    <a:pt x="544" y="0"/>
                  </a:moveTo>
                  <a:cubicBezTo>
                    <a:pt x="317" y="75"/>
                    <a:pt x="91" y="151"/>
                    <a:pt x="0" y="181"/>
                  </a:cubicBezTo>
                </a:path>
              </a:pathLst>
            </a:custGeom>
            <a:noFill/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37" name="Line 34"/>
            <p:cNvSpPr>
              <a:spLocks noChangeShapeType="1"/>
            </p:cNvSpPr>
            <p:nvPr/>
          </p:nvSpPr>
          <p:spPr bwMode="auto">
            <a:xfrm>
              <a:off x="5580063" y="1268413"/>
              <a:ext cx="431800" cy="576262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38" name="Line 35"/>
            <p:cNvSpPr>
              <a:spLocks noChangeShapeType="1"/>
            </p:cNvSpPr>
            <p:nvPr/>
          </p:nvSpPr>
          <p:spPr bwMode="auto">
            <a:xfrm flipV="1">
              <a:off x="4140200" y="1989138"/>
              <a:ext cx="1800225" cy="287337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39" name="Freeform 36"/>
            <p:cNvSpPr/>
            <p:nvPr/>
          </p:nvSpPr>
          <p:spPr bwMode="auto">
            <a:xfrm>
              <a:off x="4500563" y="1557338"/>
              <a:ext cx="1439862" cy="358775"/>
            </a:xfrm>
            <a:custGeom>
              <a:avLst/>
              <a:gdLst>
                <a:gd name="T0" fmla="*/ 0 w 907"/>
                <a:gd name="T1" fmla="*/ 0 h 226"/>
                <a:gd name="T2" fmla="*/ 544 w 907"/>
                <a:gd name="T3" fmla="*/ 45 h 226"/>
                <a:gd name="T4" fmla="*/ 907 w 907"/>
                <a:gd name="T5" fmla="*/ 226 h 2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907" h="226">
                  <a:moveTo>
                    <a:pt x="0" y="0"/>
                  </a:moveTo>
                  <a:cubicBezTo>
                    <a:pt x="196" y="3"/>
                    <a:pt x="393" y="7"/>
                    <a:pt x="544" y="45"/>
                  </a:cubicBezTo>
                  <a:cubicBezTo>
                    <a:pt x="695" y="83"/>
                    <a:pt x="801" y="154"/>
                    <a:pt x="907" y="226"/>
                  </a:cubicBezTo>
                </a:path>
              </a:pathLst>
            </a:custGeom>
            <a:noFill/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40" name="Freeform 37"/>
            <p:cNvSpPr/>
            <p:nvPr/>
          </p:nvSpPr>
          <p:spPr bwMode="auto">
            <a:xfrm>
              <a:off x="4500563" y="1628775"/>
              <a:ext cx="1439862" cy="347663"/>
            </a:xfrm>
            <a:custGeom>
              <a:avLst/>
              <a:gdLst>
                <a:gd name="T0" fmla="*/ 953 w 953"/>
                <a:gd name="T1" fmla="*/ 226 h 264"/>
                <a:gd name="T2" fmla="*/ 363 w 953"/>
                <a:gd name="T3" fmla="*/ 226 h 264"/>
                <a:gd name="T4" fmla="*/ 0 w 953"/>
                <a:gd name="T5" fmla="*/ 0 h 2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953" h="264">
                  <a:moveTo>
                    <a:pt x="953" y="226"/>
                  </a:moveTo>
                  <a:cubicBezTo>
                    <a:pt x="737" y="245"/>
                    <a:pt x="522" y="264"/>
                    <a:pt x="363" y="226"/>
                  </a:cubicBezTo>
                  <a:cubicBezTo>
                    <a:pt x="204" y="188"/>
                    <a:pt x="102" y="94"/>
                    <a:pt x="0" y="0"/>
                  </a:cubicBezTo>
                </a:path>
              </a:pathLst>
            </a:custGeom>
            <a:noFill/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41" name="Text Box 38"/>
            <p:cNvSpPr txBox="1">
              <a:spLocks noChangeArrowheads="1"/>
            </p:cNvSpPr>
            <p:nvPr/>
          </p:nvSpPr>
          <p:spPr bwMode="auto">
            <a:xfrm>
              <a:off x="3924300" y="981075"/>
              <a:ext cx="503238" cy="4572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r>
                <a:rPr lang="en-US" altLang="zh-CN"/>
                <a:t>v</a:t>
              </a:r>
              <a:r>
                <a:rPr lang="en-US" altLang="zh-CN" baseline="-25000"/>
                <a:t>2</a:t>
              </a:r>
              <a:endParaRPr lang="en-US" altLang="zh-CN" baseline="-25000"/>
            </a:p>
          </p:txBody>
        </p:sp>
        <p:sp>
          <p:nvSpPr>
            <p:cNvPr id="42" name="Text Box 39"/>
            <p:cNvSpPr txBox="1">
              <a:spLocks noChangeArrowheads="1"/>
            </p:cNvSpPr>
            <p:nvPr/>
          </p:nvSpPr>
          <p:spPr bwMode="auto">
            <a:xfrm>
              <a:off x="3492500" y="1989138"/>
              <a:ext cx="576263" cy="4572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r>
                <a:rPr lang="en-US" altLang="zh-CN"/>
                <a:t>v</a:t>
              </a:r>
              <a:r>
                <a:rPr lang="en-US" altLang="zh-CN" baseline="-25000"/>
                <a:t>3</a:t>
              </a:r>
              <a:endParaRPr lang="en-US" altLang="zh-CN" baseline="-25000"/>
            </a:p>
          </p:txBody>
        </p:sp>
        <p:sp>
          <p:nvSpPr>
            <p:cNvPr id="43" name="Text Box 40"/>
            <p:cNvSpPr txBox="1">
              <a:spLocks noChangeArrowheads="1"/>
            </p:cNvSpPr>
            <p:nvPr/>
          </p:nvSpPr>
          <p:spPr bwMode="auto">
            <a:xfrm>
              <a:off x="5580063" y="908050"/>
              <a:ext cx="647700" cy="4572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r>
                <a:rPr lang="en-US" altLang="zh-CN"/>
                <a:t>v</a:t>
              </a:r>
              <a:r>
                <a:rPr lang="en-US" altLang="zh-CN" baseline="-25000"/>
                <a:t>1</a:t>
              </a:r>
              <a:endParaRPr lang="en-US" altLang="zh-CN" baseline="-25000"/>
            </a:p>
          </p:txBody>
        </p:sp>
        <p:sp>
          <p:nvSpPr>
            <p:cNvPr id="44" name="Text Box 41"/>
            <p:cNvSpPr txBox="1">
              <a:spLocks noChangeArrowheads="1"/>
            </p:cNvSpPr>
            <p:nvPr/>
          </p:nvSpPr>
          <p:spPr bwMode="auto">
            <a:xfrm>
              <a:off x="6156325" y="1844675"/>
              <a:ext cx="576263" cy="4572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r>
                <a:rPr lang="en-US" altLang="zh-CN"/>
                <a:t>v</a:t>
              </a:r>
              <a:r>
                <a:rPr lang="en-US" altLang="zh-CN" baseline="-25000"/>
                <a:t>4</a:t>
              </a:r>
              <a:endParaRPr lang="en-US" altLang="zh-CN" baseline="-25000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utoUpdateAnimBg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sz="3200" dirty="0">
                <a:latin typeface="微软雅黑" panose="020B0503020204020204" charset="-122"/>
                <a:ea typeface="微软雅黑" panose="020B0503020204020204" charset="-122"/>
              </a:rPr>
              <a:t>7-3  </a:t>
            </a:r>
            <a:r>
              <a:rPr lang="zh-CN" altLang="en-US" sz="3200" dirty="0">
                <a:latin typeface="微软雅黑" panose="020B0503020204020204" charset="-122"/>
                <a:ea typeface="微软雅黑" panose="020B0503020204020204" charset="-122"/>
              </a:rPr>
              <a:t>图的矩阵表示</a:t>
            </a:r>
            <a:endParaRPr lang="zh-CN" altLang="en-US" sz="3200" dirty="0"/>
          </a:p>
        </p:txBody>
      </p:sp>
      <p:sp>
        <p:nvSpPr>
          <p:cNvPr id="6147" name="Rectangle 2"/>
          <p:cNvSpPr>
            <a:spLocks noGrp="1" noChangeArrowheads="1"/>
          </p:cNvSpPr>
          <p:nvPr>
            <p:ph sz="quarter" idx="13"/>
          </p:nvPr>
        </p:nvSpPr>
        <p:spPr>
          <a:xfrm>
            <a:off x="977462" y="1418898"/>
            <a:ext cx="10357945" cy="709448"/>
          </a:xfrm>
        </p:spPr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buClr>
                <a:srgbClr val="00B050"/>
              </a:buClr>
              <a:buSzPct val="100000"/>
              <a:buNone/>
              <a:defRPr/>
            </a:pPr>
            <a:r>
              <a:rPr lang="zh-CN" altLang="en-US" sz="2400" b="1" dirty="0">
                <a:solidFill>
                  <a:srgbClr val="7030A0"/>
                </a:solidFill>
                <a:latin typeface="微软雅黑" panose="020B0503020204020204" charset="-122"/>
                <a:ea typeface="微软雅黑" panose="020B0503020204020204" charset="-122"/>
              </a:rPr>
              <a:t>例如：</a:t>
            </a:r>
            <a:endParaRPr lang="en-US" altLang="zh-CN" sz="2400" b="1" dirty="0">
              <a:solidFill>
                <a:srgbClr val="7030A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1096881" y="2017946"/>
            <a:ext cx="3466047" cy="3717270"/>
            <a:chOff x="1096881" y="2017946"/>
            <a:chExt cx="3466047" cy="3717270"/>
          </a:xfrm>
        </p:grpSpPr>
        <p:sp>
          <p:nvSpPr>
            <p:cNvPr id="22" name="Rectangle 22"/>
            <p:cNvSpPr>
              <a:spLocks noChangeArrowheads="1"/>
            </p:cNvSpPr>
            <p:nvPr/>
          </p:nvSpPr>
          <p:spPr bwMode="auto">
            <a:xfrm>
              <a:off x="2585885" y="2017946"/>
              <a:ext cx="529312" cy="52322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algn="ctr"/>
              <a:r>
                <a:rPr lang="en-US" altLang="zh-CN" sz="2800" dirty="0">
                  <a:latin typeface="微软雅黑" panose="020B0503020204020204" charset="-122"/>
                  <a:ea typeface="微软雅黑" panose="020B0503020204020204" charset="-122"/>
                </a:rPr>
                <a:t>e</a:t>
              </a:r>
              <a:r>
                <a:rPr lang="en-US" altLang="zh-CN" sz="2800" baseline="-25000" dirty="0">
                  <a:latin typeface="微软雅黑" panose="020B0503020204020204" charset="-122"/>
                  <a:ea typeface="微软雅黑" panose="020B0503020204020204" charset="-122"/>
                </a:rPr>
                <a:t>1</a:t>
              </a:r>
              <a:endParaRPr lang="en-US" altLang="zh-CN" sz="2800" baseline="-25000" dirty="0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grpSp>
          <p:nvGrpSpPr>
            <p:cNvPr id="3" name="组合 2"/>
            <p:cNvGrpSpPr/>
            <p:nvPr/>
          </p:nvGrpSpPr>
          <p:grpSpPr>
            <a:xfrm>
              <a:off x="1096881" y="2523921"/>
              <a:ext cx="3466047" cy="3211295"/>
              <a:chOff x="1096881" y="2523921"/>
              <a:chExt cx="3466047" cy="3211295"/>
            </a:xfrm>
          </p:grpSpPr>
          <p:sp>
            <p:nvSpPr>
              <p:cNvPr id="8" name="Oval 8"/>
              <p:cNvSpPr>
                <a:spLocks noChangeArrowheads="1"/>
              </p:cNvSpPr>
              <p:nvPr/>
            </p:nvSpPr>
            <p:spPr bwMode="auto">
              <a:xfrm>
                <a:off x="1633722" y="2868518"/>
                <a:ext cx="215900" cy="215900"/>
              </a:xfrm>
              <a:prstGeom prst="ellipse">
                <a:avLst/>
              </a:prstGeom>
              <a:solidFill>
                <a:srgbClr val="FF6600"/>
              </a:solidFill>
              <a:ln w="9525">
                <a:solidFill>
                  <a:srgbClr val="FF0000"/>
                </a:solidFill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9" name="Oval 9"/>
              <p:cNvSpPr>
                <a:spLocks noChangeArrowheads="1"/>
              </p:cNvSpPr>
              <p:nvPr/>
            </p:nvSpPr>
            <p:spPr bwMode="auto">
              <a:xfrm>
                <a:off x="3794310" y="2868518"/>
                <a:ext cx="215900" cy="215900"/>
              </a:xfrm>
              <a:prstGeom prst="ellipse">
                <a:avLst/>
              </a:prstGeom>
              <a:solidFill>
                <a:srgbClr val="FF6600"/>
              </a:solidFill>
              <a:ln w="9525">
                <a:solidFill>
                  <a:srgbClr val="FF0000"/>
                </a:solidFill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10" name="Oval 10"/>
              <p:cNvSpPr>
                <a:spLocks noChangeArrowheads="1"/>
              </p:cNvSpPr>
              <p:nvPr/>
            </p:nvSpPr>
            <p:spPr bwMode="auto">
              <a:xfrm>
                <a:off x="1562285" y="4741768"/>
                <a:ext cx="215900" cy="215900"/>
              </a:xfrm>
              <a:prstGeom prst="ellipse">
                <a:avLst/>
              </a:prstGeom>
              <a:solidFill>
                <a:srgbClr val="FF6600"/>
              </a:solidFill>
              <a:ln w="9525">
                <a:solidFill>
                  <a:srgbClr val="FF0000"/>
                </a:solidFill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15" name="Line 15"/>
              <p:cNvSpPr>
                <a:spLocks noChangeShapeType="1"/>
              </p:cNvSpPr>
              <p:nvPr/>
            </p:nvSpPr>
            <p:spPr bwMode="auto">
              <a:xfrm>
                <a:off x="3938772" y="3084418"/>
                <a:ext cx="0" cy="1657350"/>
              </a:xfrm>
              <a:prstGeom prst="line">
                <a:avLst/>
              </a:prstGeom>
              <a:noFill/>
              <a:ln w="22225">
                <a:solidFill>
                  <a:srgbClr val="FF0000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11" name="Oval 11"/>
              <p:cNvSpPr>
                <a:spLocks noChangeArrowheads="1"/>
              </p:cNvSpPr>
              <p:nvPr/>
            </p:nvSpPr>
            <p:spPr bwMode="auto">
              <a:xfrm>
                <a:off x="3865747" y="4668743"/>
                <a:ext cx="215900" cy="215900"/>
              </a:xfrm>
              <a:prstGeom prst="ellipse">
                <a:avLst/>
              </a:prstGeom>
              <a:solidFill>
                <a:srgbClr val="FF6600"/>
              </a:solidFill>
              <a:ln w="9525">
                <a:solidFill>
                  <a:srgbClr val="FF0000"/>
                </a:solidFill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12" name="Freeform 12"/>
              <p:cNvSpPr/>
              <p:nvPr/>
            </p:nvSpPr>
            <p:spPr bwMode="auto">
              <a:xfrm>
                <a:off x="1783990" y="2523921"/>
                <a:ext cx="2089150" cy="360363"/>
              </a:xfrm>
              <a:custGeom>
                <a:avLst/>
                <a:gdLst>
                  <a:gd name="T0" fmla="*/ 0 w 1316"/>
                  <a:gd name="T1" fmla="*/ 227 h 227"/>
                  <a:gd name="T2" fmla="*/ 681 w 1316"/>
                  <a:gd name="T3" fmla="*/ 0 h 227"/>
                  <a:gd name="T4" fmla="*/ 1316 w 1316"/>
                  <a:gd name="T5" fmla="*/ 227 h 2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316" h="227">
                    <a:moveTo>
                      <a:pt x="0" y="227"/>
                    </a:moveTo>
                    <a:cubicBezTo>
                      <a:pt x="231" y="113"/>
                      <a:pt x="462" y="0"/>
                      <a:pt x="681" y="0"/>
                    </a:cubicBezTo>
                    <a:cubicBezTo>
                      <a:pt x="900" y="0"/>
                      <a:pt x="1108" y="113"/>
                      <a:pt x="1316" y="227"/>
                    </a:cubicBezTo>
                  </a:path>
                </a:pathLst>
              </a:custGeom>
              <a:noFill/>
              <a:ln w="22225" cap="flat" cmpd="sng">
                <a:solidFill>
                  <a:srgbClr val="FF0000"/>
                </a:solidFill>
                <a:prstDash val="solid"/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13" name="Freeform 13"/>
              <p:cNvSpPr/>
              <p:nvPr/>
            </p:nvSpPr>
            <p:spPr bwMode="auto">
              <a:xfrm>
                <a:off x="1778185" y="3084418"/>
                <a:ext cx="2087562" cy="288925"/>
              </a:xfrm>
              <a:custGeom>
                <a:avLst/>
                <a:gdLst>
                  <a:gd name="T0" fmla="*/ 0 w 1315"/>
                  <a:gd name="T1" fmla="*/ 0 h 182"/>
                  <a:gd name="T2" fmla="*/ 635 w 1315"/>
                  <a:gd name="T3" fmla="*/ 182 h 182"/>
                  <a:gd name="T4" fmla="*/ 1315 w 1315"/>
                  <a:gd name="T5" fmla="*/ 0 h 18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315" h="182">
                    <a:moveTo>
                      <a:pt x="0" y="0"/>
                    </a:moveTo>
                    <a:cubicBezTo>
                      <a:pt x="208" y="91"/>
                      <a:pt x="416" y="182"/>
                      <a:pt x="635" y="182"/>
                    </a:cubicBezTo>
                    <a:cubicBezTo>
                      <a:pt x="854" y="182"/>
                      <a:pt x="1084" y="91"/>
                      <a:pt x="1315" y="0"/>
                    </a:cubicBezTo>
                  </a:path>
                </a:pathLst>
              </a:custGeom>
              <a:noFill/>
              <a:ln w="22225" cap="flat" cmpd="sng">
                <a:solidFill>
                  <a:srgbClr val="FF0000"/>
                </a:solidFill>
                <a:prstDash val="solid"/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14" name="Line 14"/>
              <p:cNvSpPr>
                <a:spLocks noChangeShapeType="1"/>
              </p:cNvSpPr>
              <p:nvPr/>
            </p:nvSpPr>
            <p:spPr bwMode="auto">
              <a:xfrm>
                <a:off x="1705160" y="3084418"/>
                <a:ext cx="0" cy="1657350"/>
              </a:xfrm>
              <a:prstGeom prst="line">
                <a:avLst/>
              </a:prstGeom>
              <a:noFill/>
              <a:ln w="22225">
                <a:solidFill>
                  <a:srgbClr val="FF0000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16" name="Line 16"/>
              <p:cNvSpPr>
                <a:spLocks noChangeShapeType="1"/>
              </p:cNvSpPr>
              <p:nvPr/>
            </p:nvSpPr>
            <p:spPr bwMode="auto">
              <a:xfrm>
                <a:off x="1778185" y="3084418"/>
                <a:ext cx="2087562" cy="1657350"/>
              </a:xfrm>
              <a:prstGeom prst="line">
                <a:avLst/>
              </a:prstGeom>
              <a:noFill/>
              <a:ln w="22225">
                <a:solidFill>
                  <a:srgbClr val="FF0000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17" name="Line 17"/>
              <p:cNvSpPr>
                <a:spLocks noChangeShapeType="1"/>
              </p:cNvSpPr>
              <p:nvPr/>
            </p:nvSpPr>
            <p:spPr bwMode="auto">
              <a:xfrm flipV="1">
                <a:off x="1778185" y="4813205"/>
                <a:ext cx="2087562" cy="0"/>
              </a:xfrm>
              <a:prstGeom prst="line">
                <a:avLst/>
              </a:prstGeom>
              <a:noFill/>
              <a:ln w="22225">
                <a:solidFill>
                  <a:srgbClr val="FF0000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18" name="Rectangle 18"/>
              <p:cNvSpPr>
                <a:spLocks noChangeArrowheads="1"/>
              </p:cNvSpPr>
              <p:nvPr/>
            </p:nvSpPr>
            <p:spPr bwMode="auto">
              <a:xfrm>
                <a:off x="1152443" y="2619609"/>
                <a:ext cx="514885" cy="52322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pPr algn="ctr"/>
                <a:r>
                  <a:rPr lang="en-US" altLang="zh-CN" sz="2800">
                    <a:latin typeface="微软雅黑" panose="020B0503020204020204" charset="-122"/>
                    <a:ea typeface="微软雅黑" panose="020B0503020204020204" charset="-122"/>
                  </a:rPr>
                  <a:t>v</a:t>
                </a:r>
                <a:r>
                  <a:rPr lang="en-US" altLang="zh-CN" sz="2800" baseline="-25000">
                    <a:latin typeface="微软雅黑" panose="020B0503020204020204" charset="-122"/>
                    <a:ea typeface="微软雅黑" panose="020B0503020204020204" charset="-122"/>
                  </a:rPr>
                  <a:t>1</a:t>
                </a:r>
                <a:endParaRPr lang="en-US" altLang="zh-CN" sz="2800" baseline="-25000">
                  <a:latin typeface="微软雅黑" panose="020B0503020204020204" charset="-122"/>
                  <a:ea typeface="微软雅黑" panose="020B0503020204020204" charset="-122"/>
                </a:endParaRPr>
              </a:p>
            </p:txBody>
          </p:sp>
          <p:sp>
            <p:nvSpPr>
              <p:cNvPr id="19" name="Rectangle 19"/>
              <p:cNvSpPr>
                <a:spLocks noChangeArrowheads="1"/>
              </p:cNvSpPr>
              <p:nvPr/>
            </p:nvSpPr>
            <p:spPr bwMode="auto">
              <a:xfrm>
                <a:off x="3960731" y="2619609"/>
                <a:ext cx="514885" cy="52322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pPr algn="ctr"/>
                <a:r>
                  <a:rPr lang="en-US" altLang="zh-CN" sz="2800">
                    <a:latin typeface="微软雅黑" panose="020B0503020204020204" charset="-122"/>
                    <a:ea typeface="微软雅黑" panose="020B0503020204020204" charset="-122"/>
                  </a:rPr>
                  <a:t>v</a:t>
                </a:r>
                <a:r>
                  <a:rPr lang="en-US" altLang="zh-CN" sz="2800" baseline="-25000">
                    <a:latin typeface="微软雅黑" panose="020B0503020204020204" charset="-122"/>
                    <a:ea typeface="微软雅黑" panose="020B0503020204020204" charset="-122"/>
                  </a:rPr>
                  <a:t>2</a:t>
                </a:r>
                <a:endParaRPr lang="en-US" altLang="zh-CN" sz="2800" baseline="-25000">
                  <a:latin typeface="微软雅黑" panose="020B0503020204020204" charset="-122"/>
                  <a:ea typeface="微软雅黑" panose="020B0503020204020204" charset="-122"/>
                </a:endParaRPr>
              </a:p>
            </p:txBody>
          </p:sp>
          <p:sp>
            <p:nvSpPr>
              <p:cNvPr id="20" name="Rectangle 20"/>
              <p:cNvSpPr>
                <a:spLocks noChangeArrowheads="1"/>
              </p:cNvSpPr>
              <p:nvPr/>
            </p:nvSpPr>
            <p:spPr bwMode="auto">
              <a:xfrm>
                <a:off x="4048043" y="4491271"/>
                <a:ext cx="514885" cy="52322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pPr algn="ctr"/>
                <a:r>
                  <a:rPr lang="en-US" altLang="zh-CN" sz="2800">
                    <a:latin typeface="微软雅黑" panose="020B0503020204020204" charset="-122"/>
                    <a:ea typeface="微软雅黑" panose="020B0503020204020204" charset="-122"/>
                  </a:rPr>
                  <a:t>v</a:t>
                </a:r>
                <a:r>
                  <a:rPr lang="en-US" altLang="zh-CN" sz="2800" baseline="-25000">
                    <a:latin typeface="微软雅黑" panose="020B0503020204020204" charset="-122"/>
                    <a:ea typeface="微软雅黑" panose="020B0503020204020204" charset="-122"/>
                  </a:rPr>
                  <a:t>3</a:t>
                </a:r>
                <a:endParaRPr lang="en-US" altLang="zh-CN" sz="2800" baseline="-25000">
                  <a:latin typeface="微软雅黑" panose="020B0503020204020204" charset="-122"/>
                  <a:ea typeface="微软雅黑" panose="020B0503020204020204" charset="-122"/>
                </a:endParaRPr>
              </a:p>
            </p:txBody>
          </p:sp>
          <p:sp>
            <p:nvSpPr>
              <p:cNvPr id="21" name="Rectangle 21"/>
              <p:cNvSpPr>
                <a:spLocks noChangeArrowheads="1"/>
              </p:cNvSpPr>
              <p:nvPr/>
            </p:nvSpPr>
            <p:spPr bwMode="auto">
              <a:xfrm>
                <a:off x="1096881" y="4491271"/>
                <a:ext cx="514885" cy="52322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pPr algn="ctr"/>
                <a:r>
                  <a:rPr lang="en-US" altLang="zh-CN" sz="2800">
                    <a:latin typeface="微软雅黑" panose="020B0503020204020204" charset="-122"/>
                    <a:ea typeface="微软雅黑" panose="020B0503020204020204" charset="-122"/>
                  </a:rPr>
                  <a:t>v</a:t>
                </a:r>
                <a:r>
                  <a:rPr lang="en-US" altLang="zh-CN" sz="2800" baseline="-25000">
                    <a:latin typeface="微软雅黑" panose="020B0503020204020204" charset="-122"/>
                    <a:ea typeface="微软雅黑" panose="020B0503020204020204" charset="-122"/>
                  </a:rPr>
                  <a:t>4</a:t>
                </a:r>
                <a:endParaRPr lang="en-US" altLang="zh-CN" sz="2800" baseline="-25000">
                  <a:latin typeface="微软雅黑" panose="020B0503020204020204" charset="-122"/>
                  <a:ea typeface="微软雅黑" panose="020B0503020204020204" charset="-122"/>
                </a:endParaRPr>
              </a:p>
            </p:txBody>
          </p:sp>
          <p:sp>
            <p:nvSpPr>
              <p:cNvPr id="23" name="Rectangle 23"/>
              <p:cNvSpPr>
                <a:spLocks noChangeArrowheads="1"/>
              </p:cNvSpPr>
              <p:nvPr/>
            </p:nvSpPr>
            <p:spPr bwMode="auto">
              <a:xfrm>
                <a:off x="2533497" y="2883134"/>
                <a:ext cx="529312" cy="52322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pPr algn="ctr"/>
                <a:r>
                  <a:rPr lang="en-US" altLang="zh-CN" sz="2800">
                    <a:latin typeface="微软雅黑" panose="020B0503020204020204" charset="-122"/>
                    <a:ea typeface="微软雅黑" panose="020B0503020204020204" charset="-122"/>
                  </a:rPr>
                  <a:t>e</a:t>
                </a:r>
                <a:r>
                  <a:rPr lang="en-US" altLang="zh-CN" sz="2800" baseline="-25000">
                    <a:latin typeface="微软雅黑" panose="020B0503020204020204" charset="-122"/>
                    <a:ea typeface="微软雅黑" panose="020B0503020204020204" charset="-122"/>
                  </a:rPr>
                  <a:t>2</a:t>
                </a:r>
                <a:endParaRPr lang="en-US" altLang="zh-CN" sz="2800" baseline="-25000">
                  <a:latin typeface="微软雅黑" panose="020B0503020204020204" charset="-122"/>
                  <a:ea typeface="微软雅黑" panose="020B0503020204020204" charset="-122"/>
                </a:endParaRPr>
              </a:p>
            </p:txBody>
          </p:sp>
          <p:sp>
            <p:nvSpPr>
              <p:cNvPr id="24" name="Rectangle 24"/>
              <p:cNvSpPr>
                <a:spLocks noChangeArrowheads="1"/>
              </p:cNvSpPr>
              <p:nvPr/>
            </p:nvSpPr>
            <p:spPr bwMode="auto">
              <a:xfrm>
                <a:off x="3878110" y="3602271"/>
                <a:ext cx="529312" cy="52322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pPr algn="ctr"/>
                <a:r>
                  <a:rPr lang="en-US" altLang="zh-CN" sz="2800">
                    <a:latin typeface="微软雅黑" panose="020B0503020204020204" charset="-122"/>
                    <a:ea typeface="微软雅黑" panose="020B0503020204020204" charset="-122"/>
                  </a:rPr>
                  <a:t>e</a:t>
                </a:r>
                <a:r>
                  <a:rPr lang="en-US" altLang="zh-CN" sz="2800" baseline="-25000">
                    <a:latin typeface="微软雅黑" panose="020B0503020204020204" charset="-122"/>
                    <a:ea typeface="微软雅黑" panose="020B0503020204020204" charset="-122"/>
                  </a:rPr>
                  <a:t>3</a:t>
                </a:r>
                <a:endParaRPr lang="en-US" altLang="zh-CN" sz="2800" baseline="-25000">
                  <a:latin typeface="微软雅黑" panose="020B0503020204020204" charset="-122"/>
                  <a:ea typeface="微软雅黑" panose="020B0503020204020204" charset="-122"/>
                </a:endParaRPr>
              </a:p>
            </p:txBody>
          </p:sp>
          <p:sp>
            <p:nvSpPr>
              <p:cNvPr id="25" name="Rectangle 25"/>
              <p:cNvSpPr>
                <a:spLocks noChangeArrowheads="1"/>
              </p:cNvSpPr>
              <p:nvPr/>
            </p:nvSpPr>
            <p:spPr bwMode="auto">
              <a:xfrm>
                <a:off x="2460472" y="4348396"/>
                <a:ext cx="529312" cy="52322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pPr algn="ctr"/>
                <a:r>
                  <a:rPr lang="en-US" altLang="zh-CN" sz="2800">
                    <a:latin typeface="微软雅黑" panose="020B0503020204020204" charset="-122"/>
                    <a:ea typeface="微软雅黑" panose="020B0503020204020204" charset="-122"/>
                  </a:rPr>
                  <a:t>e</a:t>
                </a:r>
                <a:r>
                  <a:rPr lang="en-US" altLang="zh-CN" sz="2800" baseline="-25000">
                    <a:latin typeface="微软雅黑" panose="020B0503020204020204" charset="-122"/>
                    <a:ea typeface="微软雅黑" panose="020B0503020204020204" charset="-122"/>
                  </a:rPr>
                  <a:t>4</a:t>
                </a:r>
                <a:endParaRPr lang="en-US" altLang="zh-CN" sz="2800" baseline="-25000">
                  <a:latin typeface="微软雅黑" panose="020B0503020204020204" charset="-122"/>
                  <a:ea typeface="微软雅黑" panose="020B0503020204020204" charset="-122"/>
                </a:endParaRPr>
              </a:p>
            </p:txBody>
          </p:sp>
          <p:sp>
            <p:nvSpPr>
              <p:cNvPr id="26" name="Rectangle 26"/>
              <p:cNvSpPr>
                <a:spLocks noChangeArrowheads="1"/>
              </p:cNvSpPr>
              <p:nvPr/>
            </p:nvSpPr>
            <p:spPr bwMode="auto">
              <a:xfrm>
                <a:off x="1236510" y="3627671"/>
                <a:ext cx="529312" cy="52322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pPr algn="ctr"/>
                <a:r>
                  <a:rPr lang="en-US" altLang="zh-CN" sz="2800">
                    <a:latin typeface="微软雅黑" panose="020B0503020204020204" charset="-122"/>
                    <a:ea typeface="微软雅黑" panose="020B0503020204020204" charset="-122"/>
                  </a:rPr>
                  <a:t>e</a:t>
                </a:r>
                <a:r>
                  <a:rPr lang="en-US" altLang="zh-CN" sz="2800" baseline="-25000">
                    <a:latin typeface="微软雅黑" panose="020B0503020204020204" charset="-122"/>
                    <a:ea typeface="微软雅黑" panose="020B0503020204020204" charset="-122"/>
                  </a:rPr>
                  <a:t>5</a:t>
                </a:r>
                <a:endParaRPr lang="en-US" altLang="zh-CN" sz="2800" baseline="-25000">
                  <a:latin typeface="微软雅黑" panose="020B0503020204020204" charset="-122"/>
                  <a:ea typeface="微软雅黑" panose="020B0503020204020204" charset="-122"/>
                </a:endParaRPr>
              </a:p>
            </p:txBody>
          </p:sp>
          <p:sp>
            <p:nvSpPr>
              <p:cNvPr id="27" name="Rectangle 27"/>
              <p:cNvSpPr>
                <a:spLocks noChangeArrowheads="1"/>
              </p:cNvSpPr>
              <p:nvPr/>
            </p:nvSpPr>
            <p:spPr bwMode="auto">
              <a:xfrm>
                <a:off x="2389035" y="3675296"/>
                <a:ext cx="529312" cy="52322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pPr algn="ctr"/>
                <a:r>
                  <a:rPr lang="en-US" altLang="zh-CN" sz="2800">
                    <a:latin typeface="微软雅黑" panose="020B0503020204020204" charset="-122"/>
                    <a:ea typeface="微软雅黑" panose="020B0503020204020204" charset="-122"/>
                  </a:rPr>
                  <a:t>e</a:t>
                </a:r>
                <a:r>
                  <a:rPr lang="en-US" altLang="zh-CN" sz="2800" baseline="-25000">
                    <a:latin typeface="微软雅黑" panose="020B0503020204020204" charset="-122"/>
                    <a:ea typeface="微软雅黑" panose="020B0503020204020204" charset="-122"/>
                  </a:rPr>
                  <a:t>6</a:t>
                </a:r>
                <a:endParaRPr lang="en-US" altLang="zh-CN" sz="2800" baseline="-25000">
                  <a:latin typeface="微软雅黑" panose="020B0503020204020204" charset="-122"/>
                  <a:ea typeface="微软雅黑" panose="020B0503020204020204" charset="-122"/>
                </a:endParaRPr>
              </a:p>
            </p:txBody>
          </p:sp>
          <p:sp>
            <p:nvSpPr>
              <p:cNvPr id="28" name="Oval 166"/>
              <p:cNvSpPr>
                <a:spLocks noChangeArrowheads="1"/>
              </p:cNvSpPr>
              <p:nvPr/>
            </p:nvSpPr>
            <p:spPr bwMode="auto">
              <a:xfrm>
                <a:off x="2625910" y="5389468"/>
                <a:ext cx="215900" cy="215900"/>
              </a:xfrm>
              <a:prstGeom prst="ellipse">
                <a:avLst/>
              </a:prstGeom>
              <a:solidFill>
                <a:srgbClr val="FF6600"/>
              </a:solidFill>
              <a:ln w="9525">
                <a:solidFill>
                  <a:srgbClr val="FF0000"/>
                </a:solidFill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29" name="Rectangle 167"/>
              <p:cNvSpPr>
                <a:spLocks noChangeArrowheads="1"/>
              </p:cNvSpPr>
              <p:nvPr/>
            </p:nvSpPr>
            <p:spPr bwMode="auto">
              <a:xfrm>
                <a:off x="2808206" y="5211996"/>
                <a:ext cx="514885" cy="52322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pPr algn="ctr"/>
                <a:r>
                  <a:rPr lang="en-US" altLang="zh-CN" sz="2800" dirty="0">
                    <a:latin typeface="微软雅黑" panose="020B0503020204020204" charset="-122"/>
                    <a:ea typeface="微软雅黑" panose="020B0503020204020204" charset="-122"/>
                  </a:rPr>
                  <a:t>v</a:t>
                </a:r>
                <a:r>
                  <a:rPr lang="en-US" altLang="zh-CN" sz="2800" baseline="-25000" dirty="0">
                    <a:latin typeface="微软雅黑" panose="020B0503020204020204" charset="-122"/>
                    <a:ea typeface="微软雅黑" panose="020B0503020204020204" charset="-122"/>
                  </a:rPr>
                  <a:t>5</a:t>
                </a:r>
                <a:endParaRPr lang="en-US" altLang="zh-CN" sz="2800" baseline="-25000" dirty="0">
                  <a:latin typeface="微软雅黑" panose="020B0503020204020204" charset="-122"/>
                  <a:ea typeface="微软雅黑" panose="020B0503020204020204" charset="-122"/>
                </a:endParaRPr>
              </a:p>
            </p:txBody>
          </p:sp>
        </p:grpSp>
      </p:grpSp>
      <p:graphicFrame>
        <p:nvGraphicFramePr>
          <p:cNvPr id="30" name="Group 165"/>
          <p:cNvGraphicFramePr>
            <a:graphicFrameLocks noGrp="1"/>
          </p:cNvGraphicFramePr>
          <p:nvPr/>
        </p:nvGraphicFramePr>
        <p:xfrm>
          <a:off x="6339330" y="1710630"/>
          <a:ext cx="4030662" cy="3744852"/>
        </p:xfrm>
        <a:graphic>
          <a:graphicData uri="http://schemas.openxmlformats.org/drawingml/2006/table">
            <a:tbl>
              <a:tblPr/>
              <a:tblGrid>
                <a:gridCol w="576262"/>
                <a:gridCol w="574675"/>
                <a:gridCol w="576263"/>
                <a:gridCol w="576262"/>
                <a:gridCol w="576263"/>
                <a:gridCol w="574675"/>
                <a:gridCol w="576262"/>
              </a:tblGrid>
              <a:tr h="55721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4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endParaRPr kumimoji="1" lang="en-US" sz="2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4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e</a:t>
                      </a:r>
                      <a:r>
                        <a:rPr kumimoji="1" lang="en-US" altLang="zh-CN" sz="2800" b="1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1</a:t>
                      </a:r>
                      <a:endParaRPr kumimoji="1" lang="en-US" sz="2800" b="1" i="0" u="none" strike="noStrike" cap="none" normalizeH="0" baseline="-2500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4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e</a:t>
                      </a:r>
                      <a:r>
                        <a:rPr kumimoji="1" lang="en-US" altLang="zh-CN" sz="2800" b="1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2</a:t>
                      </a:r>
                      <a:endParaRPr kumimoji="1" lang="en-US" sz="2800" b="1" i="0" u="none" strike="noStrike" cap="none" normalizeH="0" baseline="-2500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4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e</a:t>
                      </a:r>
                      <a:r>
                        <a:rPr kumimoji="1" lang="en-US" altLang="zh-CN" sz="28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3</a:t>
                      </a:r>
                      <a:endParaRPr kumimoji="1" lang="en-US" sz="2800" b="1" i="0" u="none" strike="noStrike" cap="none" normalizeH="0" baseline="-2500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4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e</a:t>
                      </a:r>
                      <a:r>
                        <a:rPr kumimoji="1" lang="en-US" altLang="zh-CN" sz="28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4</a:t>
                      </a:r>
                      <a:endParaRPr kumimoji="1" lang="en-US" sz="2800" b="1" i="0" u="none" strike="noStrike" cap="none" normalizeH="0" baseline="-2500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4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e</a:t>
                      </a:r>
                      <a:r>
                        <a:rPr kumimoji="1" lang="en-US" altLang="zh-CN" sz="28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5</a:t>
                      </a:r>
                      <a:endParaRPr kumimoji="1" lang="en-US" sz="2800" b="1" i="0" u="none" strike="noStrike" cap="none" normalizeH="0" baseline="-2500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4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e</a:t>
                      </a:r>
                      <a:r>
                        <a:rPr kumimoji="1" lang="en-US" altLang="zh-CN" sz="28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6</a:t>
                      </a:r>
                      <a:endParaRPr kumimoji="1" lang="en-US" sz="2800" b="1" i="0" u="none" strike="noStrike" cap="none" normalizeH="0" baseline="-2500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5721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4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v</a:t>
                      </a:r>
                      <a:r>
                        <a:rPr kumimoji="1" lang="en-US" altLang="zh-CN" sz="28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1</a:t>
                      </a:r>
                      <a:endParaRPr kumimoji="1" lang="en-US" sz="2800" b="1" i="0" u="none" strike="noStrike" cap="none" normalizeH="0" baseline="-2500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4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1</a:t>
                      </a:r>
                      <a:endParaRPr kumimoji="1" lang="en-US" sz="2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4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1</a:t>
                      </a:r>
                      <a:endParaRPr kumimoji="1" lang="en-US" sz="2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4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0</a:t>
                      </a:r>
                      <a:endParaRPr kumimoji="1" lang="en-US" sz="2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4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0</a:t>
                      </a:r>
                      <a:endParaRPr kumimoji="1" lang="en-US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4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1</a:t>
                      </a:r>
                      <a:endParaRPr kumimoji="1" lang="en-US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4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1</a:t>
                      </a:r>
                      <a:endParaRPr kumimoji="1" lang="en-US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5721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4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v</a:t>
                      </a:r>
                      <a:r>
                        <a:rPr kumimoji="1" lang="en-US" altLang="zh-CN" sz="28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2</a:t>
                      </a:r>
                      <a:endParaRPr kumimoji="1" lang="en-US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4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1</a:t>
                      </a:r>
                      <a:endParaRPr kumimoji="1" lang="en-US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4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1</a:t>
                      </a:r>
                      <a:endParaRPr kumimoji="1" lang="en-US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4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1</a:t>
                      </a:r>
                      <a:endParaRPr kumimoji="1" lang="en-US" sz="2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4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0</a:t>
                      </a:r>
                      <a:endParaRPr kumimoji="1" lang="en-US" sz="2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4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0</a:t>
                      </a:r>
                      <a:endParaRPr kumimoji="1" lang="en-US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4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0</a:t>
                      </a:r>
                      <a:endParaRPr kumimoji="1" lang="en-US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556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4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v</a:t>
                      </a:r>
                      <a:r>
                        <a:rPr kumimoji="1" lang="en-US" altLang="zh-CN" sz="28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3</a:t>
                      </a:r>
                      <a:endParaRPr kumimoji="1" lang="en-US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4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0</a:t>
                      </a:r>
                      <a:endParaRPr kumimoji="1" lang="en-US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4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0</a:t>
                      </a:r>
                      <a:endParaRPr kumimoji="1" lang="en-US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4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1</a:t>
                      </a:r>
                      <a:endParaRPr kumimoji="1" lang="en-US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4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1</a:t>
                      </a:r>
                      <a:endParaRPr kumimoji="1" lang="en-US" sz="2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4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0</a:t>
                      </a:r>
                      <a:endParaRPr kumimoji="1" lang="en-US" sz="2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4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1</a:t>
                      </a:r>
                      <a:endParaRPr kumimoji="1" lang="en-US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5721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4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v</a:t>
                      </a:r>
                      <a:r>
                        <a:rPr kumimoji="1" lang="en-US" altLang="zh-CN" sz="28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4</a:t>
                      </a:r>
                      <a:endParaRPr kumimoji="1" lang="en-US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4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0</a:t>
                      </a:r>
                      <a:endParaRPr kumimoji="1" lang="en-US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4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0</a:t>
                      </a:r>
                      <a:endParaRPr kumimoji="1" lang="en-US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4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0</a:t>
                      </a:r>
                      <a:endParaRPr kumimoji="1" lang="en-US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4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1</a:t>
                      </a:r>
                      <a:endParaRPr kumimoji="1" lang="en-US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4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1</a:t>
                      </a:r>
                      <a:endParaRPr kumimoji="1" lang="en-US" sz="2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4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0</a:t>
                      </a:r>
                      <a:endParaRPr kumimoji="1" lang="en-US" sz="2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5721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4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v</a:t>
                      </a:r>
                      <a:r>
                        <a:rPr kumimoji="1" lang="en-US" altLang="zh-CN" sz="28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5</a:t>
                      </a:r>
                      <a:endParaRPr kumimoji="1" lang="en-US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4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0</a:t>
                      </a:r>
                      <a:endParaRPr kumimoji="1" lang="en-US" sz="2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4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0</a:t>
                      </a:r>
                      <a:endParaRPr kumimoji="1" lang="en-US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4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0</a:t>
                      </a:r>
                      <a:endParaRPr kumimoji="1" lang="en-US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4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0</a:t>
                      </a:r>
                      <a:endParaRPr kumimoji="1" lang="en-US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4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0</a:t>
                      </a:r>
                      <a:endParaRPr kumimoji="1" lang="en-US" sz="2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4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0</a:t>
                      </a:r>
                      <a:endParaRPr kumimoji="1" lang="en-US" sz="2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6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b="1">
                <a:latin typeface="微软雅黑" panose="020B0503020204020204" charset="-122"/>
                <a:ea typeface="微软雅黑" panose="020B0503020204020204" charset="-122"/>
              </a:rPr>
              <a:t>7-7  </a:t>
            </a:r>
            <a:r>
              <a:rPr lang="zh-CN" altLang="en-US" b="1">
                <a:latin typeface="微软雅黑" panose="020B0503020204020204" charset="-122"/>
                <a:ea typeface="微软雅黑" panose="020B0503020204020204" charset="-122"/>
              </a:rPr>
              <a:t>树与生成树</a:t>
            </a:r>
            <a:endParaRPr lang="en-US" altLang="ko-KR"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" name="Rectangle 3"/>
          <p:cNvSpPr txBox="1">
            <a:spLocks noRot="1" noChangeArrowheads="1"/>
          </p:cNvSpPr>
          <p:nvPr/>
        </p:nvSpPr>
        <p:spPr bwMode="auto">
          <a:xfrm>
            <a:off x="669924" y="1414880"/>
            <a:ext cx="10850564" cy="47180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fontAlgn="ctr" hangingPunct="1">
              <a:lnSpc>
                <a:spcPct val="150000"/>
              </a:lnSpc>
              <a:buClr>
                <a:srgbClr val="012063"/>
              </a:buClr>
              <a:defRPr/>
            </a:pPr>
            <a:r>
              <a:rPr lang="zh-CN" altLang="en-US" sz="2400" b="1" dirty="0">
                <a:solidFill>
                  <a:srgbClr val="7030A0"/>
                </a:solidFill>
                <a:latin typeface="微软雅黑" panose="020B0503020204020204" charset="-122"/>
                <a:ea typeface="微软雅黑" panose="020B0503020204020204" charset="-122"/>
              </a:rPr>
              <a:t>例：</a:t>
            </a:r>
            <a: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</a:rPr>
              <a:t>设</a:t>
            </a:r>
            <a:r>
              <a:rPr lang="en-US" altLang="zh-CN" sz="2400" b="1" dirty="0">
                <a:latin typeface="微软雅黑" panose="020B0503020204020204" charset="-122"/>
                <a:ea typeface="微软雅黑" panose="020B0503020204020204" charset="-122"/>
              </a:rPr>
              <a:t>T=&lt;V,E&gt;</a:t>
            </a:r>
            <a: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</a:rPr>
              <a:t>是树，如</a:t>
            </a:r>
            <a:r>
              <a:rPr lang="en-US" altLang="zh-CN" sz="2400" b="1" dirty="0">
                <a:latin typeface="微软雅黑" panose="020B0503020204020204" charset="-122"/>
                <a:ea typeface="微软雅黑" panose="020B0503020204020204" charset="-122"/>
              </a:rPr>
              <a:t>|V|=20</a:t>
            </a:r>
            <a: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</a:rPr>
              <a:t>，树叶共有</a:t>
            </a:r>
            <a:r>
              <a:rPr lang="en-US" altLang="zh-CN" sz="2400" b="1" dirty="0">
                <a:latin typeface="微软雅黑" panose="020B0503020204020204" charset="-122"/>
                <a:ea typeface="微软雅黑" panose="020B0503020204020204" charset="-122"/>
              </a:rPr>
              <a:t>8</a:t>
            </a:r>
            <a: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</a:rPr>
              <a:t>个，其它结点的度数均≤</a:t>
            </a:r>
            <a:r>
              <a:rPr lang="en-US" altLang="zh-CN" sz="2400" b="1" dirty="0">
                <a:latin typeface="微软雅黑" panose="020B0503020204020204" charset="-122"/>
                <a:ea typeface="微软雅黑" panose="020B0503020204020204" charset="-122"/>
              </a:rPr>
              <a:t>3</a:t>
            </a:r>
            <a: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</a:rPr>
              <a:t>，问</a:t>
            </a:r>
            <a:r>
              <a:rPr lang="en-US" altLang="zh-CN" sz="2400" b="1" dirty="0">
                <a:latin typeface="微软雅黑" panose="020B0503020204020204" charset="-122"/>
                <a:ea typeface="微软雅黑" panose="020B0503020204020204" charset="-122"/>
              </a:rPr>
              <a:t>2</a:t>
            </a:r>
            <a: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</a:rPr>
              <a:t>度结点和</a:t>
            </a:r>
            <a:r>
              <a:rPr lang="en-US" altLang="zh-CN" sz="2400" b="1" dirty="0">
                <a:latin typeface="微软雅黑" panose="020B0503020204020204" charset="-122"/>
                <a:ea typeface="微软雅黑" panose="020B0503020204020204" charset="-122"/>
              </a:rPr>
              <a:t>3</a:t>
            </a:r>
            <a: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</a:rPr>
              <a:t>度结点各有多少。</a:t>
            </a:r>
            <a:endParaRPr lang="zh-CN" altLang="en-US" sz="2400" b="1" dirty="0">
              <a:solidFill>
                <a:schemeClr val="accent2">
                  <a:lumMod val="75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marL="0" marR="0" lvl="0" indent="0" algn="l" defTabSz="914400" rtl="0" eaLnBrk="1" fontAlgn="ctr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12063"/>
              </a:buClr>
              <a:buSzTx/>
              <a:buFont typeface="Wingdings 2" panose="05020102010507070707" pitchFamily="18" charset="2"/>
              <a:buNone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E8707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解：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设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2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度结点为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x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个，</a:t>
            </a:r>
            <a:endParaRPr kumimoji="0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  <a:p>
            <a:pPr marL="0" marR="0" lvl="0" indent="0" algn="l" defTabSz="914400" rtl="0" eaLnBrk="1" fontAlgn="ctr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12063"/>
              </a:buClr>
              <a:buSzTx/>
              <a:buFont typeface="Wingdings 2" panose="05020102010507070707" pitchFamily="18" charset="2"/>
              <a:buNone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      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则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3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度结点为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(20-8-x)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个。</a:t>
            </a:r>
            <a:endParaRPr kumimoji="0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  <a:p>
            <a:pPr marL="0" marR="0" lvl="0" indent="0" algn="l" defTabSz="914400" rtl="0" eaLnBrk="1" fontAlgn="ctr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12063"/>
              </a:buClr>
              <a:buSzTx/>
              <a:buFont typeface="Wingdings 2" panose="05020102010507070707" pitchFamily="18" charset="2"/>
              <a:buNone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      因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2e=∑</a:t>
            </a:r>
            <a:r>
              <a:rPr kumimoji="0" lang="en-US" altLang="zh-CN" sz="2400" b="1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deg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(v</a:t>
            </a:r>
            <a:r>
              <a:rPr kumimoji="0" lang="en-US" altLang="zh-CN" sz="2400" b="1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i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)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，而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e=v-1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，</a:t>
            </a: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  <a:p>
            <a:pPr marL="0" marR="0" lvl="0" indent="0" algn="l" defTabSz="914400" rtl="0" eaLnBrk="1" fontAlgn="ctr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12063"/>
              </a:buClr>
              <a:buSzTx/>
              <a:buFont typeface="Wingdings 2" panose="05020102010507070707" pitchFamily="18" charset="2"/>
              <a:buNone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      故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2×(20-1)=1×8+2x+3(20-8-x)</a:t>
            </a:r>
            <a:endParaRPr kumimoji="0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  <a:p>
            <a:pPr marL="0" marR="0" lvl="0" indent="0" algn="l" defTabSz="914400" rtl="0" eaLnBrk="1" fontAlgn="ctr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12063"/>
              </a:buClr>
              <a:buSzTx/>
              <a:buFont typeface="Wingdings 2" panose="05020102010507070707" pitchFamily="18" charset="2"/>
              <a:buNone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      解出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2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度结点数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x=6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，</a:t>
            </a:r>
            <a:endParaRPr kumimoji="0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  <a:p>
            <a:pPr marL="0" marR="0" lvl="0" indent="0" algn="l" defTabSz="914400" rtl="0" eaLnBrk="1" fontAlgn="ctr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12063"/>
              </a:buClr>
              <a:buSzTx/>
              <a:buFont typeface="Wingdings 2" panose="05020102010507070707" pitchFamily="18" charset="2"/>
              <a:buNone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      3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度结点共有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20-8-6=6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个</a:t>
            </a: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6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b="1">
                <a:latin typeface="微软雅黑" panose="020B0503020204020204" charset="-122"/>
                <a:ea typeface="微软雅黑" panose="020B0503020204020204" charset="-122"/>
              </a:rPr>
              <a:t>7-7  </a:t>
            </a:r>
            <a:r>
              <a:rPr lang="zh-CN" altLang="en-US" b="1">
                <a:latin typeface="微软雅黑" panose="020B0503020204020204" charset="-122"/>
                <a:ea typeface="微软雅黑" panose="020B0503020204020204" charset="-122"/>
              </a:rPr>
              <a:t>树与生成树</a:t>
            </a:r>
            <a:endParaRPr lang="en-US" altLang="ko-KR"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219" name="Rectangle 3"/>
          <p:cNvSpPr>
            <a:spLocks noGrp="1" noRot="1" noChangeArrowheads="1"/>
          </p:cNvSpPr>
          <p:nvPr>
            <p:ph idx="1"/>
          </p:nvPr>
        </p:nvSpPr>
        <p:spPr>
          <a:xfrm>
            <a:off x="669925" y="1383056"/>
            <a:ext cx="10850563" cy="1249782"/>
          </a:xfrm>
        </p:spPr>
        <p:txBody>
          <a:bodyPr>
            <a:normAutofit lnSpcReduction="10000"/>
          </a:bodyPr>
          <a:lstStyle/>
          <a:p>
            <a:pPr marL="0" indent="0" fontAlgn="ctr">
              <a:lnSpc>
                <a:spcPct val="160000"/>
              </a:lnSpc>
              <a:spcBef>
                <a:spcPts val="0"/>
              </a:spcBef>
              <a:buNone/>
            </a:pPr>
            <a:r>
              <a:rPr lang="en-US" altLang="zh-CN" sz="2400" b="1" dirty="0">
                <a:solidFill>
                  <a:srgbClr val="7030A0"/>
                </a:solidFill>
                <a:latin typeface="微软雅黑" panose="020B0503020204020204" charset="-122"/>
                <a:ea typeface="微软雅黑" panose="020B0503020204020204" charset="-122"/>
              </a:rPr>
              <a:t>7-7</a:t>
            </a:r>
            <a:r>
              <a:rPr lang="zh-CN" altLang="en-US" sz="2400" b="1" dirty="0">
                <a:solidFill>
                  <a:srgbClr val="7030A0"/>
                </a:solidFill>
                <a:latin typeface="微软雅黑" panose="020B0503020204020204" charset="-122"/>
                <a:ea typeface="微软雅黑" panose="020B0503020204020204" charset="-122"/>
              </a:rPr>
              <a:t>习题</a:t>
            </a:r>
            <a:r>
              <a:rPr lang="en-US" altLang="zh-CN" sz="2400" b="1" dirty="0">
                <a:solidFill>
                  <a:srgbClr val="7030A0"/>
                </a:solidFill>
                <a:latin typeface="微软雅黑" panose="020B0503020204020204" charset="-122"/>
                <a:ea typeface="微软雅黑" panose="020B0503020204020204" charset="-122"/>
              </a:rPr>
              <a:t>(2) </a:t>
            </a:r>
            <a: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</a:rPr>
              <a:t>一棵树有两个结点度数为</a:t>
            </a:r>
            <a:r>
              <a:rPr lang="en-US" altLang="zh-CN" sz="2400" b="1" dirty="0">
                <a:latin typeface="微软雅黑" panose="020B0503020204020204" charset="-122"/>
                <a:ea typeface="微软雅黑" panose="020B0503020204020204" charset="-122"/>
              </a:rPr>
              <a:t>2</a:t>
            </a:r>
            <a: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</a:rPr>
              <a:t>，一个结点度数为</a:t>
            </a:r>
            <a:r>
              <a:rPr lang="en-US" altLang="zh-CN" sz="2400" b="1" dirty="0">
                <a:latin typeface="微软雅黑" panose="020B0503020204020204" charset="-122"/>
                <a:ea typeface="微软雅黑" panose="020B0503020204020204" charset="-122"/>
              </a:rPr>
              <a:t>3</a:t>
            </a:r>
            <a: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</a:rPr>
              <a:t>，三个结点度数为</a:t>
            </a:r>
            <a:r>
              <a:rPr lang="en-US" altLang="zh-CN" sz="2400" b="1" dirty="0">
                <a:latin typeface="微软雅黑" panose="020B0503020204020204" charset="-122"/>
                <a:ea typeface="微软雅黑" panose="020B0503020204020204" charset="-122"/>
              </a:rPr>
              <a:t>4 </a:t>
            </a:r>
            <a: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</a:rPr>
              <a:t>，问它有几个度数为</a:t>
            </a:r>
            <a:r>
              <a:rPr lang="en-US" altLang="zh-CN" sz="2400" b="1" dirty="0">
                <a:latin typeface="微软雅黑" panose="020B0503020204020204" charset="-122"/>
                <a:ea typeface="微软雅黑" panose="020B0503020204020204" charset="-122"/>
              </a:rPr>
              <a:t>1</a:t>
            </a:r>
            <a: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</a:rPr>
              <a:t>的结点。 </a:t>
            </a:r>
            <a:endParaRPr lang="zh-CN" altLang="en-US" sz="2400" b="1" dirty="0">
              <a:latin typeface="微软雅黑" panose="020B0503020204020204" charset="-122"/>
              <a:ea typeface="微软雅黑" panose="020B0503020204020204" charset="-122"/>
            </a:endParaRPr>
          </a:p>
          <a:p>
            <a:pPr marL="0" indent="0" fontAlgn="ctr">
              <a:lnSpc>
                <a:spcPct val="160000"/>
              </a:lnSpc>
              <a:spcBef>
                <a:spcPts val="0"/>
              </a:spcBef>
              <a:buNone/>
            </a:pPr>
            <a:endParaRPr lang="zh-CN" altLang="en-US" sz="2400" b="1" dirty="0">
              <a:latin typeface="微软雅黑" panose="020B0503020204020204" charset="-122"/>
              <a:ea typeface="微软雅黑" panose="020B0503020204020204" charset="-122"/>
            </a:endParaRPr>
          </a:p>
          <a:p>
            <a:pPr marL="0" indent="0" fontAlgn="ctr">
              <a:lnSpc>
                <a:spcPct val="160000"/>
              </a:lnSpc>
              <a:spcBef>
                <a:spcPts val="0"/>
              </a:spcBef>
              <a:buNone/>
            </a:pPr>
            <a:endParaRPr lang="zh-CN" altLang="en-US" sz="2400" b="1" dirty="0">
              <a:latin typeface="微软雅黑" panose="020B0503020204020204" charset="-122"/>
              <a:ea typeface="微软雅黑" panose="020B0503020204020204" charset="-122"/>
            </a:endParaRPr>
          </a:p>
          <a:p>
            <a:pPr marL="0" indent="0" fontAlgn="ctr">
              <a:lnSpc>
                <a:spcPct val="160000"/>
              </a:lnSpc>
              <a:spcBef>
                <a:spcPts val="0"/>
              </a:spcBef>
              <a:buNone/>
            </a:pPr>
            <a:endParaRPr lang="zh-CN" altLang="en-US" sz="2400" b="1" dirty="0">
              <a:latin typeface="微软雅黑" panose="020B0503020204020204" charset="-122"/>
              <a:ea typeface="微软雅黑" panose="020B0503020204020204" charset="-122"/>
            </a:endParaRPr>
          </a:p>
          <a:p>
            <a:pPr marL="0" indent="0" fontAlgn="ctr">
              <a:lnSpc>
                <a:spcPct val="160000"/>
              </a:lnSpc>
              <a:spcBef>
                <a:spcPts val="0"/>
              </a:spcBef>
              <a:buNone/>
            </a:pPr>
            <a:endParaRPr lang="zh-CN" altLang="en-US" sz="2400" b="1" dirty="0">
              <a:latin typeface="微软雅黑" panose="020B0503020204020204" charset="-122"/>
              <a:ea typeface="微软雅黑" panose="020B0503020204020204" charset="-122"/>
            </a:endParaRPr>
          </a:p>
          <a:p>
            <a:pPr marL="0" indent="0" fontAlgn="ctr">
              <a:lnSpc>
                <a:spcPct val="160000"/>
              </a:lnSpc>
              <a:spcBef>
                <a:spcPts val="0"/>
              </a:spcBef>
              <a:buNone/>
            </a:pPr>
            <a:endParaRPr lang="zh-CN" altLang="en-US" sz="2400" b="1" dirty="0">
              <a:latin typeface="微软雅黑" panose="020B0503020204020204" charset="-122"/>
              <a:ea typeface="微软雅黑" panose="020B0503020204020204" charset="-122"/>
            </a:endParaRPr>
          </a:p>
          <a:p>
            <a:pPr marL="0" indent="0" fontAlgn="ctr">
              <a:lnSpc>
                <a:spcPct val="160000"/>
              </a:lnSpc>
              <a:spcBef>
                <a:spcPts val="0"/>
              </a:spcBef>
              <a:buNone/>
            </a:pPr>
            <a:endParaRPr lang="zh-CN" altLang="en-US" sz="2400" b="1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" name="Rectangle 3"/>
          <p:cNvSpPr txBox="1">
            <a:spLocks noRot="1" noChangeArrowheads="1"/>
          </p:cNvSpPr>
          <p:nvPr/>
        </p:nvSpPr>
        <p:spPr bwMode="auto">
          <a:xfrm>
            <a:off x="669925" y="2682968"/>
            <a:ext cx="10850563" cy="343958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marL="0" marR="0" lvl="0" indent="0" algn="l" defTabSz="914400" rtl="0" eaLnBrk="1" fontAlgn="ctr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12063"/>
              </a:buClr>
              <a:buSzTx/>
              <a:buFont typeface="Wingdings 2" panose="05020102010507070707" pitchFamily="18" charset="2"/>
              <a:buNone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E8707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解：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设有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x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个度数为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1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的结点，则：</a:t>
            </a: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  <a:p>
            <a:pPr marL="0" marR="0" lvl="0" indent="0" algn="l" defTabSz="914400" rtl="0" eaLnBrk="1" fontAlgn="ctr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12063"/>
              </a:buClr>
              <a:buSzTx/>
              <a:buFont typeface="Wingdings 2" panose="05020102010507070707" pitchFamily="18" charset="2"/>
              <a:buNone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       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EE623A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结点数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v=2+1+3+x=6+x</a:t>
            </a:r>
            <a:endParaRPr kumimoji="0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  <a:p>
            <a:pPr marL="0" marR="0" lvl="0" indent="0" algn="l" defTabSz="914400" rtl="0" eaLnBrk="1" fontAlgn="ctr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12063"/>
              </a:buClr>
              <a:buSzTx/>
              <a:buFont typeface="Wingdings 2" panose="05020102010507070707" pitchFamily="18" charset="2"/>
              <a:buNone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       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EE623A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边数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e=v-1=5+x</a:t>
            </a:r>
            <a:endParaRPr kumimoji="0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  <a:p>
            <a:pPr marL="0" marR="0" lvl="0" indent="0" algn="l" defTabSz="914400" rtl="0" eaLnBrk="1" fontAlgn="ctr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12063"/>
              </a:buClr>
              <a:buSzTx/>
              <a:buFont typeface="Wingdings 2" panose="05020102010507070707" pitchFamily="18" charset="2"/>
              <a:buNone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       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在图中所有结点度数之和等于边数的两倍（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EE623A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握手定理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），</a:t>
            </a: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  <a:p>
            <a:pPr marL="0" marR="0" lvl="0" indent="0" algn="l" defTabSz="914400" rtl="0" eaLnBrk="1" fontAlgn="ctr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12063"/>
              </a:buClr>
              <a:buSzTx/>
              <a:buFont typeface="Wingdings 2" panose="05020102010507070707" pitchFamily="18" charset="2"/>
              <a:buNone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       所以：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2×2+1×3+3×4+x×1=2×(5+x) </a:t>
            </a:r>
            <a:endParaRPr kumimoji="0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  <a:p>
            <a:pPr marL="0" marR="0" lvl="0" indent="0" algn="l" defTabSz="914400" rtl="0" eaLnBrk="1" fontAlgn="ctr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12063"/>
              </a:buClr>
              <a:buSzTx/>
              <a:buFont typeface="Wingdings 2" panose="05020102010507070707" pitchFamily="18" charset="2"/>
              <a:buNone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       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解得：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x=9</a:t>
            </a: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33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latin typeface="微软雅黑" panose="020B0503020204020204" charset="-122"/>
                <a:ea typeface="微软雅黑" panose="020B0503020204020204" charset="-122"/>
              </a:rPr>
              <a:t>7-7  </a:t>
            </a:r>
            <a:r>
              <a:rPr lang="zh-CN" altLang="en-US" dirty="0">
                <a:latin typeface="微软雅黑" panose="020B0503020204020204" charset="-122"/>
                <a:ea typeface="微软雅黑" panose="020B0503020204020204" charset="-122"/>
              </a:rPr>
              <a:t>树与生成树</a:t>
            </a:r>
            <a:endParaRPr lang="en-US" altLang="zh-CN" dirty="0">
              <a:ea typeface="宋体" panose="02010600030101010101" pitchFamily="2" charset="-122"/>
            </a:endParaRPr>
          </a:p>
        </p:txBody>
      </p:sp>
      <p:sp>
        <p:nvSpPr>
          <p:cNvPr id="270339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669925" y="1132325"/>
            <a:ext cx="10099749" cy="1185206"/>
          </a:xfrm>
          <a:prstGeom prst="rect">
            <a:avLst/>
          </a:prstGeom>
        </p:spPr>
        <p:txBody>
          <a:bodyPr>
            <a:normAutofit lnSpcReduction="10000"/>
          </a:bodyPr>
          <a:lstStyle/>
          <a:p>
            <a:pPr>
              <a:lnSpc>
                <a:spcPct val="150000"/>
              </a:lnSpc>
              <a:spcBef>
                <a:spcPts val="600"/>
              </a:spcBef>
              <a:buFont typeface="Wingdings" panose="05000000000000000000" pitchFamily="2" charset="2"/>
              <a:buNone/>
            </a:pPr>
            <a:r>
              <a:rPr lang="zh-CN" altLang="en-US" sz="2400" b="1" dirty="0">
                <a:solidFill>
                  <a:srgbClr val="7030A0"/>
                </a:solidFill>
                <a:latin typeface="微软雅黑" panose="020B0503020204020204" charset="-122"/>
                <a:ea typeface="微软雅黑" panose="020B0503020204020204" charset="-122"/>
              </a:rPr>
              <a:t>例：</a:t>
            </a:r>
            <a: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</a:rPr>
              <a:t>求下图所示的图的生成树。</a:t>
            </a:r>
            <a:endParaRPr lang="en-US" altLang="zh-CN" sz="2400" b="1" dirty="0"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150000"/>
              </a:lnSpc>
              <a:spcBef>
                <a:spcPts val="600"/>
              </a:spcBef>
              <a:buFont typeface="Wingdings" panose="05000000000000000000" pitchFamily="2" charset="2"/>
              <a:buNone/>
            </a:pPr>
            <a:r>
              <a:rPr lang="zh-CN" altLang="en-US" sz="2400" b="1" dirty="0">
                <a:solidFill>
                  <a:srgbClr val="EE623A"/>
                </a:solidFill>
                <a:latin typeface="微软雅黑" panose="020B0503020204020204" charset="-122"/>
                <a:ea typeface="微软雅黑" panose="020B0503020204020204" charset="-122"/>
              </a:rPr>
              <a:t>破圈法：</a:t>
            </a:r>
            <a:endParaRPr lang="zh-CN" altLang="en-US" sz="2400" b="1" dirty="0">
              <a:solidFill>
                <a:srgbClr val="EE623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BEBA8EAE-BF5A-486C-A8C5-ECC9F3942E4B}">
                <a14:imgProps xmlns:a14="http://schemas.microsoft.com/office/drawing/2010/main">
                  <a14:imgLayer r:embed="rId2">
                    <a14:imgEffect>
                      <a14:sharpenSoften amount="5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92353" y="1830175"/>
            <a:ext cx="2743583" cy="2324424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harpenSoften amount="5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36552" y="1724928"/>
            <a:ext cx="2715004" cy="2324424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sharpenSoften amount="5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32328" y="4221195"/>
            <a:ext cx="2715004" cy="2324424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7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sharpenSoften amount="5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37703" y="4154599"/>
            <a:ext cx="2715004" cy="2324424"/>
          </a:xfrm>
          <a:prstGeom prst="rect">
            <a:avLst/>
          </a:prstGeom>
        </p:spPr>
      </p:pic>
      <p:pic>
        <p:nvPicPr>
          <p:cNvPr id="11" name="图片 10"/>
          <p:cNvPicPr>
            <a:picLocks noChangeAspect="1"/>
          </p:cNvPicPr>
          <p:nvPr/>
        </p:nvPicPr>
        <p:blipFill>
          <a:blip r:embed="rId9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BEBA8EAE-BF5A-486C-A8C5-ECC9F3942E4B}">
                <a14:imgProps xmlns:a14="http://schemas.microsoft.com/office/drawing/2010/main">
                  <a14:imgLayer r:embed="rId10">
                    <a14:imgEffect>
                      <a14:sharpenSoften amount="5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43078" y="4221195"/>
            <a:ext cx="2800741" cy="2343477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033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7033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7033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5" name="Rectangle 6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b="1" dirty="0">
                <a:latin typeface="微软雅黑" panose="020B0503020204020204" charset="-122"/>
                <a:ea typeface="微软雅黑" panose="020B0503020204020204" charset="-122"/>
              </a:rPr>
              <a:t>7-7  </a:t>
            </a:r>
            <a:r>
              <a:rPr lang="zh-CN" altLang="en-US" b="1" dirty="0">
                <a:latin typeface="微软雅黑" panose="020B0503020204020204" charset="-122"/>
                <a:ea typeface="微软雅黑" panose="020B0503020204020204" charset="-122"/>
              </a:rPr>
              <a:t>树与生成树</a:t>
            </a:r>
            <a:endParaRPr lang="en-US" altLang="ko-KR" b="1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18436" name="Picture 3" descr="Img00096"/>
          <p:cNvPicPr>
            <a:picLocks noChangeAspect="1" noChangeArrowheads="1"/>
          </p:cNvPicPr>
          <p:nvPr/>
        </p:nvPicPr>
        <p:blipFill>
          <a:blip r:embed="rId1">
            <a:duotone>
              <a:prstClr val="black"/>
              <a:schemeClr val="bg1">
                <a:lumMod val="75000"/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88018" y="2046817"/>
            <a:ext cx="8928100" cy="445346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Rectangle 4"/>
          <p:cNvSpPr>
            <a:spLocks noChangeArrowheads="1"/>
          </p:cNvSpPr>
          <p:nvPr/>
        </p:nvSpPr>
        <p:spPr bwMode="auto">
          <a:xfrm>
            <a:off x="669925" y="1257301"/>
            <a:ext cx="5442823" cy="461665"/>
          </a:xfrm>
          <a:prstGeom prst="rect">
            <a:avLst/>
          </a:prstGeom>
          <a:noFill/>
          <a:ln w="9525">
            <a:noFill/>
            <a:miter lim="800000"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例：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求下图中有权图的最小生成树。 </a:t>
            </a: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3894083" y="2046817"/>
            <a:ext cx="2218665" cy="2226733"/>
          </a:xfrm>
          <a:prstGeom prst="rect">
            <a:avLst/>
          </a:prstGeom>
          <a:solidFill>
            <a:srgbClr val="E4E4E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微软雅黑" panose="020B0503020204020204" charset="-122"/>
              <a:cs typeface="+mn-cs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5749159" y="2214776"/>
            <a:ext cx="2218665" cy="2226733"/>
          </a:xfrm>
          <a:prstGeom prst="rect">
            <a:avLst/>
          </a:prstGeom>
          <a:solidFill>
            <a:srgbClr val="E4E4E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微软雅黑" panose="020B0503020204020204" charset="-122"/>
              <a:cs typeface="+mn-cs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8197453" y="2046817"/>
            <a:ext cx="2218665" cy="2226733"/>
          </a:xfrm>
          <a:prstGeom prst="rect">
            <a:avLst/>
          </a:prstGeom>
          <a:solidFill>
            <a:srgbClr val="E4E4E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微软雅黑" panose="020B0503020204020204" charset="-122"/>
              <a:cs typeface="+mn-cs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1363148" y="4273550"/>
            <a:ext cx="2218665" cy="2226733"/>
          </a:xfrm>
          <a:prstGeom prst="rect">
            <a:avLst/>
          </a:prstGeom>
          <a:solidFill>
            <a:srgbClr val="E4E4E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微软雅黑" panose="020B0503020204020204" charset="-122"/>
              <a:cs typeface="+mn-cs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3894082" y="4273551"/>
            <a:ext cx="2218665" cy="2226733"/>
          </a:xfrm>
          <a:prstGeom prst="rect">
            <a:avLst/>
          </a:prstGeom>
          <a:solidFill>
            <a:srgbClr val="E4E4E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微软雅黑" panose="020B0503020204020204" charset="-122"/>
              <a:cs typeface="+mn-cs"/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5812712" y="4273549"/>
            <a:ext cx="2218665" cy="2226733"/>
          </a:xfrm>
          <a:prstGeom prst="rect">
            <a:avLst/>
          </a:prstGeom>
          <a:solidFill>
            <a:srgbClr val="E4E4E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微软雅黑" panose="020B0503020204020204" charset="-122"/>
              <a:cs typeface="+mn-cs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8318938" y="4425950"/>
            <a:ext cx="2218665" cy="2226733"/>
          </a:xfrm>
          <a:prstGeom prst="rect">
            <a:avLst/>
          </a:prstGeom>
          <a:solidFill>
            <a:srgbClr val="E4E4E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微软雅黑" panose="020B0503020204020204" charset="-122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ldLvl="0" animBg="1"/>
      <p:bldP spid="6" grpId="0" bldLvl="0" animBg="1"/>
      <p:bldP spid="7" grpId="0" bldLvl="0" animBg="1"/>
      <p:bldP spid="8" grpId="0" bldLvl="0" animBg="1"/>
      <p:bldP spid="10" grpId="0" bldLvl="0" animBg="1"/>
      <p:bldP spid="11" grpId="0" bldLvl="0" animBg="1"/>
      <p:bldP spid="12" grpId="0" bldLvl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1218" name="Text Box 2"/>
          <p:cNvSpPr txBox="1">
            <a:spLocks noChangeArrowheads="1"/>
          </p:cNvSpPr>
          <p:nvPr/>
        </p:nvSpPr>
        <p:spPr bwMode="auto">
          <a:xfrm>
            <a:off x="683686" y="1781015"/>
            <a:ext cx="10836801" cy="11350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marL="0" marR="0" lvl="0" indent="0" algn="just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例：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设有一台计算机，它有一条加法指令，可计算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3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个数的和。如果要计算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9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个数的和，问至少要执行几次加法指令？</a:t>
            </a: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latin typeface="微软雅黑" panose="020B0503020204020204" charset="-122"/>
                <a:ea typeface="微软雅黑" panose="020B0503020204020204" charset="-122"/>
              </a:rPr>
              <a:t>7-8 </a:t>
            </a:r>
            <a:r>
              <a:rPr lang="zh-CN" altLang="en-US" dirty="0">
                <a:latin typeface="微软雅黑" panose="020B0503020204020204" charset="-122"/>
                <a:ea typeface="微软雅黑" panose="020B0503020204020204" charset="-122"/>
              </a:rPr>
              <a:t>根树及其应用</a:t>
            </a:r>
            <a:endParaRPr lang="zh-CN" altLang="en-US" dirty="0"/>
          </a:p>
        </p:txBody>
      </p:sp>
      <p:sp>
        <p:nvSpPr>
          <p:cNvPr id="4" name="AutoShape 2"/>
          <p:cNvSpPr>
            <a:spLocks noChangeArrowheads="1"/>
          </p:cNvSpPr>
          <p:nvPr/>
        </p:nvSpPr>
        <p:spPr bwMode="auto">
          <a:xfrm>
            <a:off x="683685" y="1221317"/>
            <a:ext cx="2753198" cy="406400"/>
          </a:xfrm>
          <a:prstGeom prst="roundRect">
            <a:avLst>
              <a:gd name="adj" fmla="val 16667"/>
            </a:avLst>
          </a:prstGeom>
          <a:gradFill rotWithShape="1">
            <a:gsLst>
              <a:gs pos="0">
                <a:srgbClr val="6C0A38"/>
              </a:gs>
              <a:gs pos="100000">
                <a:schemeClr val="accent2"/>
              </a:gs>
            </a:gsLst>
            <a:lin ang="0" scaled="1"/>
          </a:gradFill>
          <a:ln>
            <a:noFill/>
          </a:ln>
          <a:effectLst>
            <a:outerShdw dist="107763" dir="2700000" algn="ctr" rotWithShape="0">
              <a:schemeClr val="bg2">
                <a:alpha val="50000"/>
              </a:schemeClr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完全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m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叉树的性质</a:t>
            </a: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pic>
        <p:nvPicPr>
          <p:cNvPr id="55298" name="Picture 2"/>
          <p:cNvPicPr>
            <a:picLocks noChangeAspect="1" noChangeArrowheads="1"/>
          </p:cNvPicPr>
          <p:nvPr/>
        </p:nvPicPr>
        <p:blipFill rotWithShape="1">
          <a:blip r:embed="rId1">
            <a:clrChange>
              <a:clrFrom>
                <a:srgbClr val="CFE1CF"/>
              </a:clrFrom>
              <a:clrTo>
                <a:srgbClr val="CFE1C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6285"/>
          <a:stretch>
            <a:fillRect/>
          </a:stretch>
        </p:blipFill>
        <p:spPr bwMode="auto">
          <a:xfrm>
            <a:off x="6008020" y="4892566"/>
            <a:ext cx="2971800" cy="164245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5299" name="Picture 3"/>
          <p:cNvPicPr>
            <a:picLocks noChangeAspect="1" noChangeArrowheads="1"/>
          </p:cNvPicPr>
          <p:nvPr/>
        </p:nvPicPr>
        <p:blipFill>
          <a:blip r:embed="rId2">
            <a:clrChange>
              <a:clrFrom>
                <a:srgbClr val="CFE1CF"/>
              </a:clrFrom>
              <a:clrTo>
                <a:srgbClr val="CFE1C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59874" y="2781792"/>
            <a:ext cx="2362200" cy="2600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矩形 4"/>
          <p:cNvSpPr/>
          <p:nvPr/>
        </p:nvSpPr>
        <p:spPr>
          <a:xfrm>
            <a:off x="683685" y="2991061"/>
            <a:ext cx="8208067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just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E8707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解：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用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3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个结点表示三个数，用它们的父结点表示它们的和。于是，问题就抽象为求一个完全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3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叉树的分支点有多少个。把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9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个数看成树叶，依据定理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7-8.1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，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(3-1)</a:t>
            </a:r>
            <a:r>
              <a:rPr kumimoji="0" lang="en-US" altLang="zh-CN" sz="2400" b="1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i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=9-1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，得</a:t>
            </a:r>
            <a:r>
              <a:rPr kumimoji="0" lang="en-US" altLang="zh-CN" sz="2400" b="1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i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=4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。所以要执行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4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次加法指令。</a:t>
            </a: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2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529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529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2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5529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5529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42" name="Text Box 4"/>
          <p:cNvSpPr txBox="1">
            <a:spLocks noChangeArrowheads="1"/>
          </p:cNvSpPr>
          <p:nvPr/>
        </p:nvSpPr>
        <p:spPr bwMode="auto">
          <a:xfrm>
            <a:off x="669925" y="1225550"/>
            <a:ext cx="10850562" cy="28623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just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例：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求带权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2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，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2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，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3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，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3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，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5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的最优二叉树</a:t>
            </a:r>
            <a:r>
              <a:rPr kumimoji="0" lang="en-US" altLang="zh-CN" sz="240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T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。</a:t>
            </a: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  <a:p>
            <a:pPr marL="0" marR="0" lvl="0" indent="0" algn="just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E8707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解：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下面给出生成最优二叉树的过程。权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2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，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2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，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3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，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3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，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5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中最小的两个为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2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和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2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，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2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和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2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代表两片树叶，得一分支点，其权为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2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＋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2=4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，如图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(a)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所示。在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3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，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3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，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4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，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5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中选出两个最小的权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3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和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3, 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连接它们对应的结点，得新分支点，该结点所带权为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6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，如图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(b)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所示。</a:t>
            </a:r>
            <a:endParaRPr kumimoji="0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latin typeface="微软雅黑" panose="020B0503020204020204" charset="-122"/>
                <a:ea typeface="微软雅黑" panose="020B0503020204020204" charset="-122"/>
              </a:rPr>
              <a:t>7-8 </a:t>
            </a:r>
            <a:r>
              <a:rPr lang="zh-CN" altLang="en-US" dirty="0">
                <a:latin typeface="微软雅黑" panose="020B0503020204020204" charset="-122"/>
                <a:ea typeface="微软雅黑" panose="020B0503020204020204" charset="-122"/>
              </a:rPr>
              <a:t>根树及其应用</a:t>
            </a:r>
            <a:endParaRPr lang="zh-CN" altLang="en-US" dirty="0"/>
          </a:p>
        </p:txBody>
      </p:sp>
      <p:pic>
        <p:nvPicPr>
          <p:cNvPr id="57346" name="Picture 2"/>
          <p:cNvPicPr>
            <a:picLocks noChangeAspect="1" noChangeArrowheads="1"/>
          </p:cNvPicPr>
          <p:nvPr/>
        </p:nvPicPr>
        <p:blipFill>
          <a:blip r:embed="rId1">
            <a:duotone>
              <a:prstClr val="black"/>
              <a:schemeClr val="bg1">
                <a:lumMod val="75000"/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833" y="4087872"/>
            <a:ext cx="5570733" cy="237599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4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264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264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73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73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3666" name="Picture 4" descr="图9"/>
          <p:cNvPicPr>
            <a:picLocks noChangeAspect="1" noChangeArrowheads="1"/>
          </p:cNvPicPr>
          <p:nvPr/>
        </p:nvPicPr>
        <p:blipFill rotWithShape="1">
          <a:blip r:embed="rId1">
            <a:duotone>
              <a:prstClr val="black"/>
              <a:schemeClr val="bg1">
                <a:lumMod val="75000"/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9080" b="7339"/>
          <a:stretch>
            <a:fillRect/>
          </a:stretch>
        </p:blipFill>
        <p:spPr bwMode="auto">
          <a:xfrm>
            <a:off x="4962634" y="3042733"/>
            <a:ext cx="6400800" cy="31846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latin typeface="微软雅黑" panose="020B0503020204020204" charset="-122"/>
                <a:ea typeface="微软雅黑" panose="020B0503020204020204" charset="-122"/>
              </a:rPr>
              <a:t>7-8 </a:t>
            </a:r>
            <a:r>
              <a:rPr lang="zh-CN" altLang="en-US" dirty="0">
                <a:latin typeface="微软雅黑" panose="020B0503020204020204" charset="-122"/>
                <a:ea typeface="微软雅黑" panose="020B0503020204020204" charset="-122"/>
              </a:rPr>
              <a:t>根树及其应用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quarter" idx="13"/>
          </p:nvPr>
        </p:nvSpPr>
        <p:spPr>
          <a:xfrm>
            <a:off x="669923" y="1130299"/>
            <a:ext cx="10850563" cy="2464239"/>
          </a:xfrm>
        </p:spPr>
        <p:txBody>
          <a:bodyPr>
            <a:noAutofit/>
          </a:bodyPr>
          <a:lstStyle/>
          <a:p>
            <a:pPr marL="0" indent="0" algn="just">
              <a:lnSpc>
                <a:spcPct val="150000"/>
              </a:lnSpc>
              <a:buNone/>
            </a:pPr>
            <a: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</a:rPr>
              <a:t>在</a:t>
            </a:r>
            <a:r>
              <a:rPr lang="en-US" altLang="zh-CN" sz="2400" b="1" dirty="0">
                <a:latin typeface="微软雅黑" panose="020B0503020204020204" charset="-122"/>
                <a:ea typeface="微软雅黑" panose="020B0503020204020204" charset="-122"/>
              </a:rPr>
              <a:t>4</a:t>
            </a:r>
            <a: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</a:rPr>
              <a:t>，</a:t>
            </a:r>
            <a:r>
              <a:rPr lang="en-US" altLang="zh-CN" sz="2400" b="1" dirty="0">
                <a:latin typeface="微软雅黑" panose="020B0503020204020204" charset="-122"/>
                <a:ea typeface="微软雅黑" panose="020B0503020204020204" charset="-122"/>
              </a:rPr>
              <a:t>5</a:t>
            </a:r>
            <a: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</a:rPr>
              <a:t>，</a:t>
            </a:r>
            <a:r>
              <a:rPr lang="en-US" altLang="zh-CN" sz="2400" b="1" dirty="0">
                <a:latin typeface="微软雅黑" panose="020B0503020204020204" charset="-122"/>
                <a:ea typeface="微软雅黑" panose="020B0503020204020204" charset="-122"/>
              </a:rPr>
              <a:t>6</a:t>
            </a:r>
            <a: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</a:rPr>
              <a:t>中选出两个最小的权</a:t>
            </a:r>
            <a:r>
              <a:rPr lang="en-US" altLang="zh-CN" sz="2400" b="1" dirty="0">
                <a:latin typeface="微软雅黑" panose="020B0503020204020204" charset="-122"/>
                <a:ea typeface="微软雅黑" panose="020B0503020204020204" charset="-122"/>
              </a:rPr>
              <a:t>4</a:t>
            </a:r>
            <a: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</a:rPr>
              <a:t>和</a:t>
            </a:r>
            <a:r>
              <a:rPr lang="en-US" altLang="zh-CN" sz="2400" b="1" dirty="0">
                <a:latin typeface="微软雅黑" panose="020B0503020204020204" charset="-122"/>
                <a:ea typeface="微软雅黑" panose="020B0503020204020204" charset="-122"/>
              </a:rPr>
              <a:t>5, </a:t>
            </a:r>
            <a: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</a:rPr>
              <a:t>连接它们对应的结点，得新分支点，该结点所带权为</a:t>
            </a:r>
            <a:r>
              <a:rPr lang="en-US" altLang="zh-CN" sz="2400" b="1" dirty="0">
                <a:latin typeface="微软雅黑" panose="020B0503020204020204" charset="-122"/>
                <a:ea typeface="微软雅黑" panose="020B0503020204020204" charset="-122"/>
              </a:rPr>
              <a:t>9</a:t>
            </a:r>
            <a: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</a:rPr>
              <a:t>，如图</a:t>
            </a:r>
            <a:r>
              <a:rPr lang="en-US" altLang="zh-CN" sz="2400" b="1" dirty="0">
                <a:latin typeface="微软雅黑" panose="020B0503020204020204" charset="-122"/>
                <a:ea typeface="微软雅黑" panose="020B0503020204020204" charset="-122"/>
              </a:rPr>
              <a:t>(c)</a:t>
            </a:r>
            <a: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</a:rPr>
              <a:t>所示。最后，连接</a:t>
            </a:r>
            <a:r>
              <a:rPr lang="en-US" altLang="zh-CN" sz="2400" b="1" dirty="0">
                <a:latin typeface="微软雅黑" panose="020B0503020204020204" charset="-122"/>
                <a:ea typeface="微软雅黑" panose="020B0503020204020204" charset="-122"/>
              </a:rPr>
              <a:t>6</a:t>
            </a:r>
            <a: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</a:rPr>
              <a:t>和</a:t>
            </a:r>
            <a:r>
              <a:rPr lang="en-US" altLang="zh-CN" sz="2400" b="1" dirty="0">
                <a:latin typeface="微软雅黑" panose="020B0503020204020204" charset="-122"/>
                <a:ea typeface="微软雅黑" panose="020B0503020204020204" charset="-122"/>
              </a:rPr>
              <a:t>9</a:t>
            </a:r>
            <a: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</a:rPr>
              <a:t>对应的结点得新分支点，该分支点所带权为</a:t>
            </a:r>
            <a:r>
              <a:rPr lang="en-US" altLang="zh-CN" sz="2400" b="1" dirty="0">
                <a:latin typeface="微软雅黑" panose="020B0503020204020204" charset="-122"/>
                <a:ea typeface="微软雅黑" panose="020B0503020204020204" charset="-122"/>
              </a:rPr>
              <a:t>15</a:t>
            </a:r>
            <a: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</a:rPr>
              <a:t>，如图</a:t>
            </a:r>
            <a:r>
              <a:rPr lang="en-US" altLang="zh-CN" sz="2400" b="1" dirty="0">
                <a:latin typeface="微软雅黑" panose="020B0503020204020204" charset="-122"/>
                <a:ea typeface="微软雅黑" panose="020B0503020204020204" charset="-122"/>
              </a:rPr>
              <a:t>(d)</a:t>
            </a:r>
            <a: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</a:rPr>
              <a:t>所示。</a:t>
            </a:r>
            <a:r>
              <a:rPr lang="en-US" altLang="zh-CN" sz="2400" b="1" dirty="0">
                <a:latin typeface="微软雅黑" panose="020B0503020204020204" charset="-122"/>
                <a:ea typeface="微软雅黑" panose="020B0503020204020204" charset="-122"/>
              </a:rPr>
              <a:t>(d)</a:t>
            </a:r>
            <a: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</a:rPr>
              <a:t>是最优树。最优树的权为：</a:t>
            </a:r>
            <a:endParaRPr lang="zh-CN" altLang="en-US" sz="2400" b="1" dirty="0">
              <a:latin typeface="微软雅黑" panose="020B0503020204020204" charset="-122"/>
              <a:ea typeface="微软雅黑" panose="020B0503020204020204" charset="-122"/>
            </a:endParaRPr>
          </a:p>
          <a:p>
            <a:pPr marL="0" indent="0" algn="just">
              <a:lnSpc>
                <a:spcPct val="150000"/>
              </a:lnSpc>
              <a:buNone/>
            </a:pPr>
            <a: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</a:rPr>
              <a:t>         </a:t>
            </a:r>
            <a:r>
              <a:rPr lang="en-US" altLang="zh-CN" sz="2400" b="1" dirty="0">
                <a:latin typeface="微软雅黑" panose="020B0503020204020204" charset="-122"/>
                <a:ea typeface="微软雅黑" panose="020B0503020204020204" charset="-122"/>
              </a:rPr>
              <a:t>w(</a:t>
            </a:r>
            <a:r>
              <a:rPr lang="en-US" altLang="zh-CN" sz="2400" b="1" i="1" dirty="0">
                <a:latin typeface="微软雅黑" panose="020B0503020204020204" charset="-122"/>
                <a:ea typeface="微软雅黑" panose="020B0503020204020204" charset="-122"/>
              </a:rPr>
              <a:t>T</a:t>
            </a:r>
            <a:r>
              <a:rPr lang="en-US" altLang="zh-CN" sz="2400" b="1" dirty="0">
                <a:latin typeface="微软雅黑" panose="020B0503020204020204" charset="-122"/>
                <a:ea typeface="微软雅黑" panose="020B0503020204020204" charset="-122"/>
              </a:rPr>
              <a:t>)=2×3</a:t>
            </a:r>
            <a: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</a:rPr>
              <a:t>＋</a:t>
            </a:r>
            <a:r>
              <a:rPr lang="en-US" altLang="zh-CN" sz="2400" b="1" dirty="0">
                <a:latin typeface="微软雅黑" panose="020B0503020204020204" charset="-122"/>
                <a:ea typeface="微软雅黑" panose="020B0503020204020204" charset="-122"/>
              </a:rPr>
              <a:t>2×3</a:t>
            </a:r>
            <a: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</a:rPr>
              <a:t>＋</a:t>
            </a:r>
            <a:r>
              <a:rPr lang="en-US" altLang="zh-CN" sz="2400" b="1" dirty="0">
                <a:latin typeface="微软雅黑" panose="020B0503020204020204" charset="-122"/>
                <a:ea typeface="微软雅黑" panose="020B0503020204020204" charset="-122"/>
              </a:rPr>
              <a:t>5×2</a:t>
            </a:r>
            <a: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</a:rPr>
              <a:t>＋</a:t>
            </a:r>
            <a:r>
              <a:rPr lang="en-US" altLang="zh-CN" sz="2400" b="1" dirty="0">
                <a:latin typeface="微软雅黑" panose="020B0503020204020204" charset="-122"/>
                <a:ea typeface="微软雅黑" panose="020B0503020204020204" charset="-122"/>
              </a:rPr>
              <a:t>3×2</a:t>
            </a:r>
            <a: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</a:rPr>
              <a:t>＋</a:t>
            </a:r>
            <a:r>
              <a:rPr lang="en-US" altLang="zh-CN" sz="2400" b="1" dirty="0">
                <a:latin typeface="微软雅黑" panose="020B0503020204020204" charset="-122"/>
                <a:ea typeface="微软雅黑" panose="020B0503020204020204" charset="-122"/>
              </a:rPr>
              <a:t>3×2=34</a:t>
            </a:r>
            <a:endParaRPr lang="zh-CN" altLang="en-US" sz="24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762" name="Text Box 4"/>
          <p:cNvSpPr txBox="1">
            <a:spLocks noChangeArrowheads="1"/>
          </p:cNvSpPr>
          <p:nvPr/>
        </p:nvSpPr>
        <p:spPr bwMode="auto">
          <a:xfrm>
            <a:off x="669925" y="1179807"/>
            <a:ext cx="11075394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例：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求图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 (a)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所示的二叉树产生的前缀码。</a:t>
            </a: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pic>
        <p:nvPicPr>
          <p:cNvPr id="117763" name="Picture 6" descr="图9"/>
          <p:cNvPicPr>
            <a:picLocks noChangeAspect="1" noChangeArrowheads="1"/>
          </p:cNvPicPr>
          <p:nvPr/>
        </p:nvPicPr>
        <p:blipFill rotWithShape="1">
          <a:blip r:embed="rId1">
            <a:duotone>
              <a:prstClr val="black"/>
              <a:schemeClr val="bg1">
                <a:lumMod val="75000"/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9117"/>
          <a:stretch>
            <a:fillRect/>
          </a:stretch>
        </p:blipFill>
        <p:spPr bwMode="auto">
          <a:xfrm>
            <a:off x="4800367" y="2046914"/>
            <a:ext cx="6719053" cy="3729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latin typeface="微软雅黑" panose="020B0503020204020204" charset="-122"/>
                <a:ea typeface="微软雅黑" panose="020B0503020204020204" charset="-122"/>
              </a:rPr>
              <a:t>7-8 </a:t>
            </a:r>
            <a:r>
              <a:rPr lang="zh-CN" altLang="en-US" dirty="0">
                <a:latin typeface="微软雅黑" panose="020B0503020204020204" charset="-122"/>
                <a:ea typeface="微软雅黑" panose="020B0503020204020204" charset="-122"/>
              </a:rPr>
              <a:t>根树及其应用</a:t>
            </a:r>
            <a:endParaRPr lang="zh-CN" altLang="en-US" dirty="0"/>
          </a:p>
        </p:txBody>
      </p:sp>
      <p:sp>
        <p:nvSpPr>
          <p:cNvPr id="4" name="矩形 3"/>
          <p:cNvSpPr/>
          <p:nvPr/>
        </p:nvSpPr>
        <p:spPr>
          <a:xfrm>
            <a:off x="669925" y="1873663"/>
            <a:ext cx="4212137" cy="36003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E8707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解：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在图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(a)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中，每一个分支点引出的左侧边标记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0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，右侧边标记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1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。由根结点到树叶的路经上各边的标记组成的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0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、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1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序列作为对应树叶的标记，如图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(b)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所示。产生的前缀码为：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Symbol" panose="05050102010706020507" pitchFamily="18" charset="2"/>
              </a:rPr>
              <a:t>{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01,11,000,0010,</a:t>
            </a:r>
            <a:endParaRPr kumimoji="0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0011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Symbol" panose="05050102010706020507" pitchFamily="18" charset="2"/>
              </a:rPr>
              <a:t>}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 </a:t>
            </a:r>
            <a:endParaRPr kumimoji="0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7927596" y="1792579"/>
            <a:ext cx="3592892" cy="4230716"/>
          </a:xfrm>
          <a:prstGeom prst="rect">
            <a:avLst/>
          </a:prstGeom>
          <a:solidFill>
            <a:srgbClr val="E5E5E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3" grpId="0" bldLvl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latin typeface="微软雅黑" panose="020B0503020204020204" charset="-122"/>
                <a:ea typeface="微软雅黑" panose="020B0503020204020204" charset="-122"/>
              </a:rPr>
              <a:t>7-8 </a:t>
            </a:r>
            <a:r>
              <a:rPr lang="zh-CN" altLang="en-US" dirty="0">
                <a:latin typeface="微软雅黑" panose="020B0503020204020204" charset="-122"/>
                <a:ea typeface="微软雅黑" panose="020B0503020204020204" charset="-122"/>
              </a:rPr>
              <a:t>根树及其应用</a:t>
            </a:r>
            <a:endParaRPr lang="zh-CN" altLang="en-US" dirty="0"/>
          </a:p>
        </p:txBody>
      </p:sp>
      <p:sp>
        <p:nvSpPr>
          <p:cNvPr id="2" name="内容占位符 1"/>
          <p:cNvSpPr>
            <a:spLocks noGrp="1"/>
          </p:cNvSpPr>
          <p:nvPr>
            <p:ph sz="quarter" idx="13"/>
          </p:nvPr>
        </p:nvSpPr>
        <p:spPr/>
        <p:txBody>
          <a:bodyPr>
            <a:normAutofit lnSpcReduction="10000"/>
          </a:bodyPr>
          <a:lstStyle/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r>
              <a:rPr lang="zh-CN" altLang="en-US" sz="2400" b="1" dirty="0">
                <a:solidFill>
                  <a:srgbClr val="7030A0"/>
                </a:solidFill>
                <a:latin typeface="+mn-ea"/>
              </a:rPr>
              <a:t>例：</a:t>
            </a:r>
            <a:r>
              <a:rPr lang="zh-CN" altLang="en-US" sz="2400" b="1" dirty="0">
                <a:latin typeface="+mn-ea"/>
              </a:rPr>
              <a:t>已知字母</a:t>
            </a:r>
            <a:r>
              <a:rPr lang="en-US" altLang="zh-CN" sz="2400" b="1" dirty="0">
                <a:latin typeface="+mn-ea"/>
              </a:rPr>
              <a:t>A</a:t>
            </a:r>
            <a:r>
              <a:rPr lang="zh-CN" altLang="en-US" sz="2400" b="1" dirty="0">
                <a:latin typeface="+mn-ea"/>
              </a:rPr>
              <a:t>、</a:t>
            </a:r>
            <a:r>
              <a:rPr lang="en-US" altLang="zh-CN" sz="2400" b="1" dirty="0">
                <a:latin typeface="+mn-ea"/>
              </a:rPr>
              <a:t>B</a:t>
            </a:r>
            <a:r>
              <a:rPr lang="zh-CN" altLang="en-US" sz="2400" b="1" dirty="0">
                <a:latin typeface="+mn-ea"/>
              </a:rPr>
              <a:t>、</a:t>
            </a:r>
            <a:r>
              <a:rPr lang="en-US" altLang="zh-CN" sz="2400" b="1" dirty="0">
                <a:latin typeface="+mn-ea"/>
              </a:rPr>
              <a:t>C</a:t>
            </a:r>
            <a:r>
              <a:rPr lang="zh-CN" altLang="en-US" sz="2400" b="1" dirty="0">
                <a:latin typeface="+mn-ea"/>
              </a:rPr>
              <a:t>、</a:t>
            </a:r>
            <a:r>
              <a:rPr lang="en-US" altLang="zh-CN" sz="2400" b="1" dirty="0">
                <a:latin typeface="+mn-ea"/>
              </a:rPr>
              <a:t>D</a:t>
            </a:r>
            <a:r>
              <a:rPr lang="zh-CN" altLang="en-US" sz="2400" b="1" dirty="0">
                <a:latin typeface="+mn-ea"/>
              </a:rPr>
              <a:t>、</a:t>
            </a:r>
            <a:r>
              <a:rPr lang="en-US" altLang="zh-CN" sz="2400" b="1" dirty="0">
                <a:latin typeface="+mn-ea"/>
              </a:rPr>
              <a:t>E</a:t>
            </a:r>
            <a:r>
              <a:rPr lang="zh-CN" altLang="en-US" sz="2400" b="1" dirty="0">
                <a:latin typeface="+mn-ea"/>
              </a:rPr>
              <a:t>、</a:t>
            </a:r>
            <a:r>
              <a:rPr lang="en-US" altLang="zh-CN" sz="2400" b="1" dirty="0">
                <a:latin typeface="+mn-ea"/>
              </a:rPr>
              <a:t>F</a:t>
            </a:r>
            <a:r>
              <a:rPr lang="zh-CN" altLang="en-US" sz="2400" b="1" dirty="0">
                <a:latin typeface="+mn-ea"/>
              </a:rPr>
              <a:t>出现的频率如下：</a:t>
            </a:r>
            <a:r>
              <a:rPr lang="en-US" altLang="zh-CN" sz="2400" b="1" dirty="0">
                <a:latin typeface="+mn-ea"/>
              </a:rPr>
              <a:t>A—30%</a:t>
            </a:r>
            <a:r>
              <a:rPr lang="zh-CN" altLang="en-US" sz="2400" b="1" dirty="0">
                <a:latin typeface="+mn-ea"/>
              </a:rPr>
              <a:t>，</a:t>
            </a:r>
            <a:r>
              <a:rPr lang="en-US" altLang="zh-CN" sz="2400" b="1" dirty="0">
                <a:latin typeface="+mn-ea"/>
              </a:rPr>
              <a:t>B—25%</a:t>
            </a:r>
            <a:r>
              <a:rPr lang="zh-CN" altLang="en-US" sz="2400" b="1" dirty="0">
                <a:latin typeface="+mn-ea"/>
              </a:rPr>
              <a:t>，</a:t>
            </a:r>
            <a:r>
              <a:rPr lang="en-US" altLang="zh-CN" sz="2400" b="1" dirty="0">
                <a:latin typeface="+mn-ea"/>
              </a:rPr>
              <a:t>C—20%</a:t>
            </a:r>
            <a:r>
              <a:rPr lang="zh-CN" altLang="en-US" sz="2400" b="1" dirty="0">
                <a:latin typeface="+mn-ea"/>
              </a:rPr>
              <a:t>，</a:t>
            </a:r>
            <a:r>
              <a:rPr lang="en-US" altLang="zh-CN" sz="2400" b="1" dirty="0">
                <a:latin typeface="+mn-ea"/>
              </a:rPr>
              <a:t>D—10%</a:t>
            </a:r>
            <a:r>
              <a:rPr lang="zh-CN" altLang="en-US" sz="2400" b="1" dirty="0">
                <a:latin typeface="+mn-ea"/>
              </a:rPr>
              <a:t>，</a:t>
            </a:r>
            <a:r>
              <a:rPr lang="en-US" altLang="zh-CN" sz="2400" b="1" dirty="0">
                <a:latin typeface="+mn-ea"/>
              </a:rPr>
              <a:t>E—10%</a:t>
            </a:r>
            <a:r>
              <a:rPr lang="zh-CN" altLang="en-US" sz="2400" b="1" dirty="0">
                <a:latin typeface="+mn-ea"/>
              </a:rPr>
              <a:t>，</a:t>
            </a:r>
            <a:r>
              <a:rPr lang="en-US" altLang="zh-CN" sz="2400" b="1" dirty="0">
                <a:latin typeface="+mn-ea"/>
              </a:rPr>
              <a:t>F—5%</a:t>
            </a:r>
            <a:r>
              <a:rPr lang="zh-CN" altLang="en-US" sz="2400" b="1" dirty="0">
                <a:latin typeface="+mn-ea"/>
              </a:rPr>
              <a:t>，构造一个表示</a:t>
            </a:r>
            <a:r>
              <a:rPr lang="en-US" altLang="zh-CN" sz="2400" b="1" dirty="0">
                <a:latin typeface="+mn-ea"/>
              </a:rPr>
              <a:t>A</a:t>
            </a:r>
            <a:r>
              <a:rPr lang="zh-CN" altLang="en-US" sz="2400" b="1" dirty="0">
                <a:latin typeface="+mn-ea"/>
              </a:rPr>
              <a:t>、</a:t>
            </a:r>
            <a:r>
              <a:rPr lang="en-US" altLang="zh-CN" sz="2400" b="1" dirty="0">
                <a:latin typeface="+mn-ea"/>
              </a:rPr>
              <a:t>B</a:t>
            </a:r>
            <a:r>
              <a:rPr lang="zh-CN" altLang="en-US" sz="2400" b="1" dirty="0">
                <a:latin typeface="+mn-ea"/>
              </a:rPr>
              <a:t>、</a:t>
            </a:r>
            <a:r>
              <a:rPr lang="en-US" altLang="zh-CN" sz="2400" b="1" dirty="0">
                <a:latin typeface="+mn-ea"/>
              </a:rPr>
              <a:t>C</a:t>
            </a:r>
            <a:r>
              <a:rPr lang="zh-CN" altLang="en-US" sz="2400" b="1" dirty="0">
                <a:latin typeface="+mn-ea"/>
              </a:rPr>
              <a:t>、</a:t>
            </a:r>
            <a:r>
              <a:rPr lang="en-US" altLang="zh-CN" sz="2400" b="1" dirty="0">
                <a:latin typeface="+mn-ea"/>
              </a:rPr>
              <a:t>D</a:t>
            </a:r>
            <a:r>
              <a:rPr lang="zh-CN" altLang="en-US" sz="2400" b="1" dirty="0">
                <a:latin typeface="+mn-ea"/>
              </a:rPr>
              <a:t>、</a:t>
            </a:r>
            <a:r>
              <a:rPr lang="en-US" altLang="zh-CN" sz="2400" b="1" dirty="0">
                <a:latin typeface="+mn-ea"/>
              </a:rPr>
              <a:t>E</a:t>
            </a:r>
            <a:r>
              <a:rPr lang="zh-CN" altLang="en-US" sz="2400" b="1" dirty="0">
                <a:latin typeface="+mn-ea"/>
              </a:rPr>
              <a:t>、</a:t>
            </a:r>
            <a:r>
              <a:rPr lang="en-US" altLang="zh-CN" sz="2400" b="1" dirty="0">
                <a:latin typeface="+mn-ea"/>
              </a:rPr>
              <a:t>F</a:t>
            </a:r>
            <a:r>
              <a:rPr lang="zh-CN" altLang="en-US" sz="2400" b="1" dirty="0">
                <a:latin typeface="+mn-ea"/>
              </a:rPr>
              <a:t>的前缀码，使得传输的二进制位最少。</a:t>
            </a:r>
            <a:endParaRPr lang="en-US" altLang="zh-CN" sz="2400" b="1" dirty="0">
              <a:latin typeface="+mn-ea"/>
            </a:endParaRPr>
          </a:p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r>
              <a:rPr lang="zh-CN" altLang="en-US" sz="2400" b="1" dirty="0">
                <a:solidFill>
                  <a:srgbClr val="E87071"/>
                </a:solidFill>
                <a:latin typeface="+mn-ea"/>
              </a:rPr>
              <a:t>解：</a:t>
            </a:r>
            <a:r>
              <a:rPr lang="en-US" altLang="zh-CN" sz="2400" b="1" dirty="0">
                <a:solidFill>
                  <a:srgbClr val="EF623B"/>
                </a:solidFill>
                <a:latin typeface="+mn-ea"/>
              </a:rPr>
              <a:t>1.</a:t>
            </a:r>
            <a:r>
              <a:rPr lang="zh-CN" altLang="en-US" sz="2400" b="1" dirty="0">
                <a:latin typeface="+mn-ea"/>
              </a:rPr>
              <a:t>构造带权</a:t>
            </a:r>
            <a:r>
              <a:rPr lang="en-US" altLang="zh-CN" sz="2400" b="1" dirty="0">
                <a:latin typeface="+mn-ea"/>
              </a:rPr>
              <a:t>30,25,20,10,</a:t>
            </a:r>
            <a:endParaRPr lang="en-US" altLang="zh-CN" sz="2400" b="1" dirty="0">
              <a:latin typeface="+mn-ea"/>
            </a:endParaRPr>
          </a:p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r>
              <a:rPr lang="en-US" altLang="zh-CN" sz="2400" b="1" dirty="0">
                <a:latin typeface="+mn-ea"/>
              </a:rPr>
              <a:t>10,5</a:t>
            </a:r>
            <a:r>
              <a:rPr lang="zh-CN" altLang="en-US" sz="2400" b="1" dirty="0">
                <a:latin typeface="+mn-ea"/>
              </a:rPr>
              <a:t>的最优二叉树</a:t>
            </a:r>
            <a:r>
              <a:rPr lang="en-US" altLang="zh-CN" sz="2400" b="1" dirty="0">
                <a:latin typeface="+mn-ea"/>
              </a:rPr>
              <a:t>T</a:t>
            </a:r>
            <a:endParaRPr lang="en-US" altLang="zh-CN" sz="2400" b="1" dirty="0">
              <a:latin typeface="+mn-ea"/>
            </a:endParaRPr>
          </a:p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endParaRPr lang="en-US" altLang="zh-CN" sz="2400" b="1" dirty="0">
              <a:latin typeface="+mn-ea"/>
            </a:endParaRPr>
          </a:p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r>
              <a:rPr lang="en-US" altLang="zh-CN" sz="2400" b="1" dirty="0">
                <a:solidFill>
                  <a:srgbClr val="EF623B"/>
                </a:solidFill>
                <a:latin typeface="+mn-ea"/>
              </a:rPr>
              <a:t>2.</a:t>
            </a:r>
            <a:r>
              <a:rPr lang="zh-CN" altLang="en-US" sz="2400" b="1" dirty="0">
                <a:latin typeface="+mn-ea"/>
              </a:rPr>
              <a:t>在</a:t>
            </a:r>
            <a:r>
              <a:rPr lang="en-US" altLang="zh-CN" sz="2400" b="1" dirty="0">
                <a:latin typeface="+mn-ea"/>
              </a:rPr>
              <a:t>T</a:t>
            </a:r>
            <a:r>
              <a:rPr lang="zh-CN" altLang="en-US" sz="2400" b="1" dirty="0">
                <a:latin typeface="+mn-ea"/>
              </a:rPr>
              <a:t>上构造前缀码</a:t>
            </a:r>
            <a:endParaRPr lang="en-US" altLang="zh-CN" sz="2400" b="1" dirty="0">
              <a:latin typeface="+mn-ea"/>
            </a:endParaRPr>
          </a:p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endParaRPr lang="en-US" altLang="zh-CN" sz="2400" b="1" dirty="0">
              <a:latin typeface="+mn-ea"/>
            </a:endParaRPr>
          </a:p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r>
              <a:rPr lang="en-US" altLang="zh-CN" sz="2400" b="1" dirty="0">
                <a:solidFill>
                  <a:srgbClr val="EF623B"/>
                </a:solidFill>
                <a:latin typeface="+mn-ea"/>
              </a:rPr>
              <a:t>3.</a:t>
            </a:r>
            <a:r>
              <a:rPr lang="zh-CN" altLang="en-US" sz="2400" b="1" dirty="0">
                <a:latin typeface="+mn-ea"/>
              </a:rPr>
              <a:t>将前缀码对应于字母</a:t>
            </a:r>
            <a:endParaRPr lang="zh-CN" altLang="en-US" sz="2400" b="1" dirty="0">
              <a:latin typeface="+mn-ea"/>
            </a:endParaRPr>
          </a:p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endParaRPr lang="zh-CN" altLang="en-US" sz="2400" b="1" dirty="0">
              <a:latin typeface="+mn-ea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>
            <a:clrChange>
              <a:clrFrom>
                <a:srgbClr val="E6EFE6"/>
              </a:clrFrom>
              <a:clrTo>
                <a:srgbClr val="E6EFE6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77554" y="2393428"/>
            <a:ext cx="3867690" cy="3743847"/>
          </a:xfrm>
          <a:prstGeom prst="rect">
            <a:avLst/>
          </a:prstGeom>
        </p:spPr>
      </p:pic>
      <p:graphicFrame>
        <p:nvGraphicFramePr>
          <p:cNvPr id="7" name="表格 9"/>
          <p:cNvGraphicFramePr>
            <a:graphicFrameLocks noGrp="1"/>
          </p:cNvGraphicFramePr>
          <p:nvPr/>
        </p:nvGraphicFramePr>
        <p:xfrm>
          <a:off x="9442725" y="3061217"/>
          <a:ext cx="2077762" cy="2595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38881"/>
                <a:gridCol w="1038881"/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>
                          <a:latin typeface="+mn-ea"/>
                          <a:ea typeface="+mn-ea"/>
                        </a:rPr>
                        <a:t>字母</a:t>
                      </a:r>
                      <a:endParaRPr lang="zh-CN" altLang="en-US" dirty="0">
                        <a:latin typeface="+mn-ea"/>
                        <a:ea typeface="+mn-ea"/>
                      </a:endParaRPr>
                    </a:p>
                  </a:txBody>
                  <a:tcPr anchor="ctr">
                    <a:solidFill>
                      <a:srgbClr val="3C7D7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>
                          <a:latin typeface="+mn-ea"/>
                          <a:ea typeface="+mn-ea"/>
                        </a:rPr>
                        <a:t>编码</a:t>
                      </a:r>
                      <a:endParaRPr lang="zh-CN" altLang="en-US" dirty="0">
                        <a:latin typeface="+mn-ea"/>
                        <a:ea typeface="+mn-ea"/>
                      </a:endParaRPr>
                    </a:p>
                  </a:txBody>
                  <a:tcPr anchor="ctr">
                    <a:solidFill>
                      <a:srgbClr val="3C7D79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+mn-ea"/>
                          <a:ea typeface="+mn-ea"/>
                        </a:rPr>
                        <a:t>A</a:t>
                      </a:r>
                      <a:endParaRPr lang="zh-CN" altLang="en-US" dirty="0">
                        <a:latin typeface="+mn-ea"/>
                        <a:ea typeface="+mn-ea"/>
                      </a:endParaRPr>
                    </a:p>
                  </a:txBody>
                  <a:tcPr anchor="ctr">
                    <a:solidFill>
                      <a:srgbClr val="EF62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+mn-ea"/>
                          <a:ea typeface="+mn-ea"/>
                        </a:rPr>
                        <a:t>11</a:t>
                      </a:r>
                      <a:endParaRPr lang="zh-CN" altLang="en-US" dirty="0">
                        <a:latin typeface="+mn-ea"/>
                        <a:ea typeface="+mn-ea"/>
                      </a:endParaRPr>
                    </a:p>
                  </a:txBody>
                  <a:tcPr anchor="ctr">
                    <a:solidFill>
                      <a:srgbClr val="EF623B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+mn-ea"/>
                          <a:ea typeface="+mn-ea"/>
                        </a:rPr>
                        <a:t>B</a:t>
                      </a:r>
                      <a:endParaRPr lang="zh-CN" altLang="en-US" dirty="0">
                        <a:latin typeface="+mn-ea"/>
                        <a:ea typeface="+mn-ea"/>
                      </a:endParaRPr>
                    </a:p>
                  </a:txBody>
                  <a:tcPr anchor="ctr">
                    <a:solidFill>
                      <a:srgbClr val="EF62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+mn-ea"/>
                          <a:ea typeface="+mn-ea"/>
                        </a:rPr>
                        <a:t>10</a:t>
                      </a:r>
                      <a:endParaRPr lang="zh-CN" altLang="en-US" dirty="0">
                        <a:latin typeface="+mn-ea"/>
                        <a:ea typeface="+mn-ea"/>
                      </a:endParaRPr>
                    </a:p>
                  </a:txBody>
                  <a:tcPr anchor="ctr">
                    <a:solidFill>
                      <a:srgbClr val="EF623B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+mn-ea"/>
                          <a:ea typeface="+mn-ea"/>
                        </a:rPr>
                        <a:t>C</a:t>
                      </a:r>
                      <a:endParaRPr lang="zh-CN" altLang="en-US" dirty="0">
                        <a:latin typeface="+mn-ea"/>
                        <a:ea typeface="+mn-ea"/>
                      </a:endParaRPr>
                    </a:p>
                  </a:txBody>
                  <a:tcPr anchor="ctr">
                    <a:solidFill>
                      <a:srgbClr val="EF62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+mn-ea"/>
                          <a:ea typeface="+mn-ea"/>
                        </a:rPr>
                        <a:t>01</a:t>
                      </a:r>
                      <a:endParaRPr lang="zh-CN" altLang="en-US" dirty="0">
                        <a:latin typeface="+mn-ea"/>
                        <a:ea typeface="+mn-ea"/>
                      </a:endParaRPr>
                    </a:p>
                  </a:txBody>
                  <a:tcPr anchor="ctr">
                    <a:solidFill>
                      <a:srgbClr val="EF623B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+mn-ea"/>
                          <a:ea typeface="+mn-ea"/>
                        </a:rPr>
                        <a:t>D</a:t>
                      </a:r>
                      <a:endParaRPr lang="zh-CN" altLang="en-US" dirty="0">
                        <a:latin typeface="+mn-ea"/>
                        <a:ea typeface="+mn-ea"/>
                      </a:endParaRPr>
                    </a:p>
                  </a:txBody>
                  <a:tcPr anchor="ctr">
                    <a:solidFill>
                      <a:srgbClr val="EF62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+mn-ea"/>
                          <a:ea typeface="+mn-ea"/>
                        </a:rPr>
                        <a:t>001</a:t>
                      </a:r>
                      <a:endParaRPr lang="zh-CN" altLang="en-US" dirty="0">
                        <a:latin typeface="+mn-ea"/>
                        <a:ea typeface="+mn-ea"/>
                      </a:endParaRPr>
                    </a:p>
                  </a:txBody>
                  <a:tcPr anchor="ctr">
                    <a:solidFill>
                      <a:srgbClr val="EF623B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+mn-ea"/>
                          <a:ea typeface="+mn-ea"/>
                        </a:rPr>
                        <a:t>E</a:t>
                      </a:r>
                      <a:endParaRPr lang="zh-CN" altLang="en-US" dirty="0">
                        <a:latin typeface="+mn-ea"/>
                        <a:ea typeface="+mn-ea"/>
                      </a:endParaRPr>
                    </a:p>
                  </a:txBody>
                  <a:tcPr anchor="ctr">
                    <a:solidFill>
                      <a:srgbClr val="EF62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+mn-ea"/>
                          <a:ea typeface="+mn-ea"/>
                        </a:rPr>
                        <a:t>0001</a:t>
                      </a:r>
                      <a:endParaRPr lang="zh-CN" altLang="en-US" dirty="0">
                        <a:latin typeface="+mn-ea"/>
                        <a:ea typeface="+mn-ea"/>
                      </a:endParaRPr>
                    </a:p>
                  </a:txBody>
                  <a:tcPr anchor="ctr">
                    <a:solidFill>
                      <a:srgbClr val="EF623B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+mn-ea"/>
                          <a:ea typeface="+mn-ea"/>
                        </a:rPr>
                        <a:t>F</a:t>
                      </a:r>
                      <a:endParaRPr lang="zh-CN" altLang="en-US" dirty="0">
                        <a:latin typeface="+mn-ea"/>
                        <a:ea typeface="+mn-ea"/>
                      </a:endParaRPr>
                    </a:p>
                  </a:txBody>
                  <a:tcPr anchor="ctr">
                    <a:solidFill>
                      <a:srgbClr val="EF62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+mn-ea"/>
                          <a:ea typeface="+mn-ea"/>
                        </a:rPr>
                        <a:t>0000</a:t>
                      </a:r>
                      <a:endParaRPr lang="zh-CN" altLang="en-US" dirty="0">
                        <a:latin typeface="+mn-ea"/>
                        <a:ea typeface="+mn-ea"/>
                      </a:endParaRPr>
                    </a:p>
                  </a:txBody>
                  <a:tcPr anchor="ctr">
                    <a:solidFill>
                      <a:srgbClr val="EF623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63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64.xml><?xml version="1.0" encoding="utf-8"?>
<p:tagLst xmlns:p="http://schemas.openxmlformats.org/presentationml/2006/main">
  <p:tag name="commondata" val="eyJoZGlkIjoiNjE4NzgxYTkxOTk2ZDlkY2E1ZTExYTk4YzNiMzFjZWIifQ==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2659</Words>
  <Application>WPS 演示</Application>
  <PresentationFormat>宽屏</PresentationFormat>
  <Paragraphs>333</Paragraphs>
  <Slides>15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13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15</vt:i4>
      </vt:variant>
    </vt:vector>
  </HeadingPairs>
  <TitlesOfParts>
    <vt:vector size="29" baseType="lpstr">
      <vt:lpstr>Arial</vt:lpstr>
      <vt:lpstr>宋体</vt:lpstr>
      <vt:lpstr>Wingdings</vt:lpstr>
      <vt:lpstr>Wingdings</vt:lpstr>
      <vt:lpstr>微软雅黑</vt:lpstr>
      <vt:lpstr>Symbol</vt:lpstr>
      <vt:lpstr>Times New Roman</vt:lpstr>
      <vt:lpstr>黑体</vt:lpstr>
      <vt:lpstr>Arial</vt:lpstr>
      <vt:lpstr>Wingdings 2</vt:lpstr>
      <vt:lpstr>Malgun Gothic</vt:lpstr>
      <vt:lpstr>Calibri</vt:lpstr>
      <vt:lpstr>Arial Unicode MS</vt:lpstr>
      <vt:lpstr>WPS</vt:lpstr>
      <vt:lpstr>PowerPoint 演示文稿</vt:lpstr>
      <vt:lpstr>7-8 根树及其应用</vt:lpstr>
      <vt:lpstr>7-8 根树及其应用</vt:lpstr>
      <vt:lpstr>7-3  图的矩阵表示</vt:lpstr>
      <vt:lpstr>7-3  图的矩阵表示</vt:lpstr>
      <vt:lpstr>7-3  图的矩阵表示</vt:lpstr>
      <vt:lpstr>7-7  树与生成树</vt:lpstr>
      <vt:lpstr>7-7  树与生成树</vt:lpstr>
      <vt:lpstr>7-7  树与生成树</vt:lpstr>
      <vt:lpstr>7-7  树与生成树</vt:lpstr>
      <vt:lpstr>7-8 根树及其应用</vt:lpstr>
      <vt:lpstr>7-8 根树及其应用</vt:lpstr>
      <vt:lpstr>7-8 根树及其应用</vt:lpstr>
      <vt:lpstr>7-8 根树及其应用</vt:lpstr>
      <vt:lpstr>7-8 根树及其应用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/>
  <cp:lastModifiedBy>Dr.Water</cp:lastModifiedBy>
  <cp:revision>163</cp:revision>
  <dcterms:created xsi:type="dcterms:W3CDTF">2019-06-19T02:08:00Z</dcterms:created>
  <dcterms:modified xsi:type="dcterms:W3CDTF">2025-06-12T10:09:29Z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2052-12.1.0.21541</vt:lpwstr>
  </property>
  <property fmtid="{D5CDD505-2E9C-101B-9397-08002B2CF9AE}" pid="3" name="ICV">
    <vt:lpwstr>995E8DC50471478EAAA55B088FDE4952_11</vt:lpwstr>
  </property>
</Properties>
</file>